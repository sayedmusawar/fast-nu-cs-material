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erriweather" panose="00000500000000000000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2165" autoAdjust="0"/>
  </p:normalViewPr>
  <p:slideViewPr>
    <p:cSldViewPr snapToGrid="0" snapToObjects="1">
      <p:cViewPr>
        <p:scale>
          <a:sx n="52" d="100"/>
          <a:sy n="52" d="100"/>
        </p:scale>
        <p:origin x="812" y="-1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3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5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71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hyperlink" Target="https://www.mentimeter.com/app/presentation/alf5f99e984bsivgg9wq9p4xtbf8swqc/view?question=v3jtycgidqk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902857"/>
            <a:ext cx="7416403" cy="23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Evolution of Programming Languages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8" y="4586883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journey through the history and future of coding.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5259348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By Muhammad Musawar Ali Shah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877967"/>
            <a:ext cx="7416403" cy="1465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50"/>
              </a:lnSpc>
              <a:buNone/>
            </a:pPr>
            <a:r>
              <a:rPr lang="en-US" sz="4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Programming Languages Matter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863798" y="2959060"/>
            <a:ext cx="527566" cy="527566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1667" y="3002994"/>
            <a:ext cx="351711" cy="43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625798" y="2959060"/>
            <a:ext cx="2829044" cy="732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Backbone of Technology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625798" y="3832384"/>
            <a:ext cx="2829044" cy="112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Programming languages are the backbone of technology.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89277" y="2959060"/>
            <a:ext cx="527566" cy="527566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77145" y="3002994"/>
            <a:ext cx="351711" cy="43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750" dirty="0"/>
          </a:p>
        </p:txBody>
      </p:sp>
      <p:sp>
        <p:nvSpPr>
          <p:cNvPr id="10" name="Text 7"/>
          <p:cNvSpPr/>
          <p:nvPr/>
        </p:nvSpPr>
        <p:spPr>
          <a:xfrm>
            <a:off x="5451277" y="2959060"/>
            <a:ext cx="2829044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Problem Solvers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451277" y="3466028"/>
            <a:ext cx="2829044" cy="1125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They've evolved to solve problems and improve efficiency.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3798" y="5455682"/>
            <a:ext cx="527566" cy="527566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1667" y="5499616"/>
            <a:ext cx="351711" cy="43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1625798" y="5455682"/>
            <a:ext cx="2931081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Coding Accessibility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625798" y="5962650"/>
            <a:ext cx="6654403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They make coding more accessible.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3798" y="6601420"/>
            <a:ext cx="7416403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Fun Fact:</a:t>
            </a: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There are over 700 programming languages in the world!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863798" y="797243"/>
            <a:ext cx="9464873" cy="65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Timeline of Programming Languages</a:t>
            </a:r>
            <a:endParaRPr lang="en-US" sz="4100" dirty="0"/>
          </a:p>
        </p:txBody>
      </p:sp>
      <p:sp>
        <p:nvSpPr>
          <p:cNvPr id="61" name="Shape 1"/>
          <p:cNvSpPr/>
          <p:nvPr/>
        </p:nvSpPr>
        <p:spPr>
          <a:xfrm>
            <a:off x="7303770" y="1872377"/>
            <a:ext cx="22860" cy="5559862"/>
          </a:xfrm>
          <a:prstGeom prst="roundRect">
            <a:avLst>
              <a:gd name="adj" fmla="val 385472"/>
            </a:avLst>
          </a:prstGeom>
          <a:solidFill>
            <a:srgbClr val="194A99"/>
          </a:solidFill>
          <a:ln/>
        </p:spPr>
      </p:sp>
      <p:sp>
        <p:nvSpPr>
          <p:cNvPr id="62" name="Shape 2"/>
          <p:cNvSpPr/>
          <p:nvPr/>
        </p:nvSpPr>
        <p:spPr>
          <a:xfrm>
            <a:off x="6472714" y="2332911"/>
            <a:ext cx="629364" cy="22860"/>
          </a:xfrm>
          <a:prstGeom prst="roundRect">
            <a:avLst>
              <a:gd name="adj" fmla="val 385472"/>
            </a:avLst>
          </a:prstGeom>
          <a:solidFill>
            <a:srgbClr val="194A99"/>
          </a:solidFill>
          <a:ln/>
        </p:spPr>
      </p:sp>
      <p:sp>
        <p:nvSpPr>
          <p:cNvPr id="63" name="Shape 3"/>
          <p:cNvSpPr/>
          <p:nvPr/>
        </p:nvSpPr>
        <p:spPr>
          <a:xfrm>
            <a:off x="7079218" y="2108359"/>
            <a:ext cx="471964" cy="471964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64" name="Text 4"/>
          <p:cNvSpPr/>
          <p:nvPr/>
        </p:nvSpPr>
        <p:spPr>
          <a:xfrm>
            <a:off x="7157859" y="2147649"/>
            <a:ext cx="314682" cy="39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450" dirty="0"/>
          </a:p>
        </p:txBody>
      </p:sp>
      <p:sp>
        <p:nvSpPr>
          <p:cNvPr id="65" name="Text 5"/>
          <p:cNvSpPr/>
          <p:nvPr/>
        </p:nvSpPr>
        <p:spPr>
          <a:xfrm>
            <a:off x="1927384" y="2082165"/>
            <a:ext cx="4338876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1st Gen: Machine Code (1940s-50s)</a:t>
            </a:r>
            <a:endParaRPr lang="en-US" sz="2050" dirty="0"/>
          </a:p>
        </p:txBody>
      </p:sp>
      <p:sp>
        <p:nvSpPr>
          <p:cNvPr id="66" name="Text 6"/>
          <p:cNvSpPr/>
          <p:nvPr/>
        </p:nvSpPr>
        <p:spPr>
          <a:xfrm>
            <a:off x="863798" y="2535793"/>
            <a:ext cx="5402461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ENIAC programming</a:t>
            </a:r>
            <a:endParaRPr lang="en-US" sz="1650" dirty="0"/>
          </a:p>
        </p:txBody>
      </p:sp>
      <p:sp>
        <p:nvSpPr>
          <p:cNvPr id="67" name="Shape 7"/>
          <p:cNvSpPr/>
          <p:nvPr/>
        </p:nvSpPr>
        <p:spPr>
          <a:xfrm>
            <a:off x="7528322" y="3381851"/>
            <a:ext cx="629364" cy="22860"/>
          </a:xfrm>
          <a:prstGeom prst="roundRect">
            <a:avLst>
              <a:gd name="adj" fmla="val 385472"/>
            </a:avLst>
          </a:prstGeom>
          <a:solidFill>
            <a:srgbClr val="194A99"/>
          </a:solidFill>
          <a:ln/>
        </p:spPr>
      </p:sp>
      <p:sp>
        <p:nvSpPr>
          <p:cNvPr id="68" name="Shape 8"/>
          <p:cNvSpPr/>
          <p:nvPr/>
        </p:nvSpPr>
        <p:spPr>
          <a:xfrm>
            <a:off x="7079218" y="3157299"/>
            <a:ext cx="471964" cy="471964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69" name="Text 9"/>
          <p:cNvSpPr/>
          <p:nvPr/>
        </p:nvSpPr>
        <p:spPr>
          <a:xfrm>
            <a:off x="7157859" y="3196590"/>
            <a:ext cx="314682" cy="39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450" dirty="0"/>
          </a:p>
        </p:txBody>
      </p:sp>
      <p:sp>
        <p:nvSpPr>
          <p:cNvPr id="70" name="Text 10"/>
          <p:cNvSpPr/>
          <p:nvPr/>
        </p:nvSpPr>
        <p:spPr>
          <a:xfrm>
            <a:off x="8364141" y="3131106"/>
            <a:ext cx="3345180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2nd Gen: Assembly (1950s)</a:t>
            </a:r>
            <a:endParaRPr lang="en-US" sz="2050" dirty="0"/>
          </a:p>
        </p:txBody>
      </p:sp>
      <p:sp>
        <p:nvSpPr>
          <p:cNvPr id="71" name="Text 11"/>
          <p:cNvSpPr/>
          <p:nvPr/>
        </p:nvSpPr>
        <p:spPr>
          <a:xfrm>
            <a:off x="8364141" y="3584734"/>
            <a:ext cx="5402461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IBM 650 Assembly</a:t>
            </a:r>
            <a:endParaRPr lang="en-US" sz="1650" dirty="0"/>
          </a:p>
        </p:txBody>
      </p:sp>
      <p:sp>
        <p:nvSpPr>
          <p:cNvPr id="72" name="Shape 12"/>
          <p:cNvSpPr/>
          <p:nvPr/>
        </p:nvSpPr>
        <p:spPr>
          <a:xfrm>
            <a:off x="6472714" y="4325898"/>
            <a:ext cx="629364" cy="22860"/>
          </a:xfrm>
          <a:prstGeom prst="roundRect">
            <a:avLst>
              <a:gd name="adj" fmla="val 385472"/>
            </a:avLst>
          </a:prstGeom>
          <a:solidFill>
            <a:srgbClr val="194A99"/>
          </a:solidFill>
          <a:ln/>
        </p:spPr>
      </p:sp>
      <p:sp>
        <p:nvSpPr>
          <p:cNvPr id="73" name="Shape 13"/>
          <p:cNvSpPr/>
          <p:nvPr/>
        </p:nvSpPr>
        <p:spPr>
          <a:xfrm>
            <a:off x="7079218" y="4101346"/>
            <a:ext cx="471964" cy="471964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74" name="Text 14"/>
          <p:cNvSpPr/>
          <p:nvPr/>
        </p:nvSpPr>
        <p:spPr>
          <a:xfrm>
            <a:off x="7157859" y="4140637"/>
            <a:ext cx="314682" cy="39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450" dirty="0"/>
          </a:p>
        </p:txBody>
      </p:sp>
      <p:sp>
        <p:nvSpPr>
          <p:cNvPr id="75" name="Text 15"/>
          <p:cNvSpPr/>
          <p:nvPr/>
        </p:nvSpPr>
        <p:spPr>
          <a:xfrm>
            <a:off x="2371368" y="4075152"/>
            <a:ext cx="3894892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3rd Gen: High-level (1950s-70s)</a:t>
            </a:r>
            <a:endParaRPr lang="en-US" sz="2050" dirty="0"/>
          </a:p>
        </p:txBody>
      </p:sp>
      <p:sp>
        <p:nvSpPr>
          <p:cNvPr id="76" name="Text 16"/>
          <p:cNvSpPr/>
          <p:nvPr/>
        </p:nvSpPr>
        <p:spPr>
          <a:xfrm>
            <a:off x="863798" y="4528780"/>
            <a:ext cx="5402461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FORTRAN, COBOL</a:t>
            </a:r>
            <a:endParaRPr lang="en-US" sz="1650" dirty="0"/>
          </a:p>
        </p:txBody>
      </p:sp>
      <p:sp>
        <p:nvSpPr>
          <p:cNvPr id="77" name="Shape 17"/>
          <p:cNvSpPr/>
          <p:nvPr/>
        </p:nvSpPr>
        <p:spPr>
          <a:xfrm>
            <a:off x="7528322" y="5270063"/>
            <a:ext cx="629364" cy="22860"/>
          </a:xfrm>
          <a:prstGeom prst="roundRect">
            <a:avLst>
              <a:gd name="adj" fmla="val 385472"/>
            </a:avLst>
          </a:prstGeom>
          <a:solidFill>
            <a:srgbClr val="194A99"/>
          </a:solidFill>
          <a:ln/>
        </p:spPr>
      </p:sp>
      <p:sp>
        <p:nvSpPr>
          <p:cNvPr id="78" name="Shape 18"/>
          <p:cNvSpPr/>
          <p:nvPr/>
        </p:nvSpPr>
        <p:spPr>
          <a:xfrm>
            <a:off x="7079218" y="5045512"/>
            <a:ext cx="471964" cy="471964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79" name="Text 19"/>
          <p:cNvSpPr/>
          <p:nvPr/>
        </p:nvSpPr>
        <p:spPr>
          <a:xfrm>
            <a:off x="7157859" y="5084802"/>
            <a:ext cx="314682" cy="39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2450" dirty="0"/>
          </a:p>
        </p:txBody>
      </p:sp>
      <p:sp>
        <p:nvSpPr>
          <p:cNvPr id="80" name="Text 20"/>
          <p:cNvSpPr/>
          <p:nvPr/>
        </p:nvSpPr>
        <p:spPr>
          <a:xfrm>
            <a:off x="8364141" y="5019318"/>
            <a:ext cx="3190399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4th Gen: OOP (1970s-90s)</a:t>
            </a:r>
            <a:endParaRPr lang="en-US" sz="2050" dirty="0"/>
          </a:p>
        </p:txBody>
      </p:sp>
      <p:sp>
        <p:nvSpPr>
          <p:cNvPr id="81" name="Text 21"/>
          <p:cNvSpPr/>
          <p:nvPr/>
        </p:nvSpPr>
        <p:spPr>
          <a:xfrm>
            <a:off x="8364141" y="5472946"/>
            <a:ext cx="5402461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C++, Smalltalk</a:t>
            </a:r>
            <a:endParaRPr lang="en-US" sz="1650" dirty="0"/>
          </a:p>
        </p:txBody>
      </p:sp>
      <p:sp>
        <p:nvSpPr>
          <p:cNvPr id="82" name="Shape 22"/>
          <p:cNvSpPr/>
          <p:nvPr/>
        </p:nvSpPr>
        <p:spPr>
          <a:xfrm>
            <a:off x="6472714" y="6214229"/>
            <a:ext cx="629364" cy="22860"/>
          </a:xfrm>
          <a:prstGeom prst="roundRect">
            <a:avLst>
              <a:gd name="adj" fmla="val 385472"/>
            </a:avLst>
          </a:prstGeom>
          <a:solidFill>
            <a:srgbClr val="194A99"/>
          </a:solidFill>
          <a:ln/>
        </p:spPr>
      </p:sp>
      <p:sp>
        <p:nvSpPr>
          <p:cNvPr id="83" name="Shape 23"/>
          <p:cNvSpPr/>
          <p:nvPr/>
        </p:nvSpPr>
        <p:spPr>
          <a:xfrm>
            <a:off x="7079218" y="5989677"/>
            <a:ext cx="471964" cy="471964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4" name="Text 24"/>
          <p:cNvSpPr/>
          <p:nvPr/>
        </p:nvSpPr>
        <p:spPr>
          <a:xfrm>
            <a:off x="7157859" y="6028968"/>
            <a:ext cx="314682" cy="39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2450" dirty="0"/>
          </a:p>
        </p:txBody>
      </p:sp>
      <p:sp>
        <p:nvSpPr>
          <p:cNvPr id="85" name="Text 25"/>
          <p:cNvSpPr/>
          <p:nvPr/>
        </p:nvSpPr>
        <p:spPr>
          <a:xfrm>
            <a:off x="2469237" y="5963483"/>
            <a:ext cx="3797022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5th Gen: Modern Web (1990s-)</a:t>
            </a:r>
            <a:endParaRPr lang="en-US" sz="2050" dirty="0"/>
          </a:p>
        </p:txBody>
      </p:sp>
      <p:sp>
        <p:nvSpPr>
          <p:cNvPr id="86" name="Text 26"/>
          <p:cNvSpPr/>
          <p:nvPr/>
        </p:nvSpPr>
        <p:spPr>
          <a:xfrm>
            <a:off x="863798" y="6417112"/>
            <a:ext cx="5402461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Java, Python, JavaScript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370415"/>
            <a:ext cx="9165312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Hello, World! Code Comparison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758684"/>
            <a:ext cx="277403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3798" y="4421862"/>
            <a:ext cx="2774037" cy="1159669"/>
          </a:xfrm>
          <a:prstGeom prst="roundRect">
            <a:avLst>
              <a:gd name="adj" fmla="val 8940"/>
            </a:avLst>
          </a:prstGeom>
          <a:solidFill>
            <a:srgbClr val="001D4D"/>
          </a:solidFill>
          <a:ln/>
        </p:spPr>
      </p:sp>
      <p:sp>
        <p:nvSpPr>
          <p:cNvPr id="5" name="Shape 3"/>
          <p:cNvSpPr/>
          <p:nvPr/>
        </p:nvSpPr>
        <p:spPr>
          <a:xfrm>
            <a:off x="851535" y="4421862"/>
            <a:ext cx="2798564" cy="1159669"/>
          </a:xfrm>
          <a:prstGeom prst="roundRect">
            <a:avLst>
              <a:gd name="adj" fmla="val 3193"/>
            </a:avLst>
          </a:prstGeom>
          <a:solidFill>
            <a:srgbClr val="001D4D"/>
          </a:solidFill>
          <a:ln/>
        </p:spPr>
      </p:sp>
      <p:sp>
        <p:nvSpPr>
          <p:cNvPr id="6" name="Text 4"/>
          <p:cNvSpPr/>
          <p:nvPr/>
        </p:nvSpPr>
        <p:spPr>
          <a:xfrm>
            <a:off x="1098352" y="4606885"/>
            <a:ext cx="2304931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World!")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61485" y="3758684"/>
            <a:ext cx="277403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Java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27440" y="4421862"/>
            <a:ext cx="2774037" cy="1159669"/>
          </a:xfrm>
          <a:prstGeom prst="roundRect">
            <a:avLst>
              <a:gd name="adj" fmla="val 8940"/>
            </a:avLst>
          </a:prstGeom>
          <a:solidFill>
            <a:srgbClr val="001D4D"/>
          </a:solidFill>
          <a:ln/>
        </p:spPr>
      </p:sp>
      <p:sp>
        <p:nvSpPr>
          <p:cNvPr id="9" name="Shape 7"/>
          <p:cNvSpPr/>
          <p:nvPr/>
        </p:nvSpPr>
        <p:spPr>
          <a:xfrm>
            <a:off x="5470811" y="4425552"/>
            <a:ext cx="2798564" cy="1159669"/>
          </a:xfrm>
          <a:prstGeom prst="roundRect">
            <a:avLst>
              <a:gd name="adj" fmla="val 3193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68371" y="4588430"/>
            <a:ext cx="249328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</a:t>
            </a:r>
            <a:r>
              <a:rPr lang="en-US" sz="1900" dirty="0" err="1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Hello,World</a:t>
            </a:r>
            <a:r>
              <a:rPr lang="en-US" sz="19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!“);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337275" y="3758684"/>
            <a:ext cx="277403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114143" y="4391025"/>
            <a:ext cx="2774037" cy="1159669"/>
          </a:xfrm>
          <a:prstGeom prst="roundRect">
            <a:avLst>
              <a:gd name="adj" fmla="val 8940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0136274" y="4421861"/>
            <a:ext cx="2798564" cy="1159669"/>
          </a:xfrm>
          <a:prstGeom prst="roundRect">
            <a:avLst>
              <a:gd name="adj" fmla="val 3193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53570" y="4588430"/>
            <a:ext cx="2304931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printf("Hello, World!");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015424" y="3758684"/>
            <a:ext cx="2774037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015424" y="4391025"/>
            <a:ext cx="27740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990362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Interactive Activity: Guess the Language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198" y="2903101"/>
            <a:ext cx="3584853" cy="2636877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12255" y="3165158"/>
            <a:ext cx="3060740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Code Snippet: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612255" y="3828336"/>
            <a:ext cx="3060740" cy="1159669"/>
          </a:xfrm>
          <a:prstGeom prst="roundRect">
            <a:avLst>
              <a:gd name="adj" fmla="val 8940"/>
            </a:avLst>
          </a:prstGeom>
          <a:solidFill>
            <a:srgbClr val="001D4D"/>
          </a:solidFill>
          <a:ln/>
        </p:spPr>
      </p:sp>
      <p:sp>
        <p:nvSpPr>
          <p:cNvPr id="7" name="Shape 4"/>
          <p:cNvSpPr/>
          <p:nvPr/>
        </p:nvSpPr>
        <p:spPr>
          <a:xfrm>
            <a:off x="6599992" y="3828336"/>
            <a:ext cx="3085267" cy="1159669"/>
          </a:xfrm>
          <a:prstGeom prst="roundRect">
            <a:avLst>
              <a:gd name="adj" fmla="val 3193"/>
            </a:avLst>
          </a:prstGeom>
          <a:solidFill>
            <a:srgbClr val="001D4D"/>
          </a:solidFill>
          <a:ln/>
        </p:spPr>
      </p:sp>
      <p:sp>
        <p:nvSpPr>
          <p:cNvPr id="8" name="Text 5"/>
          <p:cNvSpPr/>
          <p:nvPr/>
        </p:nvSpPr>
        <p:spPr>
          <a:xfrm>
            <a:off x="6846808" y="4013359"/>
            <a:ext cx="259163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console.log("Hello, World!");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0181868" y="2903101"/>
            <a:ext cx="3584853" cy="2636877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43924" y="3165158"/>
            <a:ext cx="3060740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Hint: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443924" y="3698677"/>
            <a:ext cx="3060740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language is the backbone of web development and runs in browsers.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198" y="5786795"/>
            <a:ext cx="741640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12255" y="604885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Answer: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612255" y="6582370"/>
            <a:ext cx="689229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JAVASCRIPT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529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96" y="2614613"/>
            <a:ext cx="7532251" cy="48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Interactive Activity: Guess the Language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841296" y="3337203"/>
            <a:ext cx="4211836" cy="4230648"/>
          </a:xfrm>
          <a:prstGeom prst="roundRect">
            <a:avLst>
              <a:gd name="adj" fmla="val 155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126" y="3501033"/>
            <a:ext cx="1952982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Code Snippet: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05126" y="3920847"/>
            <a:ext cx="3884176" cy="3483173"/>
          </a:xfrm>
          <a:prstGeom prst="roundRect">
            <a:avLst>
              <a:gd name="adj" fmla="val 1884"/>
            </a:avLst>
          </a:prstGeom>
          <a:solidFill>
            <a:srgbClr val="001D4D"/>
          </a:solidFill>
          <a:ln/>
        </p:spPr>
      </p:sp>
      <p:sp>
        <p:nvSpPr>
          <p:cNvPr id="7" name="Shape 4"/>
          <p:cNvSpPr/>
          <p:nvPr/>
        </p:nvSpPr>
        <p:spPr>
          <a:xfrm>
            <a:off x="997387" y="3920847"/>
            <a:ext cx="3899654" cy="3483173"/>
          </a:xfrm>
          <a:prstGeom prst="roundRect">
            <a:avLst>
              <a:gd name="adj" fmla="val 673"/>
            </a:avLst>
          </a:prstGeom>
          <a:solidFill>
            <a:srgbClr val="001D4D"/>
          </a:solidFill>
          <a:ln/>
        </p:spPr>
      </p:sp>
      <p:sp>
        <p:nvSpPr>
          <p:cNvPr id="8" name="Text 5"/>
          <p:cNvSpPr/>
          <p:nvPr/>
        </p:nvSpPr>
        <p:spPr>
          <a:xfrm>
            <a:off x="1153597" y="4038005"/>
            <a:ext cx="3587234" cy="324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.data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msg db 'Hello, World!', 0xa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len equ $ - msg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.text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_start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_start: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edx, len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ecx, msg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ebx, 1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eax, 4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0x80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mov eax, 1</a:t>
            </a:r>
            <a:endParaRPr lang="en-US" sz="12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0x80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98447" y="3337203"/>
            <a:ext cx="4211836" cy="4230648"/>
          </a:xfrm>
          <a:prstGeom prst="roundRect">
            <a:avLst>
              <a:gd name="adj" fmla="val 155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51383" y="3642480"/>
            <a:ext cx="1952982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3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Hint: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373172" y="3838813"/>
            <a:ext cx="3884176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577387" y="3337203"/>
            <a:ext cx="4211836" cy="4230648"/>
          </a:xfrm>
          <a:prstGeom prst="roundRect">
            <a:avLst>
              <a:gd name="adj" fmla="val 155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41218" y="3501033"/>
            <a:ext cx="1952982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741218" y="3838813"/>
            <a:ext cx="3884176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4B8F7F-BC30-1056-279E-F5F53B3E6C0F}"/>
              </a:ext>
            </a:extLst>
          </p:cNvPr>
          <p:cNvSpPr txBox="1"/>
          <p:nvPr/>
        </p:nvSpPr>
        <p:spPr>
          <a:xfrm>
            <a:off x="5373172" y="4860758"/>
            <a:ext cx="3770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This is a low-level language that interacts directly with hardware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16223-89A0-5A61-BC07-6169B82B450E}"/>
              </a:ext>
            </a:extLst>
          </p:cNvPr>
          <p:cNvSpPr txBox="1"/>
          <p:nvPr/>
        </p:nvSpPr>
        <p:spPr>
          <a:xfrm>
            <a:off x="9986211" y="4944979"/>
            <a:ext cx="2899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Assembly(x86)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F8831A-9A70-9B06-E67F-3AF5529C92E8}"/>
              </a:ext>
            </a:extLst>
          </p:cNvPr>
          <p:cNvSpPr txBox="1"/>
          <p:nvPr/>
        </p:nvSpPr>
        <p:spPr>
          <a:xfrm>
            <a:off x="9741218" y="3457814"/>
            <a:ext cx="261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ANSWER: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529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96" y="2614613"/>
            <a:ext cx="7532251" cy="48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Interactive Activity: Guess the Language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841296" y="3337203"/>
            <a:ext cx="4211836" cy="4230648"/>
          </a:xfrm>
          <a:prstGeom prst="roundRect">
            <a:avLst>
              <a:gd name="adj" fmla="val 155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126" y="3501033"/>
            <a:ext cx="1952982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Code Snippet: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05126" y="3920847"/>
            <a:ext cx="3884176" cy="3483173"/>
          </a:xfrm>
          <a:prstGeom prst="roundRect">
            <a:avLst>
              <a:gd name="adj" fmla="val 1884"/>
            </a:avLst>
          </a:prstGeom>
          <a:solidFill>
            <a:srgbClr val="001D4D"/>
          </a:solidFill>
          <a:ln/>
        </p:spPr>
      </p:sp>
      <p:sp>
        <p:nvSpPr>
          <p:cNvPr id="7" name="Shape 4"/>
          <p:cNvSpPr/>
          <p:nvPr/>
        </p:nvSpPr>
        <p:spPr>
          <a:xfrm>
            <a:off x="997387" y="3920847"/>
            <a:ext cx="3899654" cy="3483173"/>
          </a:xfrm>
          <a:prstGeom prst="roundRect">
            <a:avLst>
              <a:gd name="adj" fmla="val 673"/>
            </a:avLst>
          </a:prstGeom>
          <a:solidFill>
            <a:srgbClr val="001D4D"/>
          </a:solidFill>
          <a:ln/>
        </p:spPr>
      </p:sp>
      <p:sp>
        <p:nvSpPr>
          <p:cNvPr id="8" name="Text 5"/>
          <p:cNvSpPr/>
          <p:nvPr/>
        </p:nvSpPr>
        <p:spPr>
          <a:xfrm>
            <a:off x="1153597" y="4038005"/>
            <a:ext cx="3587234" cy="324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System;</a:t>
            </a:r>
          </a:p>
          <a:p>
            <a:pPr marL="0" indent="0">
              <a:lnSpc>
                <a:spcPts val="1950"/>
              </a:lnSpc>
              <a:buNone/>
            </a:pPr>
            <a:endParaRPr lang="en-US" dirty="0">
              <a:solidFill>
                <a:srgbClr val="E2E6E9"/>
              </a:solidFill>
              <a:highlight>
                <a:srgbClr val="001D4D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Program {</a:t>
            </a:r>
          </a:p>
          <a:p>
            <a:pPr marL="0" indent="0">
              <a:lnSpc>
                <a:spcPts val="1950"/>
              </a:lnSpc>
              <a:buNone/>
            </a:pPr>
            <a:r>
              <a:rPr lang="en-US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Main() {</a:t>
            </a:r>
          </a:p>
          <a:p>
            <a:pPr marL="0" indent="0">
              <a:lnSpc>
                <a:spcPts val="1950"/>
              </a:lnSpc>
              <a:buNone/>
            </a:pPr>
            <a:r>
              <a:rPr lang="en-US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</a:t>
            </a:r>
            <a:r>
              <a:rPr lang="en-US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("Hello, World!");</a:t>
            </a:r>
          </a:p>
          <a:p>
            <a:pPr marL="0" indent="0">
              <a:lnSpc>
                <a:spcPts val="1950"/>
              </a:lnSpc>
              <a:buNone/>
            </a:pPr>
            <a:r>
              <a:rPr lang="en-US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 marL="0" indent="0">
              <a:lnSpc>
                <a:spcPts val="1950"/>
              </a:lnSpc>
              <a:buNone/>
            </a:pPr>
            <a:r>
              <a:rPr lang="en-US" dirty="0">
                <a:solidFill>
                  <a:srgbClr val="E2E6E9"/>
                </a:solidFill>
                <a:highlight>
                  <a:srgbClr val="001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</p:txBody>
      </p:sp>
      <p:sp>
        <p:nvSpPr>
          <p:cNvPr id="9" name="Shape 6"/>
          <p:cNvSpPr/>
          <p:nvPr/>
        </p:nvSpPr>
        <p:spPr>
          <a:xfrm>
            <a:off x="5198447" y="3337203"/>
            <a:ext cx="4211836" cy="4230648"/>
          </a:xfrm>
          <a:prstGeom prst="roundRect">
            <a:avLst>
              <a:gd name="adj" fmla="val 155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51383" y="3642480"/>
            <a:ext cx="1952982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3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Hint: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373172" y="3838813"/>
            <a:ext cx="3884176" cy="49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577387" y="3337203"/>
            <a:ext cx="4211836" cy="4230648"/>
          </a:xfrm>
          <a:prstGeom prst="roundRect">
            <a:avLst>
              <a:gd name="adj" fmla="val 155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41218" y="3501033"/>
            <a:ext cx="1952982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741218" y="3838813"/>
            <a:ext cx="3884176" cy="24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4B8F7F-BC30-1056-279E-F5F53B3E6C0F}"/>
              </a:ext>
            </a:extLst>
          </p:cNvPr>
          <p:cNvSpPr txBox="1"/>
          <p:nvPr/>
        </p:nvSpPr>
        <p:spPr>
          <a:xfrm>
            <a:off x="5373172" y="4860758"/>
            <a:ext cx="3770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Developed by Microsoft, commonly used for .NET applications.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16223-89A0-5A61-BC07-6169B82B450E}"/>
              </a:ext>
            </a:extLst>
          </p:cNvPr>
          <p:cNvSpPr txBox="1"/>
          <p:nvPr/>
        </p:nvSpPr>
        <p:spPr>
          <a:xfrm>
            <a:off x="9986211" y="4944979"/>
            <a:ext cx="2899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C#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F8831A-9A70-9B06-E67F-3AF5529C92E8}"/>
              </a:ext>
            </a:extLst>
          </p:cNvPr>
          <p:cNvSpPr txBox="1"/>
          <p:nvPr/>
        </p:nvSpPr>
        <p:spPr>
          <a:xfrm>
            <a:off x="9741218" y="3457814"/>
            <a:ext cx="261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ANSWER:</a:t>
            </a:r>
          </a:p>
        </p:txBody>
      </p:sp>
    </p:spTree>
    <p:extLst>
      <p:ext uri="{BB962C8B-B14F-4D97-AF65-F5344CB8AC3E}">
        <p14:creationId xmlns:p14="http://schemas.microsoft.com/office/powerpoint/2010/main" val="1681606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909048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Audience Poll: Favorite Programming Language</a:t>
            </a:r>
            <a:endParaRPr lang="en-US" sz="4850" dirty="0"/>
          </a:p>
        </p:txBody>
      </p:sp>
      <p:pic>
        <p:nvPicPr>
          <p:cNvPr id="4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198" y="3821787"/>
            <a:ext cx="7416403" cy="2498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310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651885"/>
            <a:ext cx="7925276" cy="73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750"/>
              </a:lnSpc>
              <a:buNone/>
            </a:pPr>
            <a:r>
              <a:rPr lang="en-US" sz="4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Future of Programming</a:t>
            </a:r>
            <a:endParaRPr lang="en-US" sz="4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98" y="4736425"/>
            <a:ext cx="4300895" cy="9378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8233" y="6025991"/>
            <a:ext cx="2931081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AI-Assisted Coding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1098233" y="6532959"/>
            <a:ext cx="3832027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GitHub Copilot/ Cursor.ai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693" y="4736425"/>
            <a:ext cx="4300895" cy="9378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99127" y="6025991"/>
            <a:ext cx="3832027" cy="732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No-Code/Low-Code Platforms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5399127" y="6899315"/>
            <a:ext cx="3832027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Bubble, Webflow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5588" y="4736425"/>
            <a:ext cx="4300895" cy="9378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00022" y="6025991"/>
            <a:ext cx="3397687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Quantum Programming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9700022" y="6532959"/>
            <a:ext cx="3832027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Q#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010376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THANKYOU!!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4151828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798" y="4824293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B245E50-F997-CF92-A7D6-EDD281CCC3BF}"/>
              </a:ext>
            </a:extLst>
          </p:cNvPr>
          <p:cNvSpPr/>
          <p:nvPr/>
        </p:nvSpPr>
        <p:spPr>
          <a:xfrm>
            <a:off x="948019" y="4105572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374</Words>
  <Application>Microsoft Office PowerPoint</Application>
  <PresentationFormat>Custom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Consolas</vt:lpstr>
      <vt:lpstr>Arial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Musawar Ali Shah</cp:lastModifiedBy>
  <cp:revision>5</cp:revision>
  <dcterms:created xsi:type="dcterms:W3CDTF">2025-03-14T22:06:40Z</dcterms:created>
  <dcterms:modified xsi:type="dcterms:W3CDTF">2025-03-16T23:16:55Z</dcterms:modified>
</cp:coreProperties>
</file>