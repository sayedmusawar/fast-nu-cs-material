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31" r:id="rId1"/>
  </p:sldMasterIdLst>
  <p:notesMasterIdLst>
    <p:notesMasterId r:id="rId11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52EAF-F2E8-4288-9F45-4BF0FA7669A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7B5E4-56D3-43DC-B0BE-8AF54AD65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1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1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2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9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0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6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8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6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4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1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5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1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  <p:sldLayoutId id="2147484242" r:id="rId11"/>
    <p:sldLayoutId id="2147484243" r:id="rId12"/>
    <p:sldLayoutId id="2147484244" r:id="rId13"/>
    <p:sldLayoutId id="2147484245" r:id="rId14"/>
    <p:sldLayoutId id="2147484246" r:id="rId15"/>
    <p:sldLayoutId id="2147484247" r:id="rId16"/>
    <p:sldLayoutId id="2147484248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The Impact of Social Media on Modern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1800" dirty="0"/>
              <a:t>Revolutionizing How We Connect</a:t>
            </a:r>
          </a:p>
          <a:p>
            <a:r>
              <a:rPr lang="en-US" sz="1800" dirty="0"/>
              <a:t>Muhammad Musawar Ali Shah</a:t>
            </a:r>
            <a:endParaRPr sz="1800" dirty="0"/>
          </a:p>
          <a:p>
            <a:r>
              <a:rPr lang="en-US" sz="1800" dirty="0"/>
              <a:t>10/2/2025</a:t>
            </a:r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37235" y="2841172"/>
            <a:ext cx="3671291" cy="2343151"/>
          </a:xfrm>
        </p:spPr>
        <p:txBody>
          <a:bodyPr>
            <a:normAutofit/>
          </a:bodyPr>
          <a:lstStyle/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Definition:</a:t>
            </a:r>
            <a:r>
              <a:rPr lang="en-US" sz="2000" dirty="0"/>
              <a:t> Social media refers to online platforms for interaction, content sharing, and networking</a:t>
            </a:r>
          </a:p>
          <a:p>
            <a:pPr algn="just"/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45762-8699-C8BD-B291-35DA2DCFF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2177142"/>
            <a:ext cx="4895056" cy="3124200"/>
          </a:xfrm>
        </p:spPr>
        <p:txBody>
          <a:bodyPr>
            <a:normAutofit/>
          </a:bodyPr>
          <a:lstStyle/>
          <a:p>
            <a:r>
              <a:rPr lang="en-US" sz="2000" b="1" dirty="0"/>
              <a:t>Importance: </a:t>
            </a:r>
            <a:r>
              <a:rPr lang="en-US" sz="2000" dirty="0"/>
              <a:t>Integral to personal, professional, and global communication.</a:t>
            </a:r>
          </a:p>
          <a:p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08A3-CB4E-E102-EBAF-8E826E35A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Positive Impacts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0734F-2A03-5C85-3E6B-3040F06DC1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Global Connectivity</a:t>
            </a:r>
          </a:p>
          <a:p>
            <a:pPr marL="0" indent="0">
              <a:buNone/>
            </a:pPr>
            <a:r>
              <a:rPr lang="en-US" dirty="0"/>
              <a:t>Instant connections with family, friends, and colleagues across borders.</a:t>
            </a:r>
          </a:p>
          <a:p>
            <a:r>
              <a:rPr lang="en-US" b="1" dirty="0"/>
              <a:t>Information Sharing</a:t>
            </a:r>
          </a:p>
          <a:p>
            <a:pPr marL="0" indent="0">
              <a:buNone/>
            </a:pPr>
            <a:r>
              <a:rPr lang="en-US" dirty="0"/>
              <a:t>Breaking news spreads faster. </a:t>
            </a:r>
          </a:p>
          <a:p>
            <a:r>
              <a:rPr lang="en-US" b="1" dirty="0"/>
              <a:t>Professional Networking</a:t>
            </a:r>
          </a:p>
          <a:p>
            <a:pPr marL="0" indent="0">
              <a:buNone/>
            </a:pPr>
            <a:r>
              <a:rPr lang="en-US" dirty="0"/>
              <a:t>LinkedIn and similar platforms aid career growth.</a:t>
            </a:r>
          </a:p>
          <a:p>
            <a:r>
              <a:rPr lang="en-US" b="1" dirty="0"/>
              <a:t>Social Activism</a:t>
            </a:r>
          </a:p>
          <a:p>
            <a:pPr marL="0" indent="0">
              <a:buNone/>
            </a:pPr>
            <a:r>
              <a:rPr lang="en-US" dirty="0"/>
              <a:t>Campaigns like #FreePalestine.</a:t>
            </a:r>
          </a:p>
          <a:p>
            <a:endParaRPr lang="en-US" dirty="0"/>
          </a:p>
        </p:txBody>
      </p:sp>
      <p:pic>
        <p:nvPicPr>
          <p:cNvPr id="6" name="Content Placeholder 5" descr="A group of people in a room with a map of the world&#10;&#10;Description automatically generated">
            <a:extLst>
              <a:ext uri="{FF2B5EF4-FFF2-40B4-BE49-F238E27FC236}">
                <a16:creationId xmlns:a16="http://schemas.microsoft.com/office/drawing/2014/main" id="{A52D6A7A-DFFB-A2BF-DB7E-4B076F1C9A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0311" y="2511197"/>
            <a:ext cx="3947432" cy="3435804"/>
          </a:xfrm>
        </p:spPr>
      </p:pic>
    </p:spTree>
    <p:extLst>
      <p:ext uri="{BB962C8B-B14F-4D97-AF65-F5344CB8AC3E}">
        <p14:creationId xmlns:p14="http://schemas.microsoft.com/office/powerpoint/2010/main" val="281105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Negative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Misinformation</a:t>
            </a:r>
          </a:p>
          <a:p>
            <a:r>
              <a:rPr lang="en-US" dirty="0"/>
              <a:t>   </a:t>
            </a:r>
            <a:r>
              <a:rPr dirty="0"/>
              <a:t>Fake news influences opinions and decisions.</a:t>
            </a:r>
          </a:p>
          <a:p>
            <a:r>
              <a:rPr b="1" dirty="0"/>
              <a:t>Mental Health </a:t>
            </a:r>
            <a:r>
              <a:rPr lang="en-US" b="1" dirty="0"/>
              <a:t>Issues</a:t>
            </a:r>
            <a:endParaRPr b="1" dirty="0"/>
          </a:p>
          <a:p>
            <a:r>
              <a:rPr dirty="0"/>
              <a:t>   Comparison culture fosters anxiety and depression.</a:t>
            </a:r>
          </a:p>
          <a:p>
            <a:r>
              <a:rPr b="1" dirty="0"/>
              <a:t>Cyberbullying</a:t>
            </a:r>
          </a:p>
          <a:p>
            <a:r>
              <a:rPr dirty="0"/>
              <a:t>   - Harassment in online spaces.</a:t>
            </a:r>
          </a:p>
          <a:p>
            <a:r>
              <a:rPr b="1" dirty="0"/>
              <a:t>Privacy Concerns</a:t>
            </a:r>
          </a:p>
          <a:p>
            <a:r>
              <a:rPr dirty="0"/>
              <a:t>   - Data breaches and misuse of personal information.</a:t>
            </a:r>
          </a:p>
        </p:txBody>
      </p:sp>
      <p:pic>
        <p:nvPicPr>
          <p:cNvPr id="6" name="Content Placeholder 5" descr="A person sitting down with a cell phone and a cloud of social media icons&#10;&#10;Description automatically generated">
            <a:extLst>
              <a:ext uri="{FF2B5EF4-FFF2-40B4-BE49-F238E27FC236}">
                <a16:creationId xmlns:a16="http://schemas.microsoft.com/office/drawing/2014/main" id="{3B1766F0-DF51-D788-9E3F-D98231495E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4624" y="2666999"/>
            <a:ext cx="3914776" cy="3446689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How Social Media Changed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506434"/>
            <a:ext cx="4895055" cy="3124201"/>
          </a:xfrm>
        </p:spPr>
        <p:txBody>
          <a:bodyPr>
            <a:normAutofit fontScale="92500" lnSpcReduction="10000"/>
          </a:bodyPr>
          <a:lstStyle/>
          <a:p>
            <a:r>
              <a:rPr sz="2400" dirty="0"/>
              <a:t>Shift from traditional (face-to-face) to digital conversations.</a:t>
            </a:r>
          </a:p>
          <a:p>
            <a:r>
              <a:rPr sz="2400" dirty="0"/>
              <a:t>Use of emojis, GIFs, and memes to express emotions.</a:t>
            </a:r>
          </a:p>
          <a:p>
            <a:r>
              <a:rPr sz="2400" dirty="0"/>
              <a:t>Rise of short-form content (tweets, reels, stories).</a:t>
            </a:r>
          </a:p>
          <a:p>
            <a:r>
              <a:rPr sz="2400" dirty="0"/>
              <a:t>Increasing use of video calls and live streaming.</a:t>
            </a:r>
          </a:p>
        </p:txBody>
      </p:sp>
      <p:pic>
        <p:nvPicPr>
          <p:cNvPr id="6" name="Content Placeholder 5" descr="A collage of people sitting on the floor with icons&#10;&#10;Description automatically generated">
            <a:extLst>
              <a:ext uri="{FF2B5EF4-FFF2-40B4-BE49-F238E27FC236}">
                <a16:creationId xmlns:a16="http://schemas.microsoft.com/office/drawing/2014/main" id="{3E1A5619-97ED-A645-9C77-A838DBCDB5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77767" y="2149248"/>
            <a:ext cx="3838575" cy="383857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Percentage of global social media users: ~60% (e.g., 4.9 billion users in 2025).</a:t>
            </a:r>
          </a:p>
          <a:p>
            <a:r>
              <a:rPr dirty="0"/>
              <a:t>Most popular platforms: Facebook, Instagram, and TikTok.</a:t>
            </a:r>
          </a:p>
          <a:p>
            <a:r>
              <a:rPr dirty="0"/>
              <a:t>Average time spent daily: ~2.5 hours per person.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Positive:</a:t>
            </a:r>
            <a:r>
              <a:rPr dirty="0"/>
              <a:t> Campaigns like #MeToo</a:t>
            </a:r>
            <a:r>
              <a:rPr lang="en-US" dirty="0"/>
              <a:t> movement</a:t>
            </a:r>
            <a:endParaRPr dirty="0"/>
          </a:p>
          <a:p>
            <a:r>
              <a:rPr b="1" dirty="0"/>
              <a:t>Negative:</a:t>
            </a:r>
            <a:r>
              <a:rPr dirty="0"/>
              <a:t> Viral misinformation leading to harm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Future of Social Media in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AI and Chatbots in communication</a:t>
            </a:r>
          </a:p>
          <a:p>
            <a:r>
              <a:rPr sz="2400" dirty="0"/>
              <a:t>Virtual reality (VR) and the metaverse</a:t>
            </a:r>
          </a:p>
          <a:p>
            <a:r>
              <a:rPr sz="2400" dirty="0"/>
              <a:t>Increasing influence of algorithms</a:t>
            </a:r>
          </a:p>
        </p:txBody>
      </p:sp>
      <p:pic>
        <p:nvPicPr>
          <p:cNvPr id="6" name="Content Placeholder 5" descr="A group of people using gadgets&#10;&#10;Description automatically generated">
            <a:extLst>
              <a:ext uri="{FF2B5EF4-FFF2-40B4-BE49-F238E27FC236}">
                <a16:creationId xmlns:a16="http://schemas.microsoft.com/office/drawing/2014/main" id="{30976111-4964-B511-ED61-0AD2829D24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3225" y="2464254"/>
            <a:ext cx="3707946" cy="3707946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DD6B-D0B5-62B2-060D-82171F35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1" y="2818959"/>
            <a:ext cx="5778500" cy="1485900"/>
          </a:xfrm>
        </p:spPr>
        <p:txBody>
          <a:bodyPr>
            <a:normAutofit/>
          </a:bodyPr>
          <a:lstStyle/>
          <a:p>
            <a:r>
              <a:rPr lang="en-US" b="1" dirty="0"/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62502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3627</TotalTime>
  <Words>264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Corbel</vt:lpstr>
      <vt:lpstr>Parallax</vt:lpstr>
      <vt:lpstr>The Impact of Social Media on Modern Communication</vt:lpstr>
      <vt:lpstr>Introduction</vt:lpstr>
      <vt:lpstr>Positive Impacts</vt:lpstr>
      <vt:lpstr>Negative Impacts</vt:lpstr>
      <vt:lpstr>How Social Media Changed Communication</vt:lpstr>
      <vt:lpstr>Statistics</vt:lpstr>
      <vt:lpstr>Case Studies</vt:lpstr>
      <vt:lpstr>Future of Social Media in Communication</vt:lpstr>
      <vt:lpstr>THANK YOU FOR YOUR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Musawar Ali Shah</cp:lastModifiedBy>
  <cp:revision>8</cp:revision>
  <dcterms:created xsi:type="dcterms:W3CDTF">2013-01-27T09:14:16Z</dcterms:created>
  <dcterms:modified xsi:type="dcterms:W3CDTF">2025-02-26T07:37:53Z</dcterms:modified>
  <cp:category/>
</cp:coreProperties>
</file>