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Lato" panose="020F0502020204030203" pitchFamily="34" charset="0"/>
      <p:regular r:id="rId13"/>
      <p:bold r:id="rId14"/>
    </p:embeddedFont>
    <p:embeddedFont>
      <p:font typeface="Lato Bold" panose="020F0502020204030203" pitchFamily="34" charset="0"/>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B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40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68064" y="0"/>
            <a:ext cx="5486400" cy="8229600"/>
          </a:xfrm>
          <a:prstGeom prst="rect">
            <a:avLst/>
          </a:prstGeom>
        </p:spPr>
      </p:pic>
      <p:sp>
        <p:nvSpPr>
          <p:cNvPr id="3" name="Text 0"/>
          <p:cNvSpPr/>
          <p:nvPr/>
        </p:nvSpPr>
        <p:spPr>
          <a:xfrm>
            <a:off x="793790" y="2719983"/>
            <a:ext cx="601849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The Power of Education</a:t>
            </a:r>
            <a:endParaRPr lang="en-US" sz="4450" dirty="0"/>
          </a:p>
        </p:txBody>
      </p:sp>
      <p:sp>
        <p:nvSpPr>
          <p:cNvPr id="4" name="Text 1"/>
          <p:cNvSpPr/>
          <p:nvPr/>
        </p:nvSpPr>
        <p:spPr>
          <a:xfrm>
            <a:off x="793790" y="3768923"/>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This presentation explores the transformative power of education, emphasizing the importance of lifelong learning through emotional, ethical, and logical perspectives.</a:t>
            </a:r>
            <a:endParaRPr lang="en-US" sz="1750" dirty="0"/>
          </a:p>
        </p:txBody>
      </p:sp>
      <p:sp>
        <p:nvSpPr>
          <p:cNvPr id="5" name="Shape 2"/>
          <p:cNvSpPr/>
          <p:nvPr/>
        </p:nvSpPr>
        <p:spPr>
          <a:xfrm>
            <a:off x="793790" y="5129689"/>
            <a:ext cx="362903" cy="362903"/>
          </a:xfrm>
          <a:prstGeom prst="roundRect">
            <a:avLst>
              <a:gd name="adj" fmla="val 25194296"/>
            </a:avLst>
          </a:prstGeom>
          <a:noFill/>
          <a:ln w="7620">
            <a:solidFill>
              <a:srgbClr val="FFFFFF"/>
            </a:solidFill>
            <a:prstDash val="solid"/>
          </a:ln>
        </p:spPr>
      </p:sp>
      <p:sp>
        <p:nvSpPr>
          <p:cNvPr id="7" name="Text 3"/>
          <p:cNvSpPr/>
          <p:nvPr/>
        </p:nvSpPr>
        <p:spPr>
          <a:xfrm>
            <a:off x="1270040" y="5112782"/>
            <a:ext cx="2492097" cy="396835"/>
          </a:xfrm>
          <a:prstGeom prst="rect">
            <a:avLst/>
          </a:prstGeom>
          <a:noFill/>
          <a:ln/>
        </p:spPr>
        <p:txBody>
          <a:bodyPr wrap="none" lIns="0" tIns="0" rIns="0" bIns="0" rtlCol="0" anchor="t"/>
          <a:lstStyle/>
          <a:p>
            <a:pPr marL="0" indent="0" algn="l">
              <a:lnSpc>
                <a:spcPts val="3100"/>
              </a:lnSpc>
              <a:buNone/>
            </a:pPr>
            <a:r>
              <a:rPr lang="en-US" sz="2200" b="1" dirty="0">
                <a:solidFill>
                  <a:srgbClr val="4A4A45"/>
                </a:solidFill>
                <a:latin typeface="Lato Bold" pitchFamily="34" charset="0"/>
                <a:ea typeface="Lato Bold" pitchFamily="34" charset="-122"/>
                <a:cs typeface="Lato Bold" pitchFamily="34" charset="-120"/>
              </a:rPr>
              <a:t>by Musawarali shah</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95607"/>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Impact of Education</a:t>
            </a:r>
            <a:endParaRPr lang="en-US" sz="4450" dirty="0"/>
          </a:p>
        </p:txBody>
      </p:sp>
      <p:sp>
        <p:nvSpPr>
          <p:cNvPr id="3" name="Text 1"/>
          <p:cNvSpPr/>
          <p:nvPr/>
        </p:nvSpPr>
        <p:spPr>
          <a:xfrm>
            <a:off x="793790" y="3271361"/>
            <a:ext cx="5431869"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Better job opportunities and higher income</a:t>
            </a:r>
            <a:endParaRPr lang="en-US" sz="2200" dirty="0"/>
          </a:p>
        </p:txBody>
      </p:sp>
      <p:sp>
        <p:nvSpPr>
          <p:cNvPr id="4" name="Text 2"/>
          <p:cNvSpPr/>
          <p:nvPr/>
        </p:nvSpPr>
        <p:spPr>
          <a:xfrm>
            <a:off x="793790" y="3852505"/>
            <a:ext cx="6244709" cy="2177415"/>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Education significantly enhances employment prospects, with data indicating that individuals with higher education levels tend to earn more over their lifetimes. Continuous learning equips individuals with the skills needed for various roles across different industries, increasing both employability and potential income.</a:t>
            </a:r>
            <a:endParaRPr lang="en-US" sz="1750" dirty="0"/>
          </a:p>
        </p:txBody>
      </p:sp>
      <p:sp>
        <p:nvSpPr>
          <p:cNvPr id="5" name="Text 3"/>
          <p:cNvSpPr/>
          <p:nvPr/>
        </p:nvSpPr>
        <p:spPr>
          <a:xfrm>
            <a:off x="7599521" y="3271361"/>
            <a:ext cx="521529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Staying employed and adapting to change</a:t>
            </a:r>
            <a:endParaRPr lang="en-US" sz="2200" dirty="0"/>
          </a:p>
        </p:txBody>
      </p:sp>
      <p:sp>
        <p:nvSpPr>
          <p:cNvPr id="6" name="Text 4"/>
          <p:cNvSpPr/>
          <p:nvPr/>
        </p:nvSpPr>
        <p:spPr>
          <a:xfrm>
            <a:off x="7599521" y="3852505"/>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In a rapidly evolving job market, lifelong learners are more likely to adapt to technological changes and stay employed. Studies suggest that continuous education can make one 20% more likely to retain job security as industries adapt to innovations such as artificial intelligence and automation.</a:t>
            </a:r>
            <a:endParaRPr lang="en-US" sz="1750" dirty="0"/>
          </a:p>
        </p:txBody>
      </p:sp>
      <p:sp>
        <p:nvSpPr>
          <p:cNvPr id="7" name="Rectangle 6">
            <a:extLst>
              <a:ext uri="{FF2B5EF4-FFF2-40B4-BE49-F238E27FC236}">
                <a16:creationId xmlns:a16="http://schemas.microsoft.com/office/drawing/2014/main" id="{201B2B60-FDCE-67E7-F4BB-D964214CD20A}"/>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15772"/>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Importance of new skills in a fast-evolving world</a:t>
            </a:r>
            <a:endParaRPr lang="en-US" sz="4450" dirty="0"/>
          </a:p>
        </p:txBody>
      </p:sp>
      <p:sp>
        <p:nvSpPr>
          <p:cNvPr id="4" name="Shape 1"/>
          <p:cNvSpPr/>
          <p:nvPr/>
        </p:nvSpPr>
        <p:spPr>
          <a:xfrm>
            <a:off x="6280190" y="3428643"/>
            <a:ext cx="396835" cy="396835"/>
          </a:xfrm>
          <a:prstGeom prst="roundRect">
            <a:avLst>
              <a:gd name="adj" fmla="val 8574"/>
            </a:avLst>
          </a:prstGeom>
          <a:solidFill>
            <a:srgbClr val="E5DFD2"/>
          </a:solidFill>
          <a:ln/>
        </p:spPr>
      </p:sp>
      <p:sp>
        <p:nvSpPr>
          <p:cNvPr id="5" name="Text 2"/>
          <p:cNvSpPr/>
          <p:nvPr/>
        </p:nvSpPr>
        <p:spPr>
          <a:xfrm>
            <a:off x="6903839" y="3428643"/>
            <a:ext cx="3041213" cy="181451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In today's fast-paced environment, acquiring new skills—such as coding, data analysis, or digital marketing—has become essential.</a:t>
            </a:r>
            <a:endParaRPr lang="en-US" sz="1750" dirty="0"/>
          </a:p>
        </p:txBody>
      </p:sp>
      <p:sp>
        <p:nvSpPr>
          <p:cNvPr id="6" name="Shape 3"/>
          <p:cNvSpPr/>
          <p:nvPr/>
        </p:nvSpPr>
        <p:spPr>
          <a:xfrm>
            <a:off x="10171867" y="3428643"/>
            <a:ext cx="396835" cy="396835"/>
          </a:xfrm>
          <a:prstGeom prst="roundRect">
            <a:avLst>
              <a:gd name="adj" fmla="val 8574"/>
            </a:avLst>
          </a:prstGeom>
          <a:solidFill>
            <a:srgbClr val="E5DFD2"/>
          </a:solidFill>
          <a:ln/>
        </p:spPr>
      </p:sp>
      <p:sp>
        <p:nvSpPr>
          <p:cNvPr id="7" name="Text 4"/>
          <p:cNvSpPr/>
          <p:nvPr/>
        </p:nvSpPr>
        <p:spPr>
          <a:xfrm>
            <a:off x="10795516" y="3428643"/>
            <a:ext cx="3041213" cy="1451610"/>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These skills not only enhance personal development but also make individuals more competitive in the job market.</a:t>
            </a:r>
            <a:endParaRPr lang="en-US" sz="1750" dirty="0"/>
          </a:p>
        </p:txBody>
      </p:sp>
      <p:sp>
        <p:nvSpPr>
          <p:cNvPr id="8" name="Shape 5"/>
          <p:cNvSpPr/>
          <p:nvPr/>
        </p:nvSpPr>
        <p:spPr>
          <a:xfrm>
            <a:off x="6280190" y="5725120"/>
            <a:ext cx="396835" cy="396835"/>
          </a:xfrm>
          <a:prstGeom prst="roundRect">
            <a:avLst>
              <a:gd name="adj" fmla="val 8574"/>
            </a:avLst>
          </a:prstGeom>
          <a:solidFill>
            <a:srgbClr val="E5DFD2"/>
          </a:solidFill>
          <a:ln/>
        </p:spPr>
      </p:sp>
      <p:sp>
        <p:nvSpPr>
          <p:cNvPr id="9" name="Text 6"/>
          <p:cNvSpPr/>
          <p:nvPr/>
        </p:nvSpPr>
        <p:spPr>
          <a:xfrm>
            <a:off x="6903839" y="5725120"/>
            <a:ext cx="693277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Lifelong learning ensures that individuals can keep up with industry trends and technological advancements, allowing them to innovate and contribute effectively.</a:t>
            </a:r>
            <a:endParaRPr lang="en-US" sz="1750" dirty="0"/>
          </a:p>
        </p:txBody>
      </p:sp>
      <p:sp>
        <p:nvSpPr>
          <p:cNvPr id="10" name="Rectangle 9">
            <a:extLst>
              <a:ext uri="{FF2B5EF4-FFF2-40B4-BE49-F238E27FC236}">
                <a16:creationId xmlns:a16="http://schemas.microsoft.com/office/drawing/2014/main" id="{DE710938-A9CB-F4A8-1D75-E7A75153F0E2}"/>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81207"/>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Joy of Learning</a:t>
            </a:r>
            <a:endParaRPr lang="en-US" sz="4450" dirty="0"/>
          </a:p>
        </p:txBody>
      </p:sp>
      <p:sp>
        <p:nvSpPr>
          <p:cNvPr id="4" name="Shape 1"/>
          <p:cNvSpPr/>
          <p:nvPr/>
        </p:nvSpPr>
        <p:spPr>
          <a:xfrm>
            <a:off x="793790" y="2130147"/>
            <a:ext cx="7556421" cy="2758559"/>
          </a:xfrm>
          <a:prstGeom prst="roundRect">
            <a:avLst>
              <a:gd name="adj" fmla="val 1233"/>
            </a:avLst>
          </a:prstGeom>
          <a:solidFill>
            <a:srgbClr val="E5DFD2"/>
          </a:solidFill>
          <a:ln/>
        </p:spPr>
      </p:sp>
      <p:sp>
        <p:nvSpPr>
          <p:cNvPr id="5" name="Text 2"/>
          <p:cNvSpPr/>
          <p:nvPr/>
        </p:nvSpPr>
        <p:spPr>
          <a:xfrm>
            <a:off x="1020604" y="2356961"/>
            <a:ext cx="3598307" cy="354330"/>
          </a:xfrm>
          <a:prstGeom prst="rect">
            <a:avLst/>
          </a:prstGeom>
          <a:noFill/>
          <a:ln/>
        </p:spPr>
        <p:txBody>
          <a:bodyPr wrap="none" lIns="0" tIns="0" rIns="0" bIns="0" rtlCol="0" anchor="t"/>
          <a:lstStyle/>
          <a:p>
            <a:pPr marL="0" indent="0">
              <a:lnSpc>
                <a:spcPts val="2750"/>
              </a:lnSpc>
              <a:buNone/>
            </a:pPr>
            <a:r>
              <a:rPr lang="en-US" sz="2200" b="1" dirty="0">
                <a:solidFill>
                  <a:srgbClr val="4A4A45"/>
                </a:solidFill>
                <a:latin typeface="Lato Bold" pitchFamily="34" charset="0"/>
                <a:ea typeface="Lato Bold" pitchFamily="34" charset="-122"/>
                <a:cs typeface="Lato Bold" pitchFamily="34" charset="-120"/>
              </a:rPr>
              <a:t>Thrill of mastering new skills</a:t>
            </a:r>
            <a:endParaRPr lang="en-US" sz="2200" dirty="0"/>
          </a:p>
        </p:txBody>
      </p:sp>
      <p:sp>
        <p:nvSpPr>
          <p:cNvPr id="6" name="Text 3"/>
          <p:cNvSpPr/>
          <p:nvPr/>
        </p:nvSpPr>
        <p:spPr>
          <a:xfrm>
            <a:off x="1020604" y="2847380"/>
            <a:ext cx="7102793" cy="181451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The exhilaration of mastering a new skill brings a sense of accomplishment and joy that can significantly enhance one's quality of life. Whether it's learning to play an instrument, speak a new language, or tackle a complex project, the process of discovery and overcoming challenges can be incredibly rewarding.</a:t>
            </a:r>
            <a:endParaRPr lang="en-US" sz="1750" dirty="0"/>
          </a:p>
        </p:txBody>
      </p:sp>
      <p:sp>
        <p:nvSpPr>
          <p:cNvPr id="7" name="Shape 4"/>
          <p:cNvSpPr/>
          <p:nvPr/>
        </p:nvSpPr>
        <p:spPr>
          <a:xfrm>
            <a:off x="793790" y="5115520"/>
            <a:ext cx="7556421" cy="2032754"/>
          </a:xfrm>
          <a:prstGeom prst="roundRect">
            <a:avLst>
              <a:gd name="adj" fmla="val 1674"/>
            </a:avLst>
          </a:prstGeom>
          <a:solidFill>
            <a:srgbClr val="E5DFD2"/>
          </a:solidFill>
          <a:ln/>
        </p:spPr>
      </p:sp>
      <p:sp>
        <p:nvSpPr>
          <p:cNvPr id="8" name="Text 5"/>
          <p:cNvSpPr/>
          <p:nvPr/>
        </p:nvSpPr>
        <p:spPr>
          <a:xfrm>
            <a:off x="1020604" y="5342334"/>
            <a:ext cx="4481870" cy="354330"/>
          </a:xfrm>
          <a:prstGeom prst="rect">
            <a:avLst/>
          </a:prstGeom>
          <a:noFill/>
          <a:ln/>
        </p:spPr>
        <p:txBody>
          <a:bodyPr wrap="none" lIns="0" tIns="0" rIns="0" bIns="0" rtlCol="0" anchor="t"/>
          <a:lstStyle/>
          <a:p>
            <a:pPr marL="0" indent="0">
              <a:lnSpc>
                <a:spcPts val="2750"/>
              </a:lnSpc>
              <a:buNone/>
            </a:pPr>
            <a:r>
              <a:rPr lang="en-US" sz="2200" b="1" dirty="0">
                <a:solidFill>
                  <a:srgbClr val="4A4A45"/>
                </a:solidFill>
                <a:latin typeface="Lato Bold" pitchFamily="34" charset="0"/>
                <a:ea typeface="Lato Bold" pitchFamily="34" charset="-122"/>
                <a:cs typeface="Lato Bold" pitchFamily="34" charset="-120"/>
              </a:rPr>
              <a:t>Boosting confidence and fulfillment</a:t>
            </a:r>
            <a:endParaRPr lang="en-US" sz="2200" dirty="0"/>
          </a:p>
        </p:txBody>
      </p:sp>
      <p:sp>
        <p:nvSpPr>
          <p:cNvPr id="9" name="Text 6"/>
          <p:cNvSpPr/>
          <p:nvPr/>
        </p:nvSpPr>
        <p:spPr>
          <a:xfrm>
            <a:off x="1020604" y="5832753"/>
            <a:ext cx="7102793"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Continuously learning new skills not only boosts self-esteem but also fosters a sense of fulfillment. Individuals who engage in lifelong learning often report feeling more capable and confident in their abilities.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568887"/>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Personal stories of impactful learning</a:t>
            </a:r>
            <a:endParaRPr lang="en-US" sz="4450" dirty="0"/>
          </a:p>
        </p:txBody>
      </p:sp>
      <p:pic>
        <p:nvPicPr>
          <p:cNvPr id="4" name="Image 1" descr="preencoded.png"/>
          <p:cNvPicPr>
            <a:picLocks noChangeAspect="1"/>
          </p:cNvPicPr>
          <p:nvPr/>
        </p:nvPicPr>
        <p:blipFill>
          <a:blip r:embed="rId4"/>
          <a:stretch>
            <a:fillRect/>
          </a:stretch>
        </p:blipFill>
        <p:spPr>
          <a:xfrm>
            <a:off x="6280190" y="3326606"/>
            <a:ext cx="566976" cy="566976"/>
          </a:xfrm>
          <a:prstGeom prst="rect">
            <a:avLst/>
          </a:prstGeom>
        </p:spPr>
      </p:pic>
      <p:sp>
        <p:nvSpPr>
          <p:cNvPr id="5" name="Text 1"/>
          <p:cNvSpPr/>
          <p:nvPr/>
        </p:nvSpPr>
        <p:spPr>
          <a:xfrm>
            <a:off x="6280190" y="4120396"/>
            <a:ext cx="3608070"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Personal stories of learning experiences can inspire audiences to pursue their own educational journeys.</a:t>
            </a:r>
            <a:endParaRPr lang="en-US" sz="1750" dirty="0"/>
          </a:p>
        </p:txBody>
      </p:sp>
      <p:pic>
        <p:nvPicPr>
          <p:cNvPr id="6" name="Image 2" descr="preencoded.png"/>
          <p:cNvPicPr>
            <a:picLocks noChangeAspect="1"/>
          </p:cNvPicPr>
          <p:nvPr/>
        </p:nvPicPr>
        <p:blipFill>
          <a:blip r:embed="rId4"/>
          <a:stretch>
            <a:fillRect/>
          </a:stretch>
        </p:blipFill>
        <p:spPr>
          <a:xfrm>
            <a:off x="10228421" y="3326606"/>
            <a:ext cx="566976" cy="566976"/>
          </a:xfrm>
          <a:prstGeom prst="rect">
            <a:avLst/>
          </a:prstGeom>
        </p:spPr>
      </p:pic>
      <p:sp>
        <p:nvSpPr>
          <p:cNvPr id="7" name="Text 2"/>
          <p:cNvSpPr/>
          <p:nvPr/>
        </p:nvSpPr>
        <p:spPr>
          <a:xfrm>
            <a:off x="10228421" y="4120396"/>
            <a:ext cx="3608189" cy="2540318"/>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Sharing anecdotes about the positive effects of learning—such as developing a new hobby, overcoming obstacles, or connecting with others—illustrates the profound influence that education can have on individual lives.</a:t>
            </a:r>
            <a:endParaRPr lang="en-US" sz="1750" dirty="0"/>
          </a:p>
        </p:txBody>
      </p:sp>
      <p:sp>
        <p:nvSpPr>
          <p:cNvPr id="8" name="Rectangle 7">
            <a:extLst>
              <a:ext uri="{FF2B5EF4-FFF2-40B4-BE49-F238E27FC236}">
                <a16:creationId xmlns:a16="http://schemas.microsoft.com/office/drawing/2014/main" id="{B491881B-7C3E-D384-51D3-1E384D454FDA}"/>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99755"/>
            <a:ext cx="6893957"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03 # Ethical Considerations</a:t>
            </a:r>
            <a:endParaRPr lang="en-US" sz="4450" dirty="0"/>
          </a:p>
        </p:txBody>
      </p:sp>
      <p:sp>
        <p:nvSpPr>
          <p:cNvPr id="4" name="Shape 1"/>
          <p:cNvSpPr/>
          <p:nvPr/>
        </p:nvSpPr>
        <p:spPr>
          <a:xfrm>
            <a:off x="6605111" y="1948696"/>
            <a:ext cx="30480" cy="5381030"/>
          </a:xfrm>
          <a:prstGeom prst="roundRect">
            <a:avLst>
              <a:gd name="adj" fmla="val 111628"/>
            </a:avLst>
          </a:prstGeom>
          <a:solidFill>
            <a:srgbClr val="CBC5B8"/>
          </a:solidFill>
          <a:ln/>
        </p:spPr>
      </p:sp>
      <p:sp>
        <p:nvSpPr>
          <p:cNvPr id="5" name="Shape 2"/>
          <p:cNvSpPr/>
          <p:nvPr/>
        </p:nvSpPr>
        <p:spPr>
          <a:xfrm>
            <a:off x="6845022" y="2443758"/>
            <a:ext cx="793790" cy="30480"/>
          </a:xfrm>
          <a:prstGeom prst="roundRect">
            <a:avLst>
              <a:gd name="adj" fmla="val 111628"/>
            </a:avLst>
          </a:prstGeom>
          <a:solidFill>
            <a:srgbClr val="CBC5B8"/>
          </a:solidFill>
          <a:ln/>
        </p:spPr>
      </p:sp>
      <p:sp>
        <p:nvSpPr>
          <p:cNvPr id="6" name="Shape 3"/>
          <p:cNvSpPr/>
          <p:nvPr/>
        </p:nvSpPr>
        <p:spPr>
          <a:xfrm>
            <a:off x="6365200" y="2203847"/>
            <a:ext cx="510302" cy="510302"/>
          </a:xfrm>
          <a:prstGeom prst="roundRect">
            <a:avLst>
              <a:gd name="adj" fmla="val 6667"/>
            </a:avLst>
          </a:prstGeom>
          <a:solidFill>
            <a:srgbClr val="E5DFD2"/>
          </a:solidFill>
          <a:ln/>
        </p:spPr>
      </p:sp>
      <p:sp>
        <p:nvSpPr>
          <p:cNvPr id="7" name="Text 4"/>
          <p:cNvSpPr/>
          <p:nvPr/>
        </p:nvSpPr>
        <p:spPr>
          <a:xfrm>
            <a:off x="6521648" y="2288858"/>
            <a:ext cx="197406" cy="34028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1</a:t>
            </a:r>
            <a:endParaRPr lang="en-US" sz="2650" dirty="0"/>
          </a:p>
        </p:txBody>
      </p:sp>
      <p:sp>
        <p:nvSpPr>
          <p:cNvPr id="8" name="Text 5"/>
          <p:cNvSpPr/>
          <p:nvPr/>
        </p:nvSpPr>
        <p:spPr>
          <a:xfrm>
            <a:off x="7867888" y="2175510"/>
            <a:ext cx="3228856"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Equal access to education</a:t>
            </a:r>
            <a:endParaRPr lang="en-US" sz="2200" dirty="0"/>
          </a:p>
        </p:txBody>
      </p:sp>
      <p:sp>
        <p:nvSpPr>
          <p:cNvPr id="9" name="Text 6"/>
          <p:cNvSpPr/>
          <p:nvPr/>
        </p:nvSpPr>
        <p:spPr>
          <a:xfrm>
            <a:off x="7867888" y="2665928"/>
            <a:ext cx="5968722"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Ensuring everyone has equal opportunities to learn is crucial for a just and equitable society. By removing barriers such as poverty or lack of infrastructure, we can create a world where everyone has the chance to reach their full potential.</a:t>
            </a:r>
            <a:endParaRPr lang="en-US" sz="1750" dirty="0"/>
          </a:p>
        </p:txBody>
      </p:sp>
      <p:sp>
        <p:nvSpPr>
          <p:cNvPr id="10" name="Shape 7"/>
          <p:cNvSpPr/>
          <p:nvPr/>
        </p:nvSpPr>
        <p:spPr>
          <a:xfrm>
            <a:off x="6845022" y="5066228"/>
            <a:ext cx="793790" cy="30480"/>
          </a:xfrm>
          <a:prstGeom prst="roundRect">
            <a:avLst>
              <a:gd name="adj" fmla="val 111628"/>
            </a:avLst>
          </a:prstGeom>
          <a:solidFill>
            <a:srgbClr val="CBC5B8"/>
          </a:solidFill>
          <a:ln/>
        </p:spPr>
      </p:sp>
      <p:sp>
        <p:nvSpPr>
          <p:cNvPr id="11" name="Shape 8"/>
          <p:cNvSpPr/>
          <p:nvPr/>
        </p:nvSpPr>
        <p:spPr>
          <a:xfrm>
            <a:off x="6365200" y="4826318"/>
            <a:ext cx="510302" cy="510302"/>
          </a:xfrm>
          <a:prstGeom prst="roundRect">
            <a:avLst>
              <a:gd name="adj" fmla="val 6667"/>
            </a:avLst>
          </a:prstGeom>
          <a:solidFill>
            <a:srgbClr val="E5DFD2"/>
          </a:solidFill>
          <a:ln/>
        </p:spPr>
      </p:sp>
      <p:sp>
        <p:nvSpPr>
          <p:cNvPr id="12" name="Text 9"/>
          <p:cNvSpPr/>
          <p:nvPr/>
        </p:nvSpPr>
        <p:spPr>
          <a:xfrm>
            <a:off x="6521648" y="4911328"/>
            <a:ext cx="197406" cy="340281"/>
          </a:xfrm>
          <a:prstGeom prst="rect">
            <a:avLst/>
          </a:prstGeom>
          <a:noFill/>
          <a:ln/>
        </p:spPr>
        <p:txBody>
          <a:bodyPr wrap="none" lIns="0" tIns="0" rIns="0" bIns="0" rtlCol="0" anchor="t"/>
          <a:lstStyle/>
          <a:p>
            <a:pPr marL="0" indent="0" algn="ctr">
              <a:lnSpc>
                <a:spcPts val="2650"/>
              </a:lnSpc>
              <a:buNone/>
            </a:pPr>
            <a:r>
              <a:rPr lang="en-US" sz="2650" b="1" dirty="0">
                <a:solidFill>
                  <a:srgbClr val="4A4A45"/>
                </a:solidFill>
                <a:latin typeface="Lato Bold" pitchFamily="34" charset="0"/>
                <a:ea typeface="Lato Bold" pitchFamily="34" charset="-122"/>
                <a:cs typeface="Lato Bold" pitchFamily="34" charset="-120"/>
              </a:rPr>
              <a:t>2</a:t>
            </a:r>
            <a:endParaRPr lang="en-US" sz="2650" dirty="0"/>
          </a:p>
        </p:txBody>
      </p:sp>
      <p:sp>
        <p:nvSpPr>
          <p:cNvPr id="13" name="Text 10"/>
          <p:cNvSpPr/>
          <p:nvPr/>
        </p:nvSpPr>
        <p:spPr>
          <a:xfrm>
            <a:off x="7867888" y="4797981"/>
            <a:ext cx="3594973"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Education for ethical growth</a:t>
            </a:r>
            <a:endParaRPr lang="en-US" sz="2200" dirty="0"/>
          </a:p>
        </p:txBody>
      </p:sp>
      <p:sp>
        <p:nvSpPr>
          <p:cNvPr id="14" name="Text 11"/>
          <p:cNvSpPr/>
          <p:nvPr/>
        </p:nvSpPr>
        <p:spPr>
          <a:xfrm>
            <a:off x="7867888" y="5288399"/>
            <a:ext cx="5968722" cy="1814513"/>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Education should equip individuals with the knowledge and critical thinking skills to make ethical decisions. By promoting empathy, compassion, and a sense of responsibility, we can foster a more ethical society where individuals are empowered to contribute to positive change.</a:t>
            </a:r>
            <a:endParaRPr lang="en-US" sz="1750" dirty="0"/>
          </a:p>
        </p:txBody>
      </p:sp>
      <p:sp>
        <p:nvSpPr>
          <p:cNvPr id="15" name="Rectangle 14">
            <a:extLst>
              <a:ext uri="{FF2B5EF4-FFF2-40B4-BE49-F238E27FC236}">
                <a16:creationId xmlns:a16="http://schemas.microsoft.com/office/drawing/2014/main" id="{5D6EC647-E6C9-EBF2-CFF2-441687129195}"/>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31771"/>
            <a:ext cx="688336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04 # Emotional Intelligence</a:t>
            </a:r>
            <a:endParaRPr lang="en-US" sz="4450" dirty="0"/>
          </a:p>
        </p:txBody>
      </p:sp>
      <p:pic>
        <p:nvPicPr>
          <p:cNvPr id="4" name="Image 1" descr="preencoded.png"/>
          <p:cNvPicPr>
            <a:picLocks noChangeAspect="1"/>
          </p:cNvPicPr>
          <p:nvPr/>
        </p:nvPicPr>
        <p:blipFill>
          <a:blip r:embed="rId4"/>
          <a:stretch>
            <a:fillRect/>
          </a:stretch>
        </p:blipFill>
        <p:spPr>
          <a:xfrm>
            <a:off x="793790" y="1880711"/>
            <a:ext cx="1134070" cy="2758559"/>
          </a:xfrm>
          <a:prstGeom prst="rect">
            <a:avLst/>
          </a:prstGeom>
        </p:spPr>
      </p:pic>
      <p:sp>
        <p:nvSpPr>
          <p:cNvPr id="5" name="Text 1"/>
          <p:cNvSpPr/>
          <p:nvPr/>
        </p:nvSpPr>
        <p:spPr>
          <a:xfrm>
            <a:off x="2268022" y="2107525"/>
            <a:ext cx="354651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Empathy and understanding</a:t>
            </a:r>
            <a:endParaRPr lang="en-US" sz="2200" dirty="0"/>
          </a:p>
        </p:txBody>
      </p:sp>
      <p:sp>
        <p:nvSpPr>
          <p:cNvPr id="6" name="Text 2"/>
          <p:cNvSpPr/>
          <p:nvPr/>
        </p:nvSpPr>
        <p:spPr>
          <a:xfrm>
            <a:off x="2268022" y="2597944"/>
            <a:ext cx="6082189" cy="1814513"/>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Learning enhances emotional intelligence by fostering empathy and understanding. Through diverse perspectives, we learn to connect with others, build stronger relationships, and navigate complex social situations with greater sensitivity.</a:t>
            </a:r>
            <a:endParaRPr lang="en-US" sz="1750" dirty="0"/>
          </a:p>
        </p:txBody>
      </p:sp>
      <p:pic>
        <p:nvPicPr>
          <p:cNvPr id="7" name="Image 2" descr="preencoded.png"/>
          <p:cNvPicPr>
            <a:picLocks noChangeAspect="1"/>
          </p:cNvPicPr>
          <p:nvPr/>
        </p:nvPicPr>
        <p:blipFill>
          <a:blip r:embed="rId5"/>
          <a:stretch>
            <a:fillRect/>
          </a:stretch>
        </p:blipFill>
        <p:spPr>
          <a:xfrm>
            <a:off x="793790" y="4639270"/>
            <a:ext cx="1134070" cy="2758559"/>
          </a:xfrm>
          <a:prstGeom prst="rect">
            <a:avLst/>
          </a:prstGeom>
        </p:spPr>
      </p:pic>
      <p:sp>
        <p:nvSpPr>
          <p:cNvPr id="8" name="Text 3"/>
          <p:cNvSpPr/>
          <p:nvPr/>
        </p:nvSpPr>
        <p:spPr>
          <a:xfrm>
            <a:off x="2268022" y="4866084"/>
            <a:ext cx="3212306"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Emotional self-regulation</a:t>
            </a:r>
            <a:endParaRPr lang="en-US" sz="2200" dirty="0"/>
          </a:p>
        </p:txBody>
      </p:sp>
      <p:sp>
        <p:nvSpPr>
          <p:cNvPr id="9" name="Text 4"/>
          <p:cNvSpPr/>
          <p:nvPr/>
        </p:nvSpPr>
        <p:spPr>
          <a:xfrm>
            <a:off x="2268022" y="5356503"/>
            <a:ext cx="6082189" cy="1814513"/>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Education can help us understand and regulate our emotions. By learning about different emotional states and developing coping mechanisms, we can manage our feelings more effectively, leading to improved well-being and healthier relationships.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21487"/>
            <a:ext cx="5720596"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05 # Logical Reasoning</a:t>
            </a:r>
            <a:endParaRPr lang="en-US" sz="4450" dirty="0"/>
          </a:p>
        </p:txBody>
      </p:sp>
      <p:sp>
        <p:nvSpPr>
          <p:cNvPr id="4" name="Shape 1"/>
          <p:cNvSpPr/>
          <p:nvPr/>
        </p:nvSpPr>
        <p:spPr>
          <a:xfrm>
            <a:off x="6280190" y="2470428"/>
            <a:ext cx="170021" cy="1942028"/>
          </a:xfrm>
          <a:prstGeom prst="roundRect">
            <a:avLst>
              <a:gd name="adj" fmla="val 20012"/>
            </a:avLst>
          </a:prstGeom>
          <a:solidFill>
            <a:srgbClr val="E5DFD2"/>
          </a:solidFill>
          <a:ln/>
        </p:spPr>
      </p:sp>
      <p:sp>
        <p:nvSpPr>
          <p:cNvPr id="5" name="Text 2"/>
          <p:cNvSpPr/>
          <p:nvPr/>
        </p:nvSpPr>
        <p:spPr>
          <a:xfrm>
            <a:off x="6790373" y="247042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Problem-solving</a:t>
            </a:r>
            <a:endParaRPr lang="en-US" sz="2200" dirty="0"/>
          </a:p>
        </p:txBody>
      </p:sp>
      <p:sp>
        <p:nvSpPr>
          <p:cNvPr id="6" name="Text 3"/>
          <p:cNvSpPr/>
          <p:nvPr/>
        </p:nvSpPr>
        <p:spPr>
          <a:xfrm>
            <a:off x="6790373" y="2960846"/>
            <a:ext cx="7046238"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Education cultivates critical thinking and problem-solving skills. By learning how to analyze information, evaluate evidence, and generate solutions, we become more equipped to address challenges in our personal and professional lives.</a:t>
            </a:r>
            <a:endParaRPr lang="en-US" sz="1750" dirty="0"/>
          </a:p>
        </p:txBody>
      </p:sp>
      <p:sp>
        <p:nvSpPr>
          <p:cNvPr id="7" name="Shape 4"/>
          <p:cNvSpPr/>
          <p:nvPr/>
        </p:nvSpPr>
        <p:spPr>
          <a:xfrm>
            <a:off x="6620351" y="4639270"/>
            <a:ext cx="170021" cy="1942028"/>
          </a:xfrm>
          <a:prstGeom prst="roundRect">
            <a:avLst>
              <a:gd name="adj" fmla="val 20012"/>
            </a:avLst>
          </a:prstGeom>
          <a:solidFill>
            <a:srgbClr val="E5DFD2"/>
          </a:solidFill>
          <a:ln/>
        </p:spPr>
      </p:sp>
      <p:sp>
        <p:nvSpPr>
          <p:cNvPr id="8" name="Text 5"/>
          <p:cNvSpPr/>
          <p:nvPr/>
        </p:nvSpPr>
        <p:spPr>
          <a:xfrm>
            <a:off x="7130534" y="46392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Decision-making</a:t>
            </a:r>
            <a:endParaRPr lang="en-US" sz="2200" dirty="0"/>
          </a:p>
        </p:txBody>
      </p:sp>
      <p:sp>
        <p:nvSpPr>
          <p:cNvPr id="9" name="Text 6"/>
          <p:cNvSpPr/>
          <p:nvPr/>
        </p:nvSpPr>
        <p:spPr>
          <a:xfrm>
            <a:off x="7130534" y="5129689"/>
            <a:ext cx="6706076"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Education helps us develop logical reasoning skills, leading to more informed decision-making. By considering various perspectives, gathering data, and weighing potential outcomes, we can make choices that align with our values and goals.</a:t>
            </a:r>
            <a:endParaRPr lang="en-US" sz="1750" dirty="0"/>
          </a:p>
        </p:txBody>
      </p:sp>
      <p:sp>
        <p:nvSpPr>
          <p:cNvPr id="10" name="Rectangle 9">
            <a:extLst>
              <a:ext uri="{FF2B5EF4-FFF2-40B4-BE49-F238E27FC236}">
                <a16:creationId xmlns:a16="http://schemas.microsoft.com/office/drawing/2014/main" id="{1C6E9840-68E3-59A6-1A1D-2C0FD86052F2}"/>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51109"/>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Key Takeaways</a:t>
            </a:r>
            <a:endParaRPr lang="en-US" sz="4450" dirty="0"/>
          </a:p>
        </p:txBody>
      </p:sp>
      <p:sp>
        <p:nvSpPr>
          <p:cNvPr id="3" name="Text 1"/>
          <p:cNvSpPr/>
          <p:nvPr/>
        </p:nvSpPr>
        <p:spPr>
          <a:xfrm>
            <a:off x="1743789" y="4087892"/>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4A4A45"/>
                </a:solidFill>
                <a:latin typeface="Lato Bold" pitchFamily="34" charset="0"/>
                <a:ea typeface="Lato Bold" pitchFamily="34" charset="-122"/>
                <a:cs typeface="Lato Bold" pitchFamily="34" charset="-120"/>
              </a:rPr>
              <a:t>Lifelong Learning</a:t>
            </a:r>
            <a:endParaRPr lang="en-US" sz="2200" dirty="0"/>
          </a:p>
        </p:txBody>
      </p:sp>
      <p:sp>
        <p:nvSpPr>
          <p:cNvPr id="4" name="Text 2"/>
          <p:cNvSpPr/>
          <p:nvPr/>
        </p:nvSpPr>
        <p:spPr>
          <a:xfrm>
            <a:off x="793790" y="4578310"/>
            <a:ext cx="3785235" cy="725805"/>
          </a:xfrm>
          <a:prstGeom prst="rect">
            <a:avLst/>
          </a:prstGeom>
          <a:noFill/>
          <a:ln/>
        </p:spPr>
        <p:txBody>
          <a:bodyPr wrap="square" lIns="0" tIns="0" rIns="0" bIns="0" rtlCol="0" anchor="t"/>
          <a:lstStyle/>
          <a:p>
            <a:pPr marL="0" indent="0" algn="r">
              <a:lnSpc>
                <a:spcPts val="2850"/>
              </a:lnSpc>
              <a:buNone/>
            </a:pPr>
            <a:r>
              <a:rPr lang="en-US" sz="1750" dirty="0">
                <a:solidFill>
                  <a:srgbClr val="4A4A45"/>
                </a:solidFill>
                <a:latin typeface="Lato" pitchFamily="34" charset="0"/>
                <a:ea typeface="Lato" pitchFamily="34" charset="-122"/>
                <a:cs typeface="Lato" pitchFamily="34" charset="-120"/>
              </a:rPr>
              <a:t>Embrace the continuous pursuit of knowledge and skills.</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5658803" y="4194453"/>
            <a:ext cx="164425" cy="453509"/>
          </a:xfrm>
          <a:prstGeom prst="rect">
            <a:avLst/>
          </a:prstGeom>
          <a:noFill/>
          <a:ln/>
        </p:spPr>
        <p:txBody>
          <a:bodyPr wrap="none" lIns="0" tIns="0" rIns="0" bIns="0" rtlCol="0" anchor="t"/>
          <a:lstStyle/>
          <a:p>
            <a:pPr marL="0" indent="0">
              <a:lnSpc>
                <a:spcPts val="3550"/>
              </a:lnSpc>
              <a:buNone/>
            </a:pPr>
            <a:r>
              <a:rPr lang="en-US" sz="2200" b="1" dirty="0">
                <a:solidFill>
                  <a:srgbClr val="4A4A45"/>
                </a:solidFill>
                <a:latin typeface="Lato Bold" pitchFamily="34" charset="0"/>
                <a:ea typeface="Lato Bold" pitchFamily="34" charset="-122"/>
                <a:cs typeface="Lato Bold" pitchFamily="34" charset="-120"/>
              </a:rPr>
              <a:t>1</a:t>
            </a:r>
            <a:endParaRPr lang="en-US" sz="2200" dirty="0"/>
          </a:p>
        </p:txBody>
      </p:sp>
      <p:sp>
        <p:nvSpPr>
          <p:cNvPr id="7" name="Text 4"/>
          <p:cNvSpPr/>
          <p:nvPr/>
        </p:nvSpPr>
        <p:spPr>
          <a:xfrm>
            <a:off x="9937790" y="286154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Personal Growth</a:t>
            </a:r>
            <a:endParaRPr lang="en-US" sz="2200" dirty="0"/>
          </a:p>
        </p:txBody>
      </p:sp>
      <p:sp>
        <p:nvSpPr>
          <p:cNvPr id="8" name="Text 5"/>
          <p:cNvSpPr/>
          <p:nvPr/>
        </p:nvSpPr>
        <p:spPr>
          <a:xfrm>
            <a:off x="9937790" y="3351967"/>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Invest in your personal development for fulfillment and well-being.</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257699" y="3243382"/>
            <a:ext cx="164425" cy="453509"/>
          </a:xfrm>
          <a:prstGeom prst="rect">
            <a:avLst/>
          </a:prstGeom>
          <a:noFill/>
          <a:ln/>
        </p:spPr>
        <p:txBody>
          <a:bodyPr wrap="none" lIns="0" tIns="0" rIns="0" bIns="0" rtlCol="0" anchor="t"/>
          <a:lstStyle/>
          <a:p>
            <a:pPr marL="0" indent="0">
              <a:lnSpc>
                <a:spcPts val="3550"/>
              </a:lnSpc>
              <a:buNone/>
            </a:pPr>
            <a:r>
              <a:rPr lang="en-US" sz="2200" b="1" dirty="0">
                <a:solidFill>
                  <a:srgbClr val="4A4A45"/>
                </a:solidFill>
                <a:latin typeface="Lato Bold" pitchFamily="34" charset="0"/>
                <a:ea typeface="Lato Bold" pitchFamily="34" charset="-122"/>
                <a:cs typeface="Lato Bold" pitchFamily="34" charset="-120"/>
              </a:rPr>
              <a:t>2</a:t>
            </a:r>
            <a:endParaRPr lang="en-US" sz="2200" dirty="0"/>
          </a:p>
        </p:txBody>
      </p:sp>
      <p:sp>
        <p:nvSpPr>
          <p:cNvPr id="11" name="Text 7"/>
          <p:cNvSpPr/>
          <p:nvPr/>
        </p:nvSpPr>
        <p:spPr>
          <a:xfrm>
            <a:off x="9937790" y="531411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Positive Impact</a:t>
            </a:r>
            <a:endParaRPr lang="en-US" sz="2200" dirty="0"/>
          </a:p>
        </p:txBody>
      </p:sp>
      <p:sp>
        <p:nvSpPr>
          <p:cNvPr id="12" name="Text 8"/>
          <p:cNvSpPr/>
          <p:nvPr/>
        </p:nvSpPr>
        <p:spPr>
          <a:xfrm>
            <a:off x="9937790" y="5804535"/>
            <a:ext cx="3898821"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Contribute to a better world through ethical decision-making.</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7781925" y="5969556"/>
            <a:ext cx="164425" cy="453509"/>
          </a:xfrm>
          <a:prstGeom prst="rect">
            <a:avLst/>
          </a:prstGeom>
          <a:noFill/>
          <a:ln/>
        </p:spPr>
        <p:txBody>
          <a:bodyPr wrap="none" lIns="0" tIns="0" rIns="0" bIns="0" rtlCol="0" anchor="t"/>
          <a:lstStyle/>
          <a:p>
            <a:pPr marL="0" indent="0">
              <a:lnSpc>
                <a:spcPts val="3550"/>
              </a:lnSpc>
              <a:buNone/>
            </a:pPr>
            <a:r>
              <a:rPr lang="en-US" sz="2200" b="1" dirty="0">
                <a:solidFill>
                  <a:srgbClr val="4A4A45"/>
                </a:solidFill>
                <a:latin typeface="Lato Bold" pitchFamily="34" charset="0"/>
                <a:ea typeface="Lato Bold" pitchFamily="34" charset="-122"/>
                <a:cs typeface="Lato Bold" pitchFamily="34" charset="-120"/>
              </a:rPr>
              <a:t>3</a:t>
            </a:r>
            <a:endParaRPr lang="en-US" sz="2200" dirty="0"/>
          </a:p>
        </p:txBody>
      </p:sp>
      <p:sp>
        <p:nvSpPr>
          <p:cNvPr id="15" name="Rectangle 14">
            <a:extLst>
              <a:ext uri="{FF2B5EF4-FFF2-40B4-BE49-F238E27FC236}">
                <a16:creationId xmlns:a16="http://schemas.microsoft.com/office/drawing/2014/main" id="{5C2D7E01-6016-5A3B-EC1B-17FE2BD15A85}"/>
              </a:ext>
            </a:extLst>
          </p:cNvPr>
          <p:cNvSpPr/>
          <p:nvPr/>
        </p:nvSpPr>
        <p:spPr>
          <a:xfrm>
            <a:off x="12344400" y="7471611"/>
            <a:ext cx="2286000" cy="75798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045976"/>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Next Steps</a:t>
            </a:r>
            <a:endParaRPr lang="en-US" sz="4450" dirty="0"/>
          </a:p>
        </p:txBody>
      </p:sp>
      <p:sp>
        <p:nvSpPr>
          <p:cNvPr id="4" name="Text 1"/>
          <p:cNvSpPr/>
          <p:nvPr/>
        </p:nvSpPr>
        <p:spPr>
          <a:xfrm>
            <a:off x="793790" y="4094917"/>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Identify learning opportunities that align with your interests and goals. Seek out mentors, resources, and communities to support your lifelong learning journey.</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TotalTime>
  <Words>708</Words>
  <Application>Microsoft Office PowerPoint</Application>
  <PresentationFormat>Custom</PresentationFormat>
  <Paragraphs>59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Lato</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Musawar Ali Shah</cp:lastModifiedBy>
  <cp:revision>4</cp:revision>
  <dcterms:created xsi:type="dcterms:W3CDTF">2025-02-25T18:13:36Z</dcterms:created>
  <dcterms:modified xsi:type="dcterms:W3CDTF">2025-02-26T12:15:19Z</dcterms:modified>
</cp:coreProperties>
</file>