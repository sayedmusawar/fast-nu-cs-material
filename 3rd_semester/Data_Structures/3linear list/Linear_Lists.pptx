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0" r:id="rId10"/>
    <p:sldId id="261" r:id="rId11"/>
    <p:sldId id="262" r:id="rId12"/>
    <p:sldId id="263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79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4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1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4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5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5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2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3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0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74E69-1052-3330-BCD4-B1FB89FBA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79" y="397275"/>
            <a:ext cx="3047998" cy="3761257"/>
          </a:xfrm>
        </p:spPr>
        <p:txBody>
          <a:bodyPr anchor="ctr">
            <a:normAutofit/>
          </a:bodyPr>
          <a:lstStyle/>
          <a:p>
            <a:r>
              <a:rPr lang="en-US" sz="3200" dirty="0" err="1"/>
              <a:t>Lec</a:t>
            </a:r>
            <a:r>
              <a:rPr lang="en-US" sz="3200" dirty="0"/>
              <a:t> 04:   </a:t>
            </a:r>
            <a:r>
              <a:rPr lang="en-US" sz="3200"/>
              <a:t>Linear-List 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54944-5DB6-4081-6396-B66C71DB8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21" y="4846029"/>
            <a:ext cx="2550597" cy="1478402"/>
          </a:xfrm>
        </p:spPr>
        <p:txBody>
          <a:bodyPr anchor="ctr">
            <a:normAutofit/>
          </a:bodyPr>
          <a:lstStyle/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1800" dirty="0">
                <a:solidFill>
                  <a:srgbClr val="0070C0"/>
                </a:solidFill>
                <a:latin typeface="Franklin Gothic Book"/>
              </a:rPr>
              <a:t>Samin Ahmed</a:t>
            </a:r>
          </a:p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1800" dirty="0">
                <a:solidFill>
                  <a:srgbClr val="0070C0"/>
                </a:solidFill>
                <a:latin typeface="Franklin Gothic Book"/>
              </a:rPr>
              <a:t>FAST-NUCES</a:t>
            </a:r>
          </a:p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1800" dirty="0">
                <a:solidFill>
                  <a:srgbClr val="0070C0"/>
                </a:solidFill>
                <a:latin typeface="Franklin Gothic Book"/>
              </a:rPr>
              <a:t>Peshawar Campus</a:t>
            </a:r>
          </a:p>
          <a:p>
            <a:endParaRPr lang="en-US" sz="1800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C940DB04-FC8E-BEC3-59BF-B7761195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2" r="9116" b="-1"/>
          <a:stretch/>
        </p:blipFill>
        <p:spPr>
          <a:xfrm>
            <a:off x="3047998" y="10"/>
            <a:ext cx="9144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4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4A45-DA5A-B17F-A254-66EC2D92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2F611-03CB-0E57-C988-D7FF63953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🔹 A </a:t>
            </a:r>
            <a:r>
              <a:rPr lang="en-US" b="1" dirty="0"/>
              <a:t>linear list</a:t>
            </a:r>
            <a:r>
              <a:rPr lang="en-US" dirty="0"/>
              <a:t> is a data structure where elements are arranged sequentially in a </a:t>
            </a:r>
            <a:r>
              <a:rPr lang="en-US" b="1" dirty="0"/>
              <a:t>linear</a:t>
            </a:r>
            <a:r>
              <a:rPr lang="en-US" dirty="0"/>
              <a:t> order.</a:t>
            </a:r>
          </a:p>
          <a:p>
            <a:r>
              <a:rPr lang="en-US" dirty="0"/>
              <a:t>🔹Data is stored in some order:</a:t>
            </a:r>
          </a:p>
          <a:p>
            <a:pPr lvl="1"/>
            <a:r>
              <a:rPr lang="en-US" dirty="0"/>
              <a:t>🔹Ascending Order</a:t>
            </a:r>
          </a:p>
          <a:p>
            <a:pPr lvl="1"/>
            <a:r>
              <a:rPr lang="en-US" dirty="0"/>
              <a:t>🔹Descending Order</a:t>
            </a:r>
          </a:p>
          <a:p>
            <a:pPr lvl="1"/>
            <a:r>
              <a:rPr lang="en-US" dirty="0"/>
              <a:t>🔹No-order but with some relationship among data items (elements or values)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🔹 In this lecture we will implement linear list using static &amp; dynamic </a:t>
            </a:r>
            <a:r>
              <a:rPr lang="en-US" b="1" dirty="0"/>
              <a:t>arrays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Array Implementation:</a:t>
            </a:r>
            <a:r>
              <a:rPr lang="en-US" dirty="0"/>
              <a:t> Stores elements in </a:t>
            </a:r>
            <a:r>
              <a:rPr lang="en-US" b="1" dirty="0"/>
              <a:t>contiguous memory locations</a:t>
            </a:r>
            <a:r>
              <a:rPr lang="en-US" dirty="0"/>
              <a:t> with </a:t>
            </a:r>
            <a:r>
              <a:rPr lang="en-US" b="1" dirty="0"/>
              <a:t>fixed size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3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71FF-C527-3672-067B-FF8466A6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Characteristics of Linear List Using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19C2-FB2C-95EB-DE70-CE2BE8AF8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Elements are stored in a </a:t>
            </a:r>
            <a:r>
              <a:rPr lang="en-US" b="1" dirty="0"/>
              <a:t>continuous</a:t>
            </a:r>
            <a:r>
              <a:rPr lang="en-US" dirty="0"/>
              <a:t> memory block.</a:t>
            </a:r>
          </a:p>
          <a:p>
            <a:br>
              <a:rPr lang="en-US" dirty="0"/>
            </a:br>
            <a:r>
              <a:rPr lang="en-US" dirty="0"/>
              <a:t>✅ Accessed using an </a:t>
            </a:r>
            <a:r>
              <a:rPr lang="en-US" b="1" dirty="0"/>
              <a:t>index (0-based or 1-based)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✅ Insertion and deletion require </a:t>
            </a:r>
            <a:r>
              <a:rPr lang="en-US" b="1" dirty="0"/>
              <a:t>shifting elements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Static allocation</a:t>
            </a:r>
            <a:r>
              <a:rPr lang="en-US" dirty="0"/>
              <a:t> – Size must be defined at the time of declaration.</a:t>
            </a:r>
          </a:p>
        </p:txBody>
      </p:sp>
    </p:spTree>
    <p:extLst>
      <p:ext uri="{BB962C8B-B14F-4D97-AF65-F5344CB8AC3E}">
        <p14:creationId xmlns:p14="http://schemas.microsoft.com/office/powerpoint/2010/main" val="19996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2FF8-8505-DF2A-BFFA-CFAE096E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Operations on Linear List Using Array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D3D8C8-FD15-97A9-6007-81B7A7D74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687591"/>
              </p:ext>
            </p:extLst>
          </p:nvPr>
        </p:nvGraphicFramePr>
        <p:xfrm>
          <a:off x="172016" y="2374683"/>
          <a:ext cx="11932467" cy="43275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77722">
                  <a:extLst>
                    <a:ext uri="{9D8B030D-6E8A-4147-A177-3AD203B41FA5}">
                      <a16:colId xmlns:a16="http://schemas.microsoft.com/office/drawing/2014/main" val="1953674532"/>
                    </a:ext>
                  </a:extLst>
                </a:gridCol>
                <a:gridCol w="9654745">
                  <a:extLst>
                    <a:ext uri="{9D8B030D-6E8A-4147-A177-3AD203B41FA5}">
                      <a16:colId xmlns:a16="http://schemas.microsoft.com/office/drawing/2014/main" val="2068698708"/>
                    </a:ext>
                  </a:extLst>
                </a:gridCol>
              </a:tblGrid>
              <a:tr h="679761">
                <a:tc>
                  <a:txBody>
                    <a:bodyPr/>
                    <a:lstStyle/>
                    <a:p>
                      <a:r>
                        <a:rPr lang="en-US" sz="2400" dirty="0"/>
                        <a:t>Operation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14844454"/>
                  </a:ext>
                </a:extLst>
              </a:tr>
              <a:tr h="679761">
                <a:tc>
                  <a:txBody>
                    <a:bodyPr/>
                    <a:lstStyle/>
                    <a:p>
                      <a:r>
                        <a:rPr lang="en-US" sz="2400" dirty="0"/>
                        <a:t>Traversal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Access each element one by one.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4266387"/>
                  </a:ext>
                </a:extLst>
              </a:tr>
              <a:tr h="928750">
                <a:tc>
                  <a:txBody>
                    <a:bodyPr/>
                    <a:lstStyle/>
                    <a:p>
                      <a:r>
                        <a:rPr lang="en-US" sz="2400" dirty="0"/>
                        <a:t>Insertion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 an element at the beginning, middle, or end  (</a:t>
                      </a:r>
                      <a:r>
                        <a:rPr lang="en-US" sz="2400" b="1" dirty="0"/>
                        <a:t>shifting required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93690167"/>
                  </a:ext>
                </a:extLst>
              </a:tr>
              <a:tr h="679761">
                <a:tc>
                  <a:txBody>
                    <a:bodyPr/>
                    <a:lstStyle/>
                    <a:p>
                      <a:r>
                        <a:rPr lang="en-US" sz="2400" dirty="0"/>
                        <a:t>Deletion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Remove an element and shift others.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05362307"/>
                  </a:ext>
                </a:extLst>
              </a:tr>
              <a:tr h="679761">
                <a:tc>
                  <a:txBody>
                    <a:bodyPr/>
                    <a:lstStyle/>
                    <a:p>
                      <a:r>
                        <a:rPr lang="en-US" sz="2400" dirty="0"/>
                        <a:t>Search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Find an element by its value. (Linear Search / Binary Search)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90042361"/>
                  </a:ext>
                </a:extLst>
              </a:tr>
              <a:tr h="679761">
                <a:tc>
                  <a:txBody>
                    <a:bodyPr/>
                    <a:lstStyle/>
                    <a:p>
                      <a:r>
                        <a:rPr lang="en-US" sz="2400" dirty="0"/>
                        <a:t>Update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Modify an existing element.</a:t>
                      </a:r>
                    </a:p>
                  </a:txBody>
                  <a:tcPr>
                    <a:cell3D prstMaterial="dkEdge">
                      <a:bevel w="50800" prst="hardEdg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4675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43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9DC7-D829-4546-2852-8C299D45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pic>
        <p:nvPicPr>
          <p:cNvPr id="4" name="Picture 2" descr="Tech Interview CheatSheet - Lists, Search &amp; Sort">
            <a:extLst>
              <a:ext uri="{FF2B5EF4-FFF2-40B4-BE49-F238E27FC236}">
                <a16:creationId xmlns:a16="http://schemas.microsoft.com/office/drawing/2014/main" id="{B427507F-2084-4F3F-8143-491CDAAF7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743" y="2740025"/>
            <a:ext cx="57150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5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FF00-F4BF-DFFE-C578-307F07E3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</a:t>
            </a:r>
          </a:p>
        </p:txBody>
      </p:sp>
      <p:pic>
        <p:nvPicPr>
          <p:cNvPr id="3074" name="Picture 2" descr="Data structures from scratch— Part 1: Lists I | by Alejandro PS | Analytics  Vidhya | Medium">
            <a:extLst>
              <a:ext uri="{FF2B5EF4-FFF2-40B4-BE49-F238E27FC236}">
                <a16:creationId xmlns:a16="http://schemas.microsoft.com/office/drawing/2014/main" id="{40C7A4F0-6EBB-A2E9-6661-0195D1DAF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24" y="2395741"/>
            <a:ext cx="6684118" cy="4210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94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D64C-3758-65A0-DFF2-9A4E9E15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pic>
        <p:nvPicPr>
          <p:cNvPr id="5122" name="Picture 2" descr="Linear Search Algorithm">
            <a:extLst>
              <a:ext uri="{FF2B5EF4-FFF2-40B4-BE49-F238E27FC236}">
                <a16:creationId xmlns:a16="http://schemas.microsoft.com/office/drawing/2014/main" id="{1BDFA9F2-2823-2817-4486-CB9715E2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114" y="2571749"/>
            <a:ext cx="6712085" cy="319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39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F782-F5FE-E584-5699-27CE35B5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 Binary Search</a:t>
            </a:r>
          </a:p>
        </p:txBody>
      </p:sp>
      <p:pic>
        <p:nvPicPr>
          <p:cNvPr id="6150" name="Picture 6" descr="JavaScript Algorithms: What Is Binary Search, A Detailed Step-By-Step, And  Example Code | by Jeff Lewis | Medium">
            <a:extLst>
              <a:ext uri="{FF2B5EF4-FFF2-40B4-BE49-F238E27FC236}">
                <a16:creationId xmlns:a16="http://schemas.microsoft.com/office/drawing/2014/main" id="{306867F3-1EBC-6998-ADFB-29EFBB917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54" y="2393004"/>
            <a:ext cx="9418052" cy="42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57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DF79-932C-1173-28AA-18B6E22D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Operations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292C4-09AB-9D4D-2855-A1D57E70B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538485"/>
              </p:ext>
            </p:extLst>
          </p:nvPr>
        </p:nvGraphicFramePr>
        <p:xfrm>
          <a:off x="121717" y="2358343"/>
          <a:ext cx="11991820" cy="37680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97954">
                  <a:extLst>
                    <a:ext uri="{9D8B030D-6E8A-4147-A177-3AD203B41FA5}">
                      <a16:colId xmlns:a16="http://schemas.microsoft.com/office/drawing/2014/main" val="1640342996"/>
                    </a:ext>
                  </a:extLst>
                </a:gridCol>
                <a:gridCol w="1542864">
                  <a:extLst>
                    <a:ext uri="{9D8B030D-6E8A-4147-A177-3AD203B41FA5}">
                      <a16:colId xmlns:a16="http://schemas.microsoft.com/office/drawing/2014/main" val="1860535670"/>
                    </a:ext>
                  </a:extLst>
                </a:gridCol>
                <a:gridCol w="1702051">
                  <a:extLst>
                    <a:ext uri="{9D8B030D-6E8A-4147-A177-3AD203B41FA5}">
                      <a16:colId xmlns:a16="http://schemas.microsoft.com/office/drawing/2014/main" val="3118324684"/>
                    </a:ext>
                  </a:extLst>
                </a:gridCol>
                <a:gridCol w="5748951">
                  <a:extLst>
                    <a:ext uri="{9D8B030D-6E8A-4147-A177-3AD203B41FA5}">
                      <a16:colId xmlns:a16="http://schemas.microsoft.com/office/drawing/2014/main" val="1211028672"/>
                    </a:ext>
                  </a:extLst>
                </a:gridCol>
              </a:tblGrid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36194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Access (indexing)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 access using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547976"/>
                  </a:ext>
                </a:extLst>
              </a:tr>
              <a:tr h="4539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Visiting each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889599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Insertion at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shifting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25058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Insertion at 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Shifting all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175617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Insertion at 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Shifting half the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291048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Deletion at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shifting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537667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Deletion at 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Shifting all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748580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Deletion at 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Shifting half the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653660"/>
                  </a:ext>
                </a:extLst>
              </a:tr>
              <a:tr h="368231">
                <a:tc>
                  <a:txBody>
                    <a:bodyPr/>
                    <a:lstStyle/>
                    <a:p>
                      <a:r>
                        <a:rPr lang="en-US" dirty="0"/>
                        <a:t>Search (Linear 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case: first element, Worst case: last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3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09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367F1-AA23-BA52-5956-F5B25EC7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Using Arrays for Linear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28946-9381-111E-4B56-C6A1639E0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Fast Access (O(1))</a:t>
            </a:r>
            <a:r>
              <a:rPr lang="en-US" dirty="0"/>
              <a:t>: Direct access using index.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Cache Friendly</a:t>
            </a:r>
            <a:r>
              <a:rPr lang="en-US" dirty="0"/>
              <a:t>: Stored in contiguous memory, improving speed.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Simple Implementation</a:t>
            </a:r>
            <a:r>
              <a:rPr lang="en-US" dirty="0"/>
              <a:t>: Easy to declare and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2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FCD8-EC90-B963-E2E7-6A4235CA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Disadvantages of Using Arrays for Linear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BE2B-F892-8DED-7984-7BFAFE1D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❌ </a:t>
            </a:r>
            <a:r>
              <a:rPr lang="en-US" b="1" dirty="0"/>
              <a:t>Fixed Size</a:t>
            </a:r>
            <a:r>
              <a:rPr lang="en-US" dirty="0"/>
              <a:t>: Cannot dynamically grow or shrink.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Insertion &amp; Deletion are Costly</a:t>
            </a:r>
            <a:r>
              <a:rPr lang="en-US" dirty="0"/>
              <a:t>: Requires shifting elements.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Wasted Memory</a:t>
            </a:r>
            <a:r>
              <a:rPr lang="en-US" dirty="0"/>
              <a:t>: If the array size is overestimated, it leads to unused space.</a:t>
            </a:r>
          </a:p>
        </p:txBody>
      </p:sp>
    </p:spTree>
    <p:extLst>
      <p:ext uri="{BB962C8B-B14F-4D97-AF65-F5344CB8AC3E}">
        <p14:creationId xmlns:p14="http://schemas.microsoft.com/office/powerpoint/2010/main" val="193247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2149-90CA-E63C-E6B3-940763CC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547FD-13FA-BF5B-E816-34246DE6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🔹 Arrays are </a:t>
            </a:r>
            <a:r>
              <a:rPr lang="en-US" b="1" dirty="0"/>
              <a:t>efficient</a:t>
            </a:r>
            <a:r>
              <a:rPr lang="en-US" dirty="0"/>
              <a:t> for random access but </a:t>
            </a:r>
            <a:r>
              <a:rPr lang="en-US" b="1" dirty="0"/>
              <a:t>inefficient</a:t>
            </a:r>
            <a:r>
              <a:rPr lang="en-US" dirty="0"/>
              <a:t> for insertion/deletion.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🔹 Suitable for </a:t>
            </a:r>
            <a:r>
              <a:rPr lang="en-US" b="1" dirty="0"/>
              <a:t>fixed-size</a:t>
            </a:r>
            <a:r>
              <a:rPr lang="en-US" dirty="0"/>
              <a:t> collections where access speed is crucial.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🔹 Linked lists are better for </a:t>
            </a:r>
            <a:r>
              <a:rPr lang="en-US" b="1" dirty="0"/>
              <a:t>dynamic data</a:t>
            </a:r>
            <a:r>
              <a:rPr lang="en-US" dirty="0"/>
              <a:t> with frequent insertions/deletion as compared to linear lists.</a:t>
            </a:r>
          </a:p>
        </p:txBody>
      </p:sp>
    </p:spTree>
    <p:extLst>
      <p:ext uri="{BB962C8B-B14F-4D97-AF65-F5344CB8AC3E}">
        <p14:creationId xmlns:p14="http://schemas.microsoft.com/office/powerpoint/2010/main" val="142925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0584-6558-1651-7E96-EF323815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Problem Statement: Smart Shopping Cart System</a:t>
            </a:r>
            <a:r>
              <a:rPr lang="en-US" dirty="0"/>
              <a:t> 🛒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60CC-AD7B-5E62-7AA1-902122E78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350176"/>
            <a:ext cx="10869248" cy="3600450"/>
          </a:xfrm>
        </p:spPr>
        <p:txBody>
          <a:bodyPr/>
          <a:lstStyle/>
          <a:p>
            <a:r>
              <a:rPr lang="en-US" dirty="0"/>
              <a:t>In an online </a:t>
            </a:r>
            <a:r>
              <a:rPr lang="en-US" b="1" dirty="0"/>
              <a:t>e-commerce platform</a:t>
            </a:r>
            <a:r>
              <a:rPr lang="en-US" dirty="0"/>
              <a:t>, customers can add items to their shopping cart before proceeding to checkout. Each </a:t>
            </a:r>
            <a:r>
              <a:rPr lang="en-US" b="1" dirty="0"/>
              <a:t>product</a:t>
            </a:r>
            <a:r>
              <a:rPr lang="en-US" dirty="0"/>
              <a:t> has a unique </a:t>
            </a:r>
            <a:r>
              <a:rPr lang="en-US" b="1" dirty="0"/>
              <a:t>Item ID (1-10)</a:t>
            </a:r>
            <a:r>
              <a:rPr lang="en-US" dirty="0"/>
              <a:t> and a variable </a:t>
            </a:r>
            <a:r>
              <a:rPr lang="en-US" b="1" dirty="0"/>
              <a:t>quantity</a:t>
            </a:r>
            <a:r>
              <a:rPr lang="en-US" dirty="0"/>
              <a:t> depending on how many times the customer adds or removes it from the cart.</a:t>
            </a:r>
          </a:p>
          <a:p>
            <a:r>
              <a:rPr lang="en-US" dirty="0"/>
              <a:t>Your task is to develop a </a:t>
            </a:r>
            <a:r>
              <a:rPr lang="en-US" b="1" dirty="0"/>
              <a:t>Smart Shopping Cart System</a:t>
            </a:r>
            <a:r>
              <a:rPr lang="en-US" dirty="0"/>
              <a:t> that dynamically tracks the number of items in a customer’s cart. The system should use a </a:t>
            </a:r>
            <a:r>
              <a:rPr lang="en-US" b="1" dirty="0"/>
              <a:t>2D array</a:t>
            </a:r>
            <a:r>
              <a:rPr lang="en-US" dirty="0"/>
              <a:t>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Each row represents a product</a:t>
            </a:r>
            <a:r>
              <a:rPr lang="en-US" dirty="0"/>
              <a:t> in the cart.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Column 0</a:t>
            </a:r>
            <a:r>
              <a:rPr lang="en-US" dirty="0"/>
              <a:t> stores the </a:t>
            </a:r>
            <a:r>
              <a:rPr lang="en-US" b="1" dirty="0"/>
              <a:t>Item ID</a:t>
            </a:r>
            <a:r>
              <a:rPr lang="en-US" dirty="0"/>
              <a:t> (1 to 10).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Column 1</a:t>
            </a:r>
            <a:r>
              <a:rPr lang="en-US" dirty="0"/>
              <a:t> stores the </a:t>
            </a:r>
            <a:r>
              <a:rPr lang="en-US" b="1" dirty="0"/>
              <a:t>quantity</a:t>
            </a:r>
            <a:r>
              <a:rPr lang="en-US" dirty="0"/>
              <a:t> of that item in the cart.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9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1CDC-E412-F513-39EA-A249C2B2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25544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Functional Requirements: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F043-2B2F-48E0-0782-8E11507A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362954"/>
            <a:ext cx="10869248" cy="42913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1️⃣ </a:t>
            </a:r>
            <a:r>
              <a:rPr lang="en-US" b="1" dirty="0"/>
              <a:t>Add an Item: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customer can </a:t>
            </a:r>
            <a:r>
              <a:rPr lang="en-US" b="1" dirty="0"/>
              <a:t>add</a:t>
            </a:r>
            <a:r>
              <a:rPr lang="en-US" dirty="0"/>
              <a:t> an item to the cart.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item already exists, its </a:t>
            </a:r>
            <a:r>
              <a:rPr lang="en-US" b="1" dirty="0"/>
              <a:t>quantity increases</a:t>
            </a:r>
            <a:r>
              <a:rPr lang="en-US" dirty="0"/>
              <a:t> by 1.</a:t>
            </a:r>
          </a:p>
          <a:p>
            <a:r>
              <a:rPr lang="en-US" dirty="0"/>
              <a:t>2️⃣ </a:t>
            </a:r>
            <a:r>
              <a:rPr lang="en-US" b="1" dirty="0"/>
              <a:t>Remove an Item: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customer can </a:t>
            </a:r>
            <a:r>
              <a:rPr lang="en-US" b="1" dirty="0"/>
              <a:t>remove</a:t>
            </a:r>
            <a:r>
              <a:rPr lang="en-US" dirty="0"/>
              <a:t> an item.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quantity becomes </a:t>
            </a:r>
            <a:r>
              <a:rPr lang="en-US" b="1" dirty="0"/>
              <a:t>0</a:t>
            </a:r>
            <a:r>
              <a:rPr lang="en-US" dirty="0"/>
              <a:t>, the item is </a:t>
            </a:r>
            <a:r>
              <a:rPr lang="en-US" b="1" dirty="0"/>
              <a:t>removed</a:t>
            </a:r>
            <a:r>
              <a:rPr lang="en-US" dirty="0"/>
              <a:t> from the cart.</a:t>
            </a:r>
          </a:p>
          <a:p>
            <a:r>
              <a:rPr lang="en-US" dirty="0"/>
              <a:t>3️⃣ </a:t>
            </a:r>
            <a:r>
              <a:rPr lang="en-US" b="1" dirty="0"/>
              <a:t>View the Cart: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all items in the cart along with their quantities.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cart is empty, notify the user.</a:t>
            </a:r>
          </a:p>
          <a:p>
            <a:r>
              <a:rPr lang="en-US" dirty="0"/>
              <a:t>4️⃣ </a:t>
            </a:r>
            <a:r>
              <a:rPr lang="en-US" b="1" dirty="0"/>
              <a:t>Exit the Program: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should continue running until the user chooses to exit.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5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0640-80D7-C343-27CD-84951485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Scenario: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2AA0-F146-C377-FF82-7184A5B9F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78" y="2232701"/>
            <a:ext cx="4823136" cy="4050624"/>
          </a:xfrm>
        </p:spPr>
        <p:txBody>
          <a:bodyPr>
            <a:noAutofit/>
          </a:bodyPr>
          <a:lstStyle/>
          <a:p>
            <a:r>
              <a:rPr lang="en-US" sz="1300" dirty="0"/>
              <a:t>Welcome to the Smart Shopping Cart System!  </a:t>
            </a:r>
          </a:p>
          <a:p>
            <a:r>
              <a:rPr lang="en-US" sz="1300" dirty="0"/>
              <a:t>1. Add Item  </a:t>
            </a:r>
          </a:p>
          <a:p>
            <a:r>
              <a:rPr lang="en-US" sz="1300" dirty="0"/>
              <a:t>2. Remove Item  </a:t>
            </a:r>
          </a:p>
          <a:p>
            <a:r>
              <a:rPr lang="en-US" sz="1300" dirty="0"/>
              <a:t>3. View Cart  </a:t>
            </a:r>
          </a:p>
          <a:p>
            <a:r>
              <a:rPr lang="en-US" sz="1300" dirty="0"/>
              <a:t>4. Exit  </a:t>
            </a:r>
          </a:p>
          <a:p>
            <a:endParaRPr lang="en-US" sz="1300" dirty="0"/>
          </a:p>
          <a:p>
            <a:r>
              <a:rPr lang="en-US" sz="1300" dirty="0"/>
              <a:t>Enter your choice: 1  </a:t>
            </a:r>
          </a:p>
          <a:p>
            <a:r>
              <a:rPr lang="en-US" sz="1300" dirty="0"/>
              <a:t>Enter Item ID (1-10): 5  </a:t>
            </a:r>
          </a:p>
          <a:p>
            <a:r>
              <a:rPr lang="en-US" sz="1300" dirty="0"/>
              <a:t>Item 5 added!  </a:t>
            </a:r>
          </a:p>
          <a:p>
            <a:endParaRPr lang="en-US" sz="1300" dirty="0"/>
          </a:p>
          <a:p>
            <a:r>
              <a:rPr lang="en-US" sz="1300" dirty="0"/>
              <a:t>Enter your choice: 1  </a:t>
            </a:r>
          </a:p>
          <a:p>
            <a:r>
              <a:rPr lang="en-US" sz="1300" dirty="0"/>
              <a:t>Enter Item ID (1-10): 5  </a:t>
            </a:r>
          </a:p>
          <a:p>
            <a:r>
              <a:rPr lang="en-US" sz="1300" dirty="0"/>
              <a:t>Item 5 added!  </a:t>
            </a:r>
          </a:p>
          <a:p>
            <a:endParaRPr lang="en-US" sz="1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1A0A94-CC54-3B8B-8E9B-D0C91B637C44}"/>
              </a:ext>
            </a:extLst>
          </p:cNvPr>
          <p:cNvSpPr txBox="1">
            <a:spLocks/>
          </p:cNvSpPr>
          <p:nvPr/>
        </p:nvSpPr>
        <p:spPr>
          <a:xfrm>
            <a:off x="6096000" y="2442251"/>
            <a:ext cx="4046899" cy="40506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Enter your choice: 3  </a:t>
            </a:r>
          </a:p>
          <a:p>
            <a:r>
              <a:rPr lang="en-US" dirty="0"/>
              <a:t>Current Cart:  </a:t>
            </a:r>
          </a:p>
          <a:p>
            <a:r>
              <a:rPr lang="en-US" dirty="0"/>
              <a:t>Item 5 → Quantity: 2  </a:t>
            </a:r>
          </a:p>
          <a:p>
            <a:endParaRPr lang="en-US" dirty="0"/>
          </a:p>
          <a:p>
            <a:r>
              <a:rPr lang="en-US" dirty="0"/>
              <a:t>Enter your choice: 2  </a:t>
            </a:r>
          </a:p>
          <a:p>
            <a:r>
              <a:rPr lang="en-US" dirty="0"/>
              <a:t>Enter Item ID (1-10): 5  </a:t>
            </a:r>
          </a:p>
          <a:p>
            <a:r>
              <a:rPr lang="en-US" dirty="0"/>
              <a:t>Item 5 removed!  </a:t>
            </a:r>
          </a:p>
          <a:p>
            <a:endParaRPr lang="en-US" dirty="0"/>
          </a:p>
          <a:p>
            <a:r>
              <a:rPr lang="en-US" dirty="0"/>
              <a:t>Enter your choice: 3  </a:t>
            </a:r>
          </a:p>
          <a:p>
            <a:r>
              <a:rPr lang="en-US" dirty="0"/>
              <a:t>Current Cart:  </a:t>
            </a:r>
          </a:p>
          <a:p>
            <a:r>
              <a:rPr lang="en-US" dirty="0"/>
              <a:t>Item 5 → Quantity: 1 </a:t>
            </a:r>
          </a:p>
        </p:txBody>
      </p:sp>
    </p:spTree>
    <p:extLst>
      <p:ext uri="{BB962C8B-B14F-4D97-AF65-F5344CB8AC3E}">
        <p14:creationId xmlns:p14="http://schemas.microsoft.com/office/powerpoint/2010/main" val="4110143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CF21-6CC2-FFF6-C5D5-0C02B8CC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Constraints: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2D3A-2B63-8B3B-5594-DEE450BE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The system should only allow </a:t>
            </a:r>
            <a:r>
              <a:rPr lang="en-US" b="1" dirty="0"/>
              <a:t>Item IDs between 1 and 10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✔ The </a:t>
            </a:r>
            <a:r>
              <a:rPr lang="en-US" b="1" dirty="0"/>
              <a:t>minimum quantity</a:t>
            </a:r>
            <a:r>
              <a:rPr lang="en-US" dirty="0"/>
              <a:t> of an item should be </a:t>
            </a:r>
            <a:r>
              <a:rPr lang="en-US" b="1" dirty="0"/>
              <a:t>0</a:t>
            </a:r>
            <a:r>
              <a:rPr lang="en-US" dirty="0"/>
              <a:t> (it should be removed when reaching 0).</a:t>
            </a:r>
            <a:br>
              <a:rPr lang="en-US" dirty="0"/>
            </a:br>
            <a:r>
              <a:rPr lang="en-US" dirty="0"/>
              <a:t>✔ The system should run until the user chooses to </a:t>
            </a:r>
            <a:r>
              <a:rPr lang="en-US" b="1" dirty="0"/>
              <a:t>exit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97026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Override1.xml><?xml version="1.0" encoding="utf-8"?>
<a:themeOverride xmlns:a="http://schemas.openxmlformats.org/drawingml/2006/main">
  <a:clrScheme name="AnalogousFromDarkSeedLeftStep">
    <a:dk1>
      <a:srgbClr val="000000"/>
    </a:dk1>
    <a:lt1>
      <a:srgbClr val="FFFFFF"/>
    </a:lt1>
    <a:dk2>
      <a:srgbClr val="1B2830"/>
    </a:dk2>
    <a:lt2>
      <a:srgbClr val="F1F3F0"/>
    </a:lt2>
    <a:accent1>
      <a:srgbClr val="A629E7"/>
    </a:accent1>
    <a:accent2>
      <a:srgbClr val="592FD9"/>
    </a:accent2>
    <a:accent3>
      <a:srgbClr val="294AE7"/>
    </a:accent3>
    <a:accent4>
      <a:srgbClr val="1787D5"/>
    </a:accent4>
    <a:accent5>
      <a:srgbClr val="22BFBE"/>
    </a:accent5>
    <a:accent6>
      <a:srgbClr val="16C67B"/>
    </a:accent6>
    <a:hlink>
      <a:srgbClr val="3897A9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873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Bahnschrift</vt:lpstr>
      <vt:lpstr>Franklin Gothic Book</vt:lpstr>
      <vt:lpstr>MatrixVTI</vt:lpstr>
      <vt:lpstr>Lec 04:   Linear-List  </vt:lpstr>
      <vt:lpstr>Linear List</vt:lpstr>
      <vt:lpstr>Characteristics of Linear List Using Array</vt:lpstr>
      <vt:lpstr>Common Operations on Linear List Using Array</vt:lpstr>
      <vt:lpstr>Insertion</vt:lpstr>
      <vt:lpstr>Deletion</vt:lpstr>
      <vt:lpstr>Linear Search</vt:lpstr>
      <vt:lpstr>Linear vs Binary Search</vt:lpstr>
      <vt:lpstr>Time Complexity of Operations</vt:lpstr>
      <vt:lpstr>Advantages of Using Arrays for Linear List</vt:lpstr>
      <vt:lpstr>Disadvantages of Using Arrays for Linear List</vt:lpstr>
      <vt:lpstr>Conclusion</vt:lpstr>
      <vt:lpstr>Problem Statement: Smart Shopping Cart System 🛒</vt:lpstr>
      <vt:lpstr>Functional Requirements: </vt:lpstr>
      <vt:lpstr>Example Scenario:</vt:lpstr>
      <vt:lpstr>Constraints: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20</cp:revision>
  <dcterms:created xsi:type="dcterms:W3CDTF">2025-02-03T05:11:15Z</dcterms:created>
  <dcterms:modified xsi:type="dcterms:W3CDTF">2025-08-26T13:56:00Z</dcterms:modified>
</cp:coreProperties>
</file>