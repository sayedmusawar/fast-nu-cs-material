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4438BBA-E9C7-4625-8C9D-0FA23CC0CACF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2/21/2025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29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2/21/2025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233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2/21/2025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713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2/21/2025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056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2/21/2025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7353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2/21/2025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5824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2/21/2025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404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2/21/2025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704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2/21/2025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311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2/21/2025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981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2/21/2025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909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2/21/2025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0086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05" r:id="rId6"/>
    <p:sldLayoutId id="2147483701" r:id="rId7"/>
    <p:sldLayoutId id="2147483702" r:id="rId8"/>
    <p:sldLayoutId id="2147483703" r:id="rId9"/>
    <p:sldLayoutId id="2147483704" r:id="rId10"/>
    <p:sldLayoutId id="214748370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6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482F060-A4AF-4E0B-B364-7C6BA4AE9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6220" y="0"/>
            <a:ext cx="4641315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6BA2B1-0F25-B687-E177-A380FBC174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814" y="640080"/>
            <a:ext cx="3659246" cy="2850319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FFFFFF"/>
                </a:solidFill>
              </a:rPr>
              <a:t>One-Way Linked Lists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B8D9A1-F8C8-739C-DD34-7FF65E50AE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814" y="3812134"/>
            <a:ext cx="3659246" cy="2349823"/>
          </a:xfrm>
        </p:spPr>
        <p:txBody>
          <a:bodyPr>
            <a:normAutofit/>
          </a:bodyPr>
          <a:lstStyle/>
          <a:p>
            <a:r>
              <a:rPr lang="en-US" sz="1400" dirty="0"/>
              <a:t>Definition, Implementation, and Applications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9EB6DAA-2F0C-43D5-A577-15D5D2C4E3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2797" y="3651268"/>
            <a:ext cx="338328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Picture 42" descr="Triangular abstract background">
            <a:extLst>
              <a:ext uri="{FF2B5EF4-FFF2-40B4-BE49-F238E27FC236}">
                <a16:creationId xmlns:a16="http://schemas.microsoft.com/office/drawing/2014/main" id="{91E9BD39-8321-EE11-8FC2-FBA27D6F51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842" r="16604" b="-1"/>
          <a:stretch/>
        </p:blipFill>
        <p:spPr>
          <a:xfrm>
            <a:off x="4635095" y="10"/>
            <a:ext cx="7556889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790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FF0D1-3F5C-4852-75C8-C10D39C80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 to Linked Lists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4A3D3-6C44-8D19-F66F-E416974157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linked list</a:t>
            </a:r>
            <a:r>
              <a:rPr lang="en-US" dirty="0"/>
              <a:t> is a linear data structure where elements are stored in nodes, each pointing to the next.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Unlike arrays, linked lists allow </a:t>
            </a:r>
            <a:r>
              <a:rPr lang="en-US" b="1" dirty="0"/>
              <a:t>dynamic memory allocation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Types: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Singly Linked List</a:t>
            </a:r>
            <a:r>
              <a:rPr lang="en-US" dirty="0"/>
              <a:t> (One-Way)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Doubly Linked List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Circular Linked List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25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A3C24-55EE-B6B6-40DE-875B5E4FC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Advantages of Linked Lists Over Arrays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3E7538-B970-CD74-CC33-2D9AFA1618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Dynamic size allocation</a:t>
            </a:r>
            <a:r>
              <a:rPr lang="en-US" dirty="0"/>
              <a:t> (no need for pre-defined size like arrays).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Efficient insertions/deletions</a:t>
            </a:r>
            <a:r>
              <a:rPr lang="en-US" dirty="0"/>
              <a:t> (no shifting of elements required).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Memory-efficient for large datasets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Used in applications like graphs, stacks, and queues.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452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A05B8-769C-0244-B8C7-182CEDE89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Complexity Analysis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5E439-0645-BE79-48B3-42B07C2690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Insertion at the beginning:</a:t>
            </a:r>
            <a:r>
              <a:rPr lang="en-US" dirty="0"/>
              <a:t> O(1)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Insertion at the end:</a:t>
            </a:r>
            <a:r>
              <a:rPr lang="en-US" dirty="0"/>
              <a:t> O(n) (without tail), O(1) (with tail)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Insertion after a specific value:</a:t>
            </a:r>
            <a:r>
              <a:rPr lang="en-US" dirty="0"/>
              <a:t> O(n)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Deletion by value:</a:t>
            </a:r>
            <a:r>
              <a:rPr lang="en-US" dirty="0"/>
              <a:t> O(n)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Search:</a:t>
            </a:r>
            <a:r>
              <a:rPr lang="en-US" dirty="0"/>
              <a:t> O(n)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Reversal:</a:t>
            </a:r>
            <a:r>
              <a:rPr lang="en-US" dirty="0"/>
              <a:t> O(n)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2624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B4212-6786-1F0F-C53C-6A2C26644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Node Structure in C++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DA8F8-03E8-8823-2AA7-DE3F0D11B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Node{</a:t>
            </a:r>
          </a:p>
          <a:p>
            <a:r>
              <a:rPr lang="en-US" dirty="0"/>
              <a:t>public:    int data;    Node* next;    </a:t>
            </a:r>
          </a:p>
          <a:p>
            <a:r>
              <a:rPr lang="en-US" dirty="0"/>
              <a:t>Node(int </a:t>
            </a:r>
            <a:r>
              <a:rPr lang="en-US" dirty="0" err="1"/>
              <a:t>val</a:t>
            </a:r>
            <a:r>
              <a:rPr lang="en-US" dirty="0"/>
              <a:t>=0):data(</a:t>
            </a:r>
            <a:r>
              <a:rPr lang="en-US" dirty="0" err="1"/>
              <a:t>val</a:t>
            </a:r>
            <a:r>
              <a:rPr lang="en-US" dirty="0"/>
              <a:t>),next(</a:t>
            </a:r>
            <a:r>
              <a:rPr lang="en-US" dirty="0" err="1"/>
              <a:t>nullptr</a:t>
            </a:r>
            <a:r>
              <a:rPr lang="en-US" dirty="0"/>
              <a:t>) {   }</a:t>
            </a:r>
          </a:p>
          <a:p>
            <a:r>
              <a:rPr lang="en-US" dirty="0"/>
              <a:t>};</a:t>
            </a:r>
          </a:p>
          <a:p>
            <a:r>
              <a:rPr lang="en-US" dirty="0"/>
              <a:t>Each Node contains:</a:t>
            </a:r>
          </a:p>
          <a:p>
            <a:pPr lvl="1"/>
            <a:r>
              <a:rPr lang="en-US" dirty="0"/>
              <a:t>Data (stores the value)</a:t>
            </a:r>
          </a:p>
          <a:p>
            <a:pPr lvl="1"/>
            <a:r>
              <a:rPr lang="en-US" dirty="0"/>
              <a:t>Pointer (next) (stores the address of the next node)</a:t>
            </a:r>
          </a:p>
        </p:txBody>
      </p:sp>
    </p:spTree>
    <p:extLst>
      <p:ext uri="{BB962C8B-B14F-4D97-AF65-F5344CB8AC3E}">
        <p14:creationId xmlns:p14="http://schemas.microsoft.com/office/powerpoint/2010/main" val="1614646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83ADE-4E93-045E-E1C2-304A40D57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 fontScale="90000"/>
          </a:bodyPr>
          <a:lstStyle/>
          <a:p>
            <a:r>
              <a:rPr lang="en-US" b="1" dirty="0"/>
              <a:t>One-Way Linked List Implementation (Without Tail)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32E4F-A7BD-7785-A0E8-87C128138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872811"/>
            <a:ext cx="10058400" cy="4446508"/>
          </a:xfrm>
        </p:spPr>
        <p:txBody>
          <a:bodyPr>
            <a:normAutofit/>
          </a:bodyPr>
          <a:lstStyle/>
          <a:p>
            <a:r>
              <a:rPr lang="en-US" dirty="0"/>
              <a:t>void </a:t>
            </a:r>
            <a:r>
              <a:rPr lang="en-US" dirty="0" err="1"/>
              <a:t>insertionAtBeginning</a:t>
            </a:r>
            <a:r>
              <a:rPr lang="en-US" dirty="0"/>
              <a:t>( ){    </a:t>
            </a:r>
          </a:p>
          <a:p>
            <a:r>
              <a:rPr lang="en-US" dirty="0"/>
              <a:t>cout &lt;&lt; "\n Enter value: "; cin &gt;&gt; </a:t>
            </a:r>
            <a:r>
              <a:rPr lang="en-US" dirty="0" err="1"/>
              <a:t>val</a:t>
            </a:r>
            <a:r>
              <a:rPr lang="en-US" dirty="0"/>
              <a:t>;    </a:t>
            </a:r>
          </a:p>
          <a:p>
            <a:r>
              <a:rPr lang="en-US" dirty="0"/>
              <a:t>Node* </a:t>
            </a:r>
            <a:r>
              <a:rPr lang="en-US" dirty="0" err="1"/>
              <a:t>newNode</a:t>
            </a:r>
            <a:r>
              <a:rPr lang="en-US" dirty="0"/>
              <a:t> = new Node(</a:t>
            </a:r>
            <a:r>
              <a:rPr lang="en-US" dirty="0" err="1"/>
              <a:t>val</a:t>
            </a:r>
            <a:r>
              <a:rPr lang="en-US" dirty="0"/>
              <a:t>);   </a:t>
            </a:r>
          </a:p>
          <a:p>
            <a:r>
              <a:rPr lang="en-US" dirty="0"/>
              <a:t> </a:t>
            </a:r>
            <a:r>
              <a:rPr lang="en-US" dirty="0" err="1"/>
              <a:t>newNode</a:t>
            </a:r>
            <a:r>
              <a:rPr lang="en-US" dirty="0"/>
              <a:t>-&gt;next = head;    </a:t>
            </a:r>
          </a:p>
          <a:p>
            <a:r>
              <a:rPr lang="en-US" dirty="0"/>
              <a:t>head = </a:t>
            </a:r>
            <a:r>
              <a:rPr lang="en-US" dirty="0" err="1"/>
              <a:t>newNode</a:t>
            </a:r>
            <a:r>
              <a:rPr lang="en-US" dirty="0"/>
              <a:t>;</a:t>
            </a:r>
          </a:p>
          <a:p>
            <a:r>
              <a:rPr lang="en-US" dirty="0"/>
              <a:t>}</a:t>
            </a:r>
          </a:p>
          <a:p>
            <a:r>
              <a:rPr lang="en-US" b="1" dirty="0"/>
              <a:t>Insertion at Beginning:</a:t>
            </a:r>
          </a:p>
          <a:p>
            <a:pPr lvl="1"/>
            <a:r>
              <a:rPr lang="en-US" dirty="0"/>
              <a:t>Adds a new node at the start, updating the head.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743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5C63D-9223-7547-B2C4-0F40906EF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Insertion at End (Without Tail)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DDD29-8AD3-5F0A-FDDB-CAA4F7059F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963346"/>
            <a:ext cx="5352107" cy="376089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void </a:t>
            </a:r>
            <a:r>
              <a:rPr lang="en-US" dirty="0" err="1"/>
              <a:t>insertionAtEnd</a:t>
            </a:r>
            <a:r>
              <a:rPr lang="en-US" dirty="0"/>
              <a:t>( ) {    </a:t>
            </a:r>
          </a:p>
          <a:p>
            <a:r>
              <a:rPr lang="en-US" dirty="0"/>
              <a:t>cout &lt;&lt; "\n Enter value: "; cin &gt;&gt; </a:t>
            </a:r>
            <a:r>
              <a:rPr lang="en-US" dirty="0" err="1"/>
              <a:t>val</a:t>
            </a:r>
            <a:r>
              <a:rPr lang="en-US" dirty="0"/>
              <a:t>;    </a:t>
            </a:r>
          </a:p>
          <a:p>
            <a:r>
              <a:rPr lang="en-US" dirty="0"/>
              <a:t>Node* </a:t>
            </a:r>
            <a:r>
              <a:rPr lang="en-US" dirty="0" err="1"/>
              <a:t>newNode</a:t>
            </a:r>
            <a:r>
              <a:rPr lang="en-US" dirty="0"/>
              <a:t> = new Node(</a:t>
            </a:r>
            <a:r>
              <a:rPr lang="en-US" dirty="0" err="1"/>
              <a:t>val</a:t>
            </a:r>
            <a:r>
              <a:rPr lang="en-US" dirty="0"/>
              <a:t>);    </a:t>
            </a:r>
          </a:p>
          <a:p>
            <a:r>
              <a:rPr lang="en-US" dirty="0"/>
              <a:t>if (!head) {        head = </a:t>
            </a:r>
            <a:r>
              <a:rPr lang="en-US" dirty="0" err="1"/>
              <a:t>newNode</a:t>
            </a:r>
            <a:r>
              <a:rPr lang="en-US" dirty="0"/>
              <a:t>;        return;    }   </a:t>
            </a:r>
          </a:p>
          <a:p>
            <a:r>
              <a:rPr lang="en-US" dirty="0"/>
              <a:t> Node* temp = head;    </a:t>
            </a:r>
          </a:p>
          <a:p>
            <a:r>
              <a:rPr lang="en-US" dirty="0"/>
              <a:t>while (temp-&gt;next != </a:t>
            </a:r>
            <a:r>
              <a:rPr lang="en-US" dirty="0" err="1"/>
              <a:t>nullptr</a:t>
            </a:r>
            <a:r>
              <a:rPr lang="en-US" dirty="0"/>
              <a:t>) </a:t>
            </a:r>
          </a:p>
          <a:p>
            <a:r>
              <a:rPr lang="en-US" dirty="0"/>
              <a:t>temp = temp-&gt;next;    temp-&gt;next = </a:t>
            </a:r>
            <a:r>
              <a:rPr lang="en-US" dirty="0" err="1"/>
              <a:t>newNode</a:t>
            </a:r>
            <a:r>
              <a:rPr lang="en-US" dirty="0"/>
              <a:t>;</a:t>
            </a:r>
          </a:p>
          <a:p>
            <a:r>
              <a:rPr lang="en-US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3B3B6A-8D24-929C-D96F-76655821E0FB}"/>
              </a:ext>
            </a:extLst>
          </p:cNvPr>
          <p:cNvSpPr txBox="1"/>
          <p:nvPr/>
        </p:nvSpPr>
        <p:spPr>
          <a:xfrm>
            <a:off x="7351414" y="3259247"/>
            <a:ext cx="26617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Traverses the list to find the last node and appends the new node.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9395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47761-464E-24BB-35C2-7593B1A7E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Searching and Deleting by Value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BB488-E083-BA48-458A-E3F8A2DAC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bool </a:t>
            </a:r>
            <a:r>
              <a:rPr lang="en-US" dirty="0" err="1"/>
              <a:t>searchByValue</a:t>
            </a:r>
            <a:r>
              <a:rPr lang="en-US" dirty="0"/>
              <a:t>(int value) {    </a:t>
            </a:r>
          </a:p>
          <a:p>
            <a:r>
              <a:rPr lang="en-US" dirty="0"/>
              <a:t>Node* temp = head;    </a:t>
            </a:r>
          </a:p>
          <a:p>
            <a:r>
              <a:rPr lang="en-US" dirty="0"/>
              <a:t>while (temp &amp;&amp; temp-&gt;data != value) </a:t>
            </a:r>
          </a:p>
          <a:p>
            <a:r>
              <a:rPr lang="en-US" dirty="0"/>
              <a:t>temp = temp-&gt;next;   </a:t>
            </a:r>
          </a:p>
          <a:p>
            <a:r>
              <a:rPr lang="en-US" dirty="0"/>
              <a:t> return (temp != </a:t>
            </a:r>
            <a:r>
              <a:rPr lang="en-US" dirty="0" err="1"/>
              <a:t>nullptr</a:t>
            </a:r>
            <a:r>
              <a:rPr lang="en-US" dirty="0"/>
              <a:t>);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92842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1FCDF-028E-F338-A132-A853C7424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Delete by Value: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C391F-E240-F07F-A450-7407A59DFA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101" y="1416872"/>
            <a:ext cx="10058400" cy="466593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void </a:t>
            </a:r>
            <a:r>
              <a:rPr lang="en-US" dirty="0" err="1"/>
              <a:t>deleteByValue</a:t>
            </a:r>
            <a:r>
              <a:rPr lang="en-US" dirty="0"/>
              <a:t>(int value) {    </a:t>
            </a:r>
          </a:p>
          <a:p>
            <a:r>
              <a:rPr lang="en-US" dirty="0"/>
              <a:t>if (!head) return;    </a:t>
            </a:r>
          </a:p>
          <a:p>
            <a:r>
              <a:rPr lang="en-US" dirty="0"/>
              <a:t>if (head-&gt;data == value) { </a:t>
            </a:r>
          </a:p>
          <a:p>
            <a:r>
              <a:rPr lang="en-US" dirty="0"/>
              <a:t>head = head-&gt;next; return; </a:t>
            </a:r>
          </a:p>
          <a:p>
            <a:r>
              <a:rPr lang="en-US" dirty="0"/>
              <a:t>}    </a:t>
            </a:r>
          </a:p>
          <a:p>
            <a:r>
              <a:rPr lang="en-US" dirty="0"/>
              <a:t>Node *</a:t>
            </a:r>
            <a:r>
              <a:rPr lang="en-US" dirty="0" err="1"/>
              <a:t>prev</a:t>
            </a:r>
            <a:r>
              <a:rPr lang="en-US" dirty="0"/>
              <a:t> = </a:t>
            </a:r>
            <a:r>
              <a:rPr lang="en-US" dirty="0" err="1"/>
              <a:t>nullptr</a:t>
            </a:r>
            <a:r>
              <a:rPr lang="en-US" dirty="0"/>
              <a:t>, *temp = head;    </a:t>
            </a:r>
          </a:p>
          <a:p>
            <a:r>
              <a:rPr lang="en-US" dirty="0"/>
              <a:t>while (temp &amp;&amp; temp-&gt;data != value) { </a:t>
            </a:r>
          </a:p>
          <a:p>
            <a:r>
              <a:rPr lang="en-US" dirty="0" err="1"/>
              <a:t>prev</a:t>
            </a:r>
            <a:r>
              <a:rPr lang="en-US" dirty="0"/>
              <a:t> = temp; temp = temp-&gt;next; </a:t>
            </a:r>
          </a:p>
          <a:p>
            <a:r>
              <a:rPr lang="en-US" dirty="0"/>
              <a:t>}    </a:t>
            </a:r>
          </a:p>
          <a:p>
            <a:r>
              <a:rPr lang="en-US" dirty="0"/>
              <a:t>if (!temp) return;    </a:t>
            </a:r>
            <a:r>
              <a:rPr lang="en-US" dirty="0" err="1"/>
              <a:t>prev</a:t>
            </a:r>
            <a:r>
              <a:rPr lang="en-US" dirty="0"/>
              <a:t>-&gt;next = temp-&gt;next;    delete temp;}</a:t>
            </a:r>
          </a:p>
        </p:txBody>
      </p:sp>
    </p:spTree>
    <p:extLst>
      <p:ext uri="{BB962C8B-B14F-4D97-AF65-F5344CB8AC3E}">
        <p14:creationId xmlns:p14="http://schemas.microsoft.com/office/powerpoint/2010/main" val="1547792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A498B-63AA-6C51-7589-9B778C15A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Reverse a Linked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7C928-DEEC-F5DB-B41A-F7F20B87CA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353" y="1828801"/>
            <a:ext cx="10058400" cy="464634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void </a:t>
            </a:r>
            <a:r>
              <a:rPr lang="en-US" dirty="0" err="1"/>
              <a:t>reverseList</a:t>
            </a:r>
            <a:r>
              <a:rPr lang="en-US" dirty="0"/>
              <a:t> ( ){    </a:t>
            </a:r>
          </a:p>
          <a:p>
            <a:r>
              <a:rPr lang="en-US" dirty="0"/>
              <a:t>Node* </a:t>
            </a:r>
            <a:r>
              <a:rPr lang="en-US" dirty="0" err="1"/>
              <a:t>prev</a:t>
            </a:r>
            <a:r>
              <a:rPr lang="en-US" dirty="0"/>
              <a:t> = </a:t>
            </a:r>
            <a:r>
              <a:rPr lang="en-US" dirty="0" err="1"/>
              <a:t>nullptr</a:t>
            </a:r>
            <a:r>
              <a:rPr lang="en-US" dirty="0"/>
              <a:t>, *</a:t>
            </a:r>
            <a:r>
              <a:rPr lang="en-US" dirty="0" err="1"/>
              <a:t>curr</a:t>
            </a:r>
            <a:r>
              <a:rPr lang="en-US" dirty="0"/>
              <a:t> = head, *next = </a:t>
            </a:r>
            <a:r>
              <a:rPr lang="en-US" dirty="0" err="1"/>
              <a:t>nullptr</a:t>
            </a:r>
            <a:r>
              <a:rPr lang="en-US" dirty="0"/>
              <a:t>;    </a:t>
            </a:r>
          </a:p>
          <a:p>
            <a:r>
              <a:rPr lang="en-US" dirty="0"/>
              <a:t>while (</a:t>
            </a:r>
            <a:r>
              <a:rPr lang="en-US" dirty="0" err="1"/>
              <a:t>curr</a:t>
            </a:r>
            <a:r>
              <a:rPr lang="en-US" dirty="0"/>
              <a:t>) {        </a:t>
            </a:r>
          </a:p>
          <a:p>
            <a:r>
              <a:rPr lang="en-US" dirty="0"/>
              <a:t>next = </a:t>
            </a:r>
            <a:r>
              <a:rPr lang="en-US" dirty="0" err="1"/>
              <a:t>curr</a:t>
            </a:r>
            <a:r>
              <a:rPr lang="en-US" dirty="0"/>
              <a:t>-&gt;next;        </a:t>
            </a:r>
          </a:p>
          <a:p>
            <a:r>
              <a:rPr lang="en-US" dirty="0" err="1"/>
              <a:t>curr</a:t>
            </a:r>
            <a:r>
              <a:rPr lang="en-US" dirty="0"/>
              <a:t>-&gt;next = </a:t>
            </a:r>
            <a:r>
              <a:rPr lang="en-US" dirty="0" err="1"/>
              <a:t>prev</a:t>
            </a:r>
            <a:r>
              <a:rPr lang="en-US" dirty="0"/>
              <a:t>;        </a:t>
            </a:r>
          </a:p>
          <a:p>
            <a:r>
              <a:rPr lang="en-US" dirty="0" err="1"/>
              <a:t>prev</a:t>
            </a:r>
            <a:r>
              <a:rPr lang="en-US" dirty="0"/>
              <a:t> = </a:t>
            </a:r>
            <a:r>
              <a:rPr lang="en-US" dirty="0" err="1"/>
              <a:t>curr</a:t>
            </a:r>
            <a:r>
              <a:rPr lang="en-US" dirty="0"/>
              <a:t>;        </a:t>
            </a:r>
          </a:p>
          <a:p>
            <a:r>
              <a:rPr lang="en-US" dirty="0" err="1"/>
              <a:t>curr</a:t>
            </a:r>
            <a:r>
              <a:rPr lang="en-US" dirty="0"/>
              <a:t> = next;    </a:t>
            </a:r>
          </a:p>
          <a:p>
            <a:r>
              <a:rPr lang="en-US" dirty="0"/>
              <a:t>}    </a:t>
            </a:r>
          </a:p>
          <a:p>
            <a:r>
              <a:rPr lang="en-US" dirty="0"/>
              <a:t>head = </a:t>
            </a:r>
            <a:r>
              <a:rPr lang="en-US" dirty="0" err="1"/>
              <a:t>prev</a:t>
            </a:r>
            <a:r>
              <a:rPr lang="en-US" dirty="0"/>
              <a:t>;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8187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AC73D-6A3A-145B-C5C3-E3F6401DE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10141"/>
            <a:ext cx="10058400" cy="1450757"/>
          </a:xfrm>
        </p:spPr>
        <p:txBody>
          <a:bodyPr/>
          <a:lstStyle/>
          <a:p>
            <a:r>
              <a:rPr lang="en-US" dirty="0"/>
              <a:t>Converting One-Way Linked List to Circular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BBAC6-DD04-7E6B-7E10-C6E73437DC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24001"/>
            <a:ext cx="10058400" cy="489052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void </a:t>
            </a:r>
            <a:r>
              <a:rPr lang="en-US" dirty="0" err="1"/>
              <a:t>reverseList</a:t>
            </a:r>
            <a:r>
              <a:rPr lang="en-US" dirty="0"/>
              <a:t>( ) {    </a:t>
            </a:r>
          </a:p>
          <a:p>
            <a:r>
              <a:rPr lang="en-US" dirty="0"/>
              <a:t>Node* </a:t>
            </a:r>
            <a:r>
              <a:rPr lang="en-US" dirty="0" err="1"/>
              <a:t>prev</a:t>
            </a:r>
            <a:r>
              <a:rPr lang="en-US" dirty="0"/>
              <a:t> = </a:t>
            </a:r>
            <a:r>
              <a:rPr lang="en-US" dirty="0" err="1"/>
              <a:t>nullptr</a:t>
            </a:r>
            <a:r>
              <a:rPr lang="en-US" dirty="0"/>
              <a:t>, *</a:t>
            </a:r>
            <a:r>
              <a:rPr lang="en-US" dirty="0" err="1"/>
              <a:t>curr</a:t>
            </a:r>
            <a:r>
              <a:rPr lang="en-US" dirty="0"/>
              <a:t> = head, *next = </a:t>
            </a:r>
            <a:r>
              <a:rPr lang="en-US" dirty="0" err="1"/>
              <a:t>nullptr</a:t>
            </a:r>
            <a:r>
              <a:rPr lang="en-US" dirty="0"/>
              <a:t>;    </a:t>
            </a:r>
          </a:p>
          <a:p>
            <a:r>
              <a:rPr lang="en-US" dirty="0"/>
              <a:t>while (</a:t>
            </a:r>
            <a:r>
              <a:rPr lang="en-US" dirty="0" err="1"/>
              <a:t>curr</a:t>
            </a:r>
            <a:r>
              <a:rPr lang="en-US" dirty="0"/>
              <a:t>) {        </a:t>
            </a:r>
          </a:p>
          <a:p>
            <a:r>
              <a:rPr lang="en-US" dirty="0"/>
              <a:t>next = </a:t>
            </a:r>
            <a:r>
              <a:rPr lang="en-US" dirty="0" err="1"/>
              <a:t>curr</a:t>
            </a:r>
            <a:r>
              <a:rPr lang="en-US" dirty="0"/>
              <a:t>-&gt;next;       </a:t>
            </a:r>
          </a:p>
          <a:p>
            <a:r>
              <a:rPr lang="en-US" dirty="0"/>
              <a:t> </a:t>
            </a:r>
            <a:r>
              <a:rPr lang="en-US" dirty="0" err="1"/>
              <a:t>curr</a:t>
            </a:r>
            <a:r>
              <a:rPr lang="en-US" dirty="0"/>
              <a:t>-&gt;next = </a:t>
            </a:r>
            <a:r>
              <a:rPr lang="en-US" dirty="0" err="1"/>
              <a:t>prev</a:t>
            </a:r>
            <a:r>
              <a:rPr lang="en-US" dirty="0"/>
              <a:t>;        </a:t>
            </a:r>
          </a:p>
          <a:p>
            <a:r>
              <a:rPr lang="en-US" dirty="0" err="1"/>
              <a:t>prev</a:t>
            </a:r>
            <a:r>
              <a:rPr lang="en-US" dirty="0"/>
              <a:t> = </a:t>
            </a:r>
            <a:r>
              <a:rPr lang="en-US" dirty="0" err="1"/>
              <a:t>curr</a:t>
            </a:r>
            <a:r>
              <a:rPr lang="en-US" dirty="0"/>
              <a:t>;        </a:t>
            </a:r>
          </a:p>
          <a:p>
            <a:r>
              <a:rPr lang="en-US" dirty="0" err="1"/>
              <a:t>curr</a:t>
            </a:r>
            <a:r>
              <a:rPr lang="en-US" dirty="0"/>
              <a:t> = next;    </a:t>
            </a:r>
          </a:p>
          <a:p>
            <a:r>
              <a:rPr lang="en-US" dirty="0"/>
              <a:t>}    </a:t>
            </a:r>
          </a:p>
          <a:p>
            <a:r>
              <a:rPr lang="en-US" dirty="0"/>
              <a:t>head = </a:t>
            </a:r>
            <a:r>
              <a:rPr lang="en-US" dirty="0" err="1"/>
              <a:t>prev</a:t>
            </a:r>
            <a:r>
              <a:rPr lang="en-US" dirty="0"/>
              <a:t>;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798102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99527-FADE-0EF0-D4BE-1D1CA8E7F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Real-Life Applications of Linked 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9E356-F4F0-20D9-1392-18C1E3E01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Memory management (heap allocation).</a:t>
            </a:r>
          </a:p>
          <a:p>
            <a:r>
              <a:rPr lang="en-US" dirty="0"/>
              <a:t>Undo/Redo functionality in editors.</a:t>
            </a:r>
          </a:p>
          <a:p>
            <a:r>
              <a:rPr lang="en-US" dirty="0"/>
              <a:t>Implementation of stacks, queues, and graphs.</a:t>
            </a:r>
          </a:p>
          <a:p>
            <a:r>
              <a:rPr lang="en-US" dirty="0"/>
              <a:t>Networking (packet traversal in a network).</a:t>
            </a:r>
          </a:p>
        </p:txBody>
      </p:sp>
    </p:spTree>
    <p:extLst>
      <p:ext uri="{BB962C8B-B14F-4D97-AF65-F5344CB8AC3E}">
        <p14:creationId xmlns:p14="http://schemas.microsoft.com/office/powerpoint/2010/main" val="25670930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56F5A-36D9-AFA6-177C-C10964099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Pros and Cons of Linked 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3B077-C6B4-53EC-A659-A9E117641D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Pros:</a:t>
            </a:r>
          </a:p>
          <a:p>
            <a:pPr lvl="1"/>
            <a:r>
              <a:rPr lang="en-US" dirty="0"/>
              <a:t>Dynamic memory allocation.</a:t>
            </a:r>
          </a:p>
          <a:p>
            <a:pPr lvl="1"/>
            <a:r>
              <a:rPr lang="en-US" dirty="0"/>
              <a:t>Faster insertions/deletions.</a:t>
            </a:r>
          </a:p>
          <a:p>
            <a:pPr lvl="1"/>
            <a:r>
              <a:rPr lang="en-US" dirty="0"/>
              <a:t>Efficient in applications requiring frequent changes.</a:t>
            </a:r>
          </a:p>
          <a:p>
            <a:pPr marL="201168" lvl="1" indent="0">
              <a:buNone/>
            </a:pPr>
            <a:r>
              <a:rPr lang="en-US" dirty="0"/>
              <a:t>Cons:</a:t>
            </a:r>
          </a:p>
          <a:p>
            <a:pPr marL="201168" lvl="1" indent="0">
              <a:buNone/>
            </a:pPr>
            <a:r>
              <a:rPr lang="en-US" dirty="0"/>
              <a:t>	Extra memory required for pointers.</a:t>
            </a:r>
          </a:p>
          <a:p>
            <a:pPr marL="201168" lvl="1" indent="0">
              <a:buNone/>
            </a:pPr>
            <a:r>
              <a:rPr lang="en-US"/>
              <a:t>	Sequential </a:t>
            </a:r>
            <a:r>
              <a:rPr lang="en-US" dirty="0"/>
              <a:t>access (no direct index-based access like arrays).</a:t>
            </a:r>
          </a:p>
        </p:txBody>
      </p:sp>
    </p:spTree>
    <p:extLst>
      <p:ext uri="{BB962C8B-B14F-4D97-AF65-F5344CB8AC3E}">
        <p14:creationId xmlns:p14="http://schemas.microsoft.com/office/powerpoint/2010/main" val="51156803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Georgia Pro Cond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peak Pro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700</Words>
  <Application>Microsoft Office PowerPoint</Application>
  <PresentationFormat>Widescreen</PresentationFormat>
  <Paragraphs>101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Georgia Pro Cond Light</vt:lpstr>
      <vt:lpstr>Speak Pro</vt:lpstr>
      <vt:lpstr>RetrospectVTI</vt:lpstr>
      <vt:lpstr>One-Way Linked Lists</vt:lpstr>
      <vt:lpstr>Introduction to Linked Lists </vt:lpstr>
      <vt:lpstr>Advantages of Linked Lists Over Arrays </vt:lpstr>
      <vt:lpstr>Complexity Analysis </vt:lpstr>
      <vt:lpstr>Node Structure in C++ </vt:lpstr>
      <vt:lpstr>One-Way Linked List Implementation (Without Tail)  </vt:lpstr>
      <vt:lpstr>Insertion at End (Without Tail) </vt:lpstr>
      <vt:lpstr>Searching and Deleting by Value </vt:lpstr>
      <vt:lpstr>Delete by Value: </vt:lpstr>
      <vt:lpstr>Reverse a Linked List</vt:lpstr>
      <vt:lpstr>Converting One-Way Linked List to Circular</vt:lpstr>
      <vt:lpstr>Real-Life Applications of Linked Lists</vt:lpstr>
      <vt:lpstr>Pros and Cons of Linked Lists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samin ahmed</dc:creator>
  <cp:lastModifiedBy>samin ahmed</cp:lastModifiedBy>
  <cp:revision>6</cp:revision>
  <dcterms:created xsi:type="dcterms:W3CDTF">2025-02-21T12:05:30Z</dcterms:created>
  <dcterms:modified xsi:type="dcterms:W3CDTF">2025-02-21T12:23:42Z</dcterms:modified>
</cp:coreProperties>
</file>