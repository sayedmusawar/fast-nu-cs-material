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397" r:id="rId2"/>
    <p:sldId id="402" r:id="rId3"/>
    <p:sldId id="398" r:id="rId4"/>
    <p:sldId id="399" r:id="rId5"/>
    <p:sldId id="400" r:id="rId6"/>
    <p:sldId id="401" r:id="rId7"/>
    <p:sldId id="403" r:id="rId8"/>
    <p:sldId id="404" r:id="rId9"/>
    <p:sldId id="405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6" r:id="rId18"/>
    <p:sldId id="414" r:id="rId19"/>
    <p:sldId id="417" r:id="rId20"/>
    <p:sldId id="415" r:id="rId21"/>
    <p:sldId id="418" r:id="rId22"/>
    <p:sldId id="41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6" r:id="rId39"/>
    <p:sldId id="437" r:id="rId40"/>
    <p:sldId id="438" r:id="rId41"/>
    <p:sldId id="439" r:id="rId42"/>
    <p:sldId id="440" r:id="rId43"/>
    <p:sldId id="442" r:id="rId44"/>
    <p:sldId id="441" r:id="rId45"/>
    <p:sldId id="435" r:id="rId46"/>
    <p:sldId id="406" r:id="rId4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90BD1-9D87-4C4D-9952-B96F42FAB44F}" type="datetimeFigureOut">
              <a:rPr lang="en-PK" smtClean="0"/>
              <a:t>07/07/2025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BEC2D-0DB2-407D-B5E0-1FFF0490F0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791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EC2D-0DB2-407D-B5E0-1FFF0490F083}" type="slidenum">
              <a:rPr lang="en-PK" smtClean="0"/>
              <a:t>39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835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69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189574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 spc="43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61" y="2281920"/>
            <a:ext cx="6787747" cy="3708517"/>
          </a:xfrm>
        </p:spPr>
        <p:txBody>
          <a:bodyPr lIns="0" tIns="228600" rIns="0" bIns="0">
            <a:normAutofit/>
          </a:bodyPr>
          <a:lstStyle>
            <a:lvl1pPr marL="248034" indent="-248034">
              <a:lnSpc>
                <a:spcPct val="80000"/>
              </a:lnSpc>
              <a:spcBef>
                <a:spcPts val="1926"/>
              </a:spcBef>
              <a:buFont typeface="Arial" panose="020B0604020202020204" pitchFamily="34" charset="0"/>
              <a:buChar char="•"/>
              <a:defRPr lang="en-US" sz="21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48034">
              <a:spcBef>
                <a:spcPts val="52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009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0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525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38" dirty="0"/>
          </a:p>
        </p:txBody>
      </p:sp>
    </p:spTree>
    <p:extLst>
      <p:ext uri="{BB962C8B-B14F-4D97-AF65-F5344CB8AC3E}">
        <p14:creationId xmlns:p14="http://schemas.microsoft.com/office/powerpoint/2010/main" val="411418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92">
          <p15:clr>
            <a:srgbClr val="FBAE40"/>
          </p15:clr>
        </p15:guide>
        <p15:guide id="3" pos="5131">
          <p15:clr>
            <a:srgbClr val="FBAE40"/>
          </p15:clr>
        </p15:guide>
        <p15:guide id="4" pos="5387">
          <p15:clr>
            <a:srgbClr val="FBAE40"/>
          </p15:clr>
        </p15:guide>
        <p15:guide id="8" orient="horz" pos="21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17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76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7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1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48034" indent="-248034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4744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2722">
          <p15:clr>
            <a:srgbClr val="FBAE40"/>
          </p15:clr>
        </p15:guide>
        <p15:guide id="4" pos="6776">
          <p15:clr>
            <a:srgbClr val="FBAE40"/>
          </p15:clr>
        </p15:guide>
        <p15:guide id="5" pos="2296">
          <p15:clr>
            <a:srgbClr val="FBAE40"/>
          </p15:clr>
        </p15:guide>
        <p15:guide id="6" pos="4734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638">
          <p15:clr>
            <a:srgbClr val="FBAE40"/>
          </p15:clr>
        </p15:guide>
        <p15:guide id="9" orient="horz" pos="628">
          <p15:clr>
            <a:srgbClr val="FBAE40"/>
          </p15:clr>
        </p15:guide>
        <p15:guide id="10" pos="6322">
          <p15:clr>
            <a:srgbClr val="FBAE40"/>
          </p15:clr>
        </p15:guide>
        <p15:guide id="11" pos="43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6715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520072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90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6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8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457201"/>
            <a:ext cx="5198269" cy="2305050"/>
          </a:xfrm>
        </p:spPr>
        <p:txBody>
          <a:bodyPr lIns="0" tIns="274320">
            <a:normAutofit/>
          </a:bodyPr>
          <a:lstStyle>
            <a:lvl1pPr marL="400055" indent="-400055">
              <a:spcBef>
                <a:spcPts val="1575"/>
              </a:spcBef>
              <a:buFont typeface="+mj-lt"/>
              <a:buAutoNum type="arabicPeriod"/>
              <a:defRPr sz="1750"/>
            </a:lvl1pPr>
            <a:lvl2pPr marL="800110" indent="-400055">
              <a:spcBef>
                <a:spcPts val="1575"/>
              </a:spcBef>
              <a:buFont typeface="+mj-lt"/>
              <a:buAutoNum type="alphaLcPeriod"/>
              <a:defRPr sz="1750"/>
            </a:lvl2pPr>
            <a:lvl3pPr marL="1200165" indent="-400055">
              <a:spcBef>
                <a:spcPts val="1575"/>
              </a:spcBef>
              <a:buFont typeface="+mj-lt"/>
              <a:buAutoNum type="arabicParenR"/>
              <a:defRPr sz="1750"/>
            </a:lvl3pPr>
            <a:lvl4pPr marL="1200165" indent="0">
              <a:spcBef>
                <a:spcPts val="1575"/>
              </a:spcBef>
              <a:buFont typeface="+mj-lt"/>
              <a:buNone/>
              <a:defRPr sz="1750"/>
            </a:lvl4pPr>
            <a:lvl5pPr marL="2000274" indent="-400055">
              <a:spcBef>
                <a:spcPts val="1575"/>
              </a:spcBef>
              <a:buFont typeface="+mj-lt"/>
              <a:buAutoNum type="arabicPeriod"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22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30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81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5626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8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400055" indent="0">
              <a:spcBef>
                <a:spcPts val="1575"/>
              </a:spcBef>
              <a:buNone/>
              <a:defRPr sz="1750"/>
            </a:lvl2pPr>
            <a:lvl3pPr marL="800110" indent="0">
              <a:spcBef>
                <a:spcPts val="1575"/>
              </a:spcBef>
              <a:buNone/>
              <a:defRPr sz="1750"/>
            </a:lvl3pPr>
            <a:lvl4pPr marL="1200165" indent="0">
              <a:spcBef>
                <a:spcPts val="1575"/>
              </a:spcBef>
              <a:buNone/>
              <a:defRPr sz="1750"/>
            </a:lvl4pPr>
            <a:lvl5pPr marL="1600220" indent="0">
              <a:spcBef>
                <a:spcPts val="1575"/>
              </a:spcBef>
              <a:buNone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5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2747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10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00041" indent="-300041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>
              <a:spcBef>
                <a:spcPts val="157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597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2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369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44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3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1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2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2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9359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800110" rtl="0" eaLnBrk="1" latinLnBrk="0" hangingPunct="1">
        <a:lnSpc>
          <a:spcPct val="80000"/>
        </a:lnSpc>
        <a:spcBef>
          <a:spcPct val="0"/>
        </a:spcBef>
        <a:buNone/>
        <a:defRPr sz="3850" b="1" i="0" kern="1200" spc="87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028" indent="-248034" algn="l" defTabSz="800110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0008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00013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40019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80024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200302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58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413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67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1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2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74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3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86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4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58">
          <p15:clr>
            <a:srgbClr val="A4A3A4"/>
          </p15:clr>
        </p15:guide>
        <p15:guide id="2" pos="4536">
          <p15:clr>
            <a:srgbClr val="A4A3A4"/>
          </p15:clr>
        </p15:guide>
        <p15:guide id="3" pos="284">
          <p15:clr>
            <a:srgbClr val="547EBF"/>
          </p15:clr>
        </p15:guide>
        <p15:guide id="4" orient="horz" pos="273">
          <p15:clr>
            <a:srgbClr val="547EBF"/>
          </p15:clr>
        </p15:guide>
        <p15:guide id="5" pos="8789">
          <p15:clr>
            <a:srgbClr val="547EBF"/>
          </p15:clr>
        </p15:guide>
        <p15:guide id="6" orient="horz" pos="4642">
          <p15:clr>
            <a:srgbClr val="547EBF"/>
          </p15:clr>
        </p15:guide>
        <p15:guide id="7" pos="709">
          <p15:clr>
            <a:srgbClr val="547EBF"/>
          </p15:clr>
        </p15:guide>
        <p15:guide id="8" pos="4394">
          <p15:clr>
            <a:srgbClr val="547EBF"/>
          </p15:clr>
        </p15:guide>
        <p15:guide id="9" pos="2495">
          <p15:clr>
            <a:srgbClr val="547EBF"/>
          </p15:clr>
        </p15:guide>
        <p15:guide id="10" pos="2183">
          <p15:clr>
            <a:srgbClr val="547EBF"/>
          </p15:clr>
        </p15:guide>
        <p15:guide id="11" pos="6577">
          <p15:clr>
            <a:srgbClr val="547EBF"/>
          </p15:clr>
        </p15:guide>
        <p15:guide id="12" pos="6889">
          <p15:clr>
            <a:srgbClr val="547EBF"/>
          </p15:clr>
        </p15:guide>
        <p15:guide id="13" pos="5868">
          <p15:clr>
            <a:srgbClr val="9FCC3B"/>
          </p15:clr>
        </p15:guide>
        <p15:guide id="14" pos="6152">
          <p15:clr>
            <a:srgbClr val="9FCC3B"/>
          </p15:clr>
        </p15:guide>
        <p15:guide id="15" pos="3204">
          <p15:clr>
            <a:srgbClr val="9FCC3B"/>
          </p15:clr>
        </p15:guide>
        <p15:guide id="16" pos="2920">
          <p15:clr>
            <a:srgbClr val="9FCC3B"/>
          </p15:clr>
        </p15:guide>
        <p15:guide id="17" pos="46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W_8b3PPZ4k" TargetMode="External"/><Relationship Id="rId7" Type="http://schemas.openxmlformats.org/officeDocument/2006/relationships/hyperlink" Target="https://freesvg.org/subscribe-butt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hyperlink" Target="https://youtu.be/SB7qc--XiZ8" TargetMode="External"/><Relationship Id="rId4" Type="http://schemas.openxmlformats.org/officeDocument/2006/relationships/hyperlink" Target="https://youtu.be/G4o_-4m0fw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queue-communal-community-group-15492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3166" y="788669"/>
            <a:ext cx="4800600" cy="2880360"/>
          </a:xfrm>
        </p:spPr>
        <p:txBody>
          <a:bodyPr/>
          <a:lstStyle/>
          <a:p>
            <a:r>
              <a:rPr lang="en-US" dirty="0"/>
              <a:t>Queue,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3166" y="4139662"/>
            <a:ext cx="3908049" cy="1121038"/>
          </a:xfrm>
        </p:spPr>
        <p:txBody>
          <a:bodyPr>
            <a:normAutofit/>
          </a:bodyPr>
          <a:lstStyle/>
          <a:p>
            <a:r>
              <a:rPr lang="en-US" dirty="0"/>
              <a:t>ADT, Applications</a:t>
            </a:r>
          </a:p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230368-557F-784A-0938-D34B9D616AC0}"/>
              </a:ext>
            </a:extLst>
          </p:cNvPr>
          <p:cNvSpPr txBox="1">
            <a:spLocks/>
          </p:cNvSpPr>
          <p:nvPr/>
        </p:nvSpPr>
        <p:spPr>
          <a:xfrm>
            <a:off x="9435762" y="5409987"/>
            <a:ext cx="2271476" cy="112103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Samin Ahmed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FAST-NUCES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Peshawar Campus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170235-8272-D703-3BDB-65C3B1202FFC}"/>
              </a:ext>
            </a:extLst>
          </p:cNvPr>
          <p:cNvSpPr txBox="1">
            <a:spLocks/>
          </p:cNvSpPr>
          <p:nvPr/>
        </p:nvSpPr>
        <p:spPr>
          <a:xfrm>
            <a:off x="3844577" y="1140885"/>
            <a:ext cx="3725456" cy="1287522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0" indent="0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None/>
              <a:defRPr sz="2100" b="1" i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dirty="0">
                <a:solidFill>
                  <a:srgbClr val="7CA655">
                    <a:lumMod val="75000"/>
                  </a:srgbClr>
                </a:solidFill>
                <a:hlinkClick r:id="rId3"/>
              </a:rPr>
              <a:t>https://youtu.be/CW_8b3PPZ4k</a:t>
            </a:r>
            <a:endParaRPr lang="en-US" dirty="0">
              <a:solidFill>
                <a:srgbClr val="7CA655">
                  <a:lumMod val="75000"/>
                </a:srgbClr>
              </a:solidFill>
            </a:endParaRPr>
          </a:p>
          <a:p>
            <a:pPr lvl="0"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CA655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hlinkClick r:id="rId4"/>
              </a:rPr>
              <a:t>https://youtu.be/G4o_-4m0fwk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CA655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CA655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  <a:hlinkClick r:id="rId5"/>
              </a:rPr>
              <a:t>https://youtu.be/SB7qc--XiZ8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7CA655">
                  <a:lumMod val="75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CA655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https://youtu.be/KqKqCVkTnm4</a:t>
            </a:r>
          </a:p>
        </p:txBody>
      </p:sp>
      <p:pic>
        <p:nvPicPr>
          <p:cNvPr id="6" name="Picture 5" descr="A gold square with black text&#10;&#10;AI-generated content may be incorrect.">
            <a:extLst>
              <a:ext uri="{FF2B5EF4-FFF2-40B4-BE49-F238E27FC236}">
                <a16:creationId xmlns:a16="http://schemas.microsoft.com/office/drawing/2014/main" id="{3566F8C3-5A48-408C-F73F-5AB945081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664061" y="1005975"/>
            <a:ext cx="2072343" cy="142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432895">
        <p:random/>
      </p:transition>
    </mc:Choice>
    <mc:Fallback xmlns="">
      <p:transition spd="slow" advTm="143289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Queue_Animation">
            <a:hlinkClick r:id="" action="ppaction://media"/>
            <a:extLst>
              <a:ext uri="{FF2B5EF4-FFF2-40B4-BE49-F238E27FC236}">
                <a16:creationId xmlns:a16="http://schemas.microsoft.com/office/drawing/2014/main" id="{8385B73E-EB07-35C4-06D7-12B6D4A47A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13"/>
          <a:stretch/>
        </p:blipFill>
        <p:spPr>
          <a:xfrm>
            <a:off x="120650" y="68263"/>
            <a:ext cx="11950700" cy="6721475"/>
          </a:xfrm>
          <a:prstGeom prst="rect">
            <a:avLst/>
          </a:prstGeom>
          <a:noFill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5F6F24-6155-198D-787C-F365CB554CAE}"/>
              </a:ext>
            </a:extLst>
          </p:cNvPr>
          <p:cNvSpPr txBox="1">
            <a:spLocks/>
          </p:cNvSpPr>
          <p:nvPr/>
        </p:nvSpPr>
        <p:spPr>
          <a:xfrm>
            <a:off x="9563725" y="238561"/>
            <a:ext cx="2341884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chemeClr val="tx1"/>
                </a:solidFill>
              </a:rPr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274137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1AB5B-D17C-87BB-D012-3C029842E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9778365" cy="149459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Queues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62B3C-8A84-95FA-78EF-B28B9B1596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2" y="2473377"/>
            <a:ext cx="10393428" cy="3800618"/>
          </a:xfrm>
        </p:spPr>
        <p:txBody>
          <a:bodyPr>
            <a:normAutofit/>
          </a:bodyPr>
          <a:lstStyle/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linear data structure that follows the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In, First Out (FIFO)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principle, meaning the element inserted first is removed first.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Examples of Queues: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System – Customers are served in the order they arrive.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Spooler – Print jobs are processed in the order they were received.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Center – Customer calls are attended in the order they are received.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4"/>
              </a:buBlip>
            </a:pPr>
            <a:endParaRPr lang="en-PK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414AB-A6B8-7F18-7F2B-28E82DD4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EBB8A4-31A0-F592-B2FE-D9DE6BE9BD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075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B3157-2993-443F-D917-7ADF63C0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F16D0-7794-45E1-5A7A-DA2B0B133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78701" y="2386939"/>
            <a:ext cx="8724275" cy="3699328"/>
          </a:xfrm>
        </p:spPr>
        <p:txBody>
          <a:bodyPr vert="horz" lIns="0" tIns="45720" rIns="0" bIns="0" rtlCol="0">
            <a:normAutofit lnSpcReduction="10000"/>
          </a:bodyPr>
          <a:lstStyle/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queue mainly supports the following operations: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(Insertion) – Adds an element to the rear of the queue.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 (Deletion) – Removes an element from the front of the queue.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(Peek) – Returns the front element without removing it.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if the queue is empty.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if the queue is full (in case of an array-based implementation).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endParaRPr lang="en-PK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0B2CD-E047-9778-0401-FF23890321B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1E56A-3824-66DF-7D69-55CBB31076AE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692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3593-59AD-69F1-A680-6A2FDDEC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05518"/>
            <a:ext cx="9778365" cy="1494596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Types of Queues</a:t>
            </a:r>
            <a:br>
              <a:rPr lang="en-US" dirty="0"/>
            </a:b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DD29F-56D3-DFA0-BE94-ECEA3CBD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A3FC54-B95B-023C-F7E9-F3E39E9DEA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94457B7-1BC0-575B-E686-16D498E5DD4D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268898" y="2576414"/>
            <a:ext cx="11587305" cy="3607410"/>
          </a:xfrm>
          <a:prstGeom prst="rect">
            <a:avLst/>
          </a:prstGeo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Queue (Linear Queue) – Uses an array or linked list, but suffers from space inefficiency.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– Uses a circular array to optimize space.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Double-Ended Queue (Deque) – Allows insertion and deletion from both ends.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– Elements are dequeued based on priority rather than FIFO.</a:t>
            </a:r>
          </a:p>
        </p:txBody>
      </p:sp>
    </p:spTree>
    <p:extLst>
      <p:ext uri="{BB962C8B-B14F-4D97-AF65-F5344CB8AC3E}">
        <p14:creationId xmlns:p14="http://schemas.microsoft.com/office/powerpoint/2010/main" val="226720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1AF4-EB2E-D83A-09C3-100613CB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399" y="790419"/>
            <a:ext cx="5842601" cy="6052084"/>
          </a:xfrm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// Maximum size of queue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Queue 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items[SIZE], front, rear;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Queue() 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= -1;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rear = -1;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Check if the queue is empty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bool </a:t>
            </a:r>
            <a:r>
              <a:rPr lang="en-PK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-1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920FA-215D-68B4-CE07-EC55238A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DF4FE0-AFF2-0409-843C-C7F357DC7DBF}"/>
              </a:ext>
            </a:extLst>
          </p:cNvPr>
          <p:cNvSpPr txBox="1">
            <a:spLocks/>
          </p:cNvSpPr>
          <p:nvPr/>
        </p:nvSpPr>
        <p:spPr>
          <a:xfrm>
            <a:off x="6096000" y="836912"/>
            <a:ext cx="5842601" cy="5030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Check if the queue is full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bool </a:t>
            </a:r>
            <a:r>
              <a:rPr lang="en-PK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(rear =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SIZE - 1);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57200" indent="-457200">
              <a:buFont typeface="+mj-lt"/>
              <a:buAutoNum type="arabicPeriod" startAt="14"/>
            </a:pP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Enqueue operation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enqueue(int value)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Dequeue operation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dequeue()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Display queue elements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// Display queue font element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peek( );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23B841-0A4B-A775-099D-E5284F2D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3" y="143238"/>
            <a:ext cx="10645720" cy="5572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Implementing Linear Queue (ADT using Arrays)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1505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A285ED4-39AF-CDFF-C2D9-43C6F8D9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2031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Enqueue (ADT using Arrays)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E480-F739-178B-1890-72FFE6D89682}"/>
              </a:ext>
            </a:extLst>
          </p:cNvPr>
          <p:cNvSpPr txBox="1"/>
          <p:nvPr/>
        </p:nvSpPr>
        <p:spPr>
          <a:xfrm>
            <a:off x="183629" y="1229193"/>
            <a:ext cx="7686207" cy="542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enqueue(int value) {</a:t>
            </a:r>
          </a:p>
          <a:p>
            <a:pPr marL="0" indent="0">
              <a:buNone/>
            </a:pPr>
            <a:r>
              <a:rPr lang="en-US" sz="2800" dirty="0"/>
              <a:t>        if (                 ) {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800" dirty="0" err="1"/>
              <a:t>cout</a:t>
            </a:r>
            <a:r>
              <a:rPr lang="en-US" sz="2800" dirty="0"/>
              <a:t> &lt;&lt; "Queue is full!\n";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/>
              <a:t>            return;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/>
              <a:t>        }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r>
              <a:rPr lang="en-US" sz="2800" dirty="0"/>
              <a:t>        if (                       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</a:t>
            </a:r>
            <a:r>
              <a:rPr lang="en-US" sz="2800" dirty="0" err="1"/>
              <a:t>cout</a:t>
            </a:r>
            <a:r>
              <a:rPr lang="en-US" sz="2800" dirty="0"/>
              <a:t> &lt;&lt; "Inserted " &lt;&lt; value &lt;&lt; 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  <a:endParaRPr lang="en-PK" sz="2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5767FF-78AF-115D-374E-A55DEA217CCF}"/>
              </a:ext>
            </a:extLst>
          </p:cNvPr>
          <p:cNvSpPr txBox="1">
            <a:spLocks/>
          </p:cNvSpPr>
          <p:nvPr/>
        </p:nvSpPr>
        <p:spPr>
          <a:xfrm>
            <a:off x="4505794" y="740802"/>
            <a:ext cx="7502578" cy="1123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PK"/>
            </a:defPPr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8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PK" dirty="0"/>
              <a:t>bool </a:t>
            </a:r>
            <a:r>
              <a:rPr lang="en-PK" dirty="0" err="1"/>
              <a:t>isFull</a:t>
            </a:r>
            <a:r>
              <a:rPr lang="en-PK" dirty="0"/>
              <a:t>(</a:t>
            </a:r>
            <a:r>
              <a:rPr lang="en-US" dirty="0"/>
              <a:t> </a:t>
            </a:r>
            <a:r>
              <a:rPr lang="en-PK" dirty="0"/>
              <a:t>) {</a:t>
            </a:r>
            <a:r>
              <a:rPr lang="en-US" dirty="0"/>
              <a:t> </a:t>
            </a:r>
            <a:r>
              <a:rPr lang="en-PK" dirty="0"/>
              <a:t>return (rear =</a:t>
            </a:r>
            <a:r>
              <a:rPr lang="en-US" dirty="0"/>
              <a:t> </a:t>
            </a:r>
            <a:r>
              <a:rPr lang="en-PK" dirty="0"/>
              <a:t>= SIZE - 1)</a:t>
            </a:r>
            <a:r>
              <a:rPr lang="en-US" dirty="0"/>
              <a:t> </a:t>
            </a:r>
            <a:r>
              <a:rPr lang="en-PK" dirty="0"/>
              <a:t>;  }</a:t>
            </a: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dirty="0"/>
              <a:t> bool </a:t>
            </a:r>
            <a:r>
              <a:rPr lang="en-US" dirty="0" err="1"/>
              <a:t>isEmpty</a:t>
            </a:r>
            <a:r>
              <a:rPr lang="en-US" dirty="0"/>
              <a:t>( ) { return (front == -1) ;        } </a:t>
            </a:r>
            <a:endParaRPr lang="en-PK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754CFE-554B-0031-E061-C02C398F4F65}"/>
              </a:ext>
            </a:extLst>
          </p:cNvPr>
          <p:cNvSpPr/>
          <p:nvPr/>
        </p:nvSpPr>
        <p:spPr>
          <a:xfrm>
            <a:off x="1515556" y="1738864"/>
            <a:ext cx="131758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isFull</a:t>
            </a:r>
            <a:r>
              <a:rPr lang="en-US" sz="2800" b="1" dirty="0">
                <a:solidFill>
                  <a:schemeClr val="bg1"/>
                </a:solidFill>
              </a:rPr>
              <a:t>( 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6102EB-7EC1-5716-BCD0-BAB1A5024073}"/>
              </a:ext>
            </a:extLst>
          </p:cNvPr>
          <p:cNvSpPr/>
          <p:nvPr/>
        </p:nvSpPr>
        <p:spPr>
          <a:xfrm>
            <a:off x="1515556" y="4712017"/>
            <a:ext cx="182475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isEmpty</a:t>
            </a:r>
            <a:r>
              <a:rPr lang="en-US" sz="2800" b="1" dirty="0">
                <a:solidFill>
                  <a:schemeClr val="bg1"/>
                </a:solidFill>
              </a:rPr>
              <a:t> ( 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F52607-FE28-22E6-48E5-67C0419C239C}"/>
              </a:ext>
            </a:extLst>
          </p:cNvPr>
          <p:cNvSpPr/>
          <p:nvPr/>
        </p:nvSpPr>
        <p:spPr>
          <a:xfrm>
            <a:off x="3827551" y="4727007"/>
            <a:ext cx="1689367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0;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EC09BB3-963B-6D13-B917-5E9605230BB6}"/>
              </a:ext>
            </a:extLst>
          </p:cNvPr>
          <p:cNvGrpSpPr/>
          <p:nvPr/>
        </p:nvGrpSpPr>
        <p:grpSpPr>
          <a:xfrm>
            <a:off x="7168084" y="3387046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A4D755B-B4E2-9313-527B-AE81C2FBBAB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613A1E3A-4DC6-B83C-5EA3-3E00030EA78D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Insertion in Queue is done at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rear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A99220-8465-BD46-96CA-8DD6E4E17AED}"/>
              </a:ext>
            </a:extLst>
          </p:cNvPr>
          <p:cNvSpPr/>
          <p:nvPr/>
        </p:nvSpPr>
        <p:spPr>
          <a:xfrm>
            <a:off x="908930" y="5246721"/>
            <a:ext cx="384842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items [ </a:t>
            </a:r>
            <a:r>
              <a:rPr lang="en-US" sz="2800" b="1" dirty="0">
                <a:solidFill>
                  <a:srgbClr val="FFFF00"/>
                </a:solidFill>
              </a:rPr>
              <a:t>++rear</a:t>
            </a:r>
            <a:r>
              <a:rPr lang="en-US" sz="2800" b="1" dirty="0">
                <a:solidFill>
                  <a:schemeClr val="bg1"/>
                </a:solidFill>
              </a:rPr>
              <a:t> ] = value;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ED5623-C091-2D97-9AEB-F9FC86FC0C46}"/>
              </a:ext>
            </a:extLst>
          </p:cNvPr>
          <p:cNvSpPr/>
          <p:nvPr/>
        </p:nvSpPr>
        <p:spPr>
          <a:xfrm>
            <a:off x="206780" y="3597921"/>
            <a:ext cx="6613743" cy="1040875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00000"/>
              <a:buFontTx/>
              <a:buBlip>
                <a:blip r:embed="rId2"/>
              </a:buBlip>
              <a:tabLst/>
              <a:defRPr/>
            </a:pPr>
            <a:r>
              <a:rPr lang="en-US" sz="30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Enqueue: front is only changed when inserting first value.</a:t>
            </a:r>
            <a:endParaRPr kumimoji="0" lang="en-PK" sz="30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59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AEB14-5AC7-CA7D-B712-789D5FFCA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59" y="674557"/>
            <a:ext cx="9299148" cy="613014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dequeue() {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   return;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"Removed " &lt;&lt; items[front] &lt;&lt;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 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3C4BA-9331-AEF5-F07D-BBC50E28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D1B1D47-37D5-80D3-CBD8-30F5968C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2031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Dequeue (ADT using Arrays)</a:t>
            </a:r>
            <a:br>
              <a:rPr lang="en-US" dirty="0"/>
            </a:br>
            <a:endParaRPr lang="en-PK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F073C4-01C5-E7E6-FAAA-8ECCFEB9300B}"/>
              </a:ext>
            </a:extLst>
          </p:cNvPr>
          <p:cNvSpPr/>
          <p:nvPr/>
        </p:nvSpPr>
        <p:spPr>
          <a:xfrm>
            <a:off x="1490438" y="1222102"/>
            <a:ext cx="182475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isEmpty</a:t>
            </a:r>
            <a:r>
              <a:rPr lang="en-US" sz="2800" b="1" dirty="0">
                <a:solidFill>
                  <a:schemeClr val="bg1"/>
                </a:solidFill>
              </a:rPr>
              <a:t> ( 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98E68B-E081-96AB-A12B-EF7F33E56ABE}"/>
              </a:ext>
            </a:extLst>
          </p:cNvPr>
          <p:cNvSpPr/>
          <p:nvPr/>
        </p:nvSpPr>
        <p:spPr>
          <a:xfrm>
            <a:off x="2015093" y="4143953"/>
            <a:ext cx="216716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&gt;= rear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438C5F-B689-F739-769C-941FCDA3B365}"/>
              </a:ext>
            </a:extLst>
          </p:cNvPr>
          <p:cNvSpPr/>
          <p:nvPr/>
        </p:nvSpPr>
        <p:spPr>
          <a:xfrm>
            <a:off x="274697" y="2858029"/>
            <a:ext cx="7815118" cy="104085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00000"/>
              <a:buFontTx/>
              <a:buBlip>
                <a:blip r:embed="rId2"/>
              </a:buBlip>
              <a:tabLst/>
              <a:defRPr/>
            </a:pPr>
            <a:r>
              <a:rPr lang="en-US" sz="30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Dequeue: Rear is only changed when deleting a single value in Queue.</a:t>
            </a:r>
            <a:endParaRPr kumimoji="0" lang="en-PK" sz="30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F415E9-399A-AB6C-0295-EF9ACB0183C9}"/>
              </a:ext>
            </a:extLst>
          </p:cNvPr>
          <p:cNvSpPr/>
          <p:nvPr/>
        </p:nvSpPr>
        <p:spPr>
          <a:xfrm>
            <a:off x="2016272" y="4914459"/>
            <a:ext cx="285434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rear = -1 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7937AA-3D13-EF95-D1D3-E6F9ED8F7D78}"/>
              </a:ext>
            </a:extLst>
          </p:cNvPr>
          <p:cNvSpPr/>
          <p:nvPr/>
        </p:nvSpPr>
        <p:spPr>
          <a:xfrm>
            <a:off x="2090044" y="5654985"/>
            <a:ext cx="147761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++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EA71C3-BF47-3B17-0300-80CCD86CA752}"/>
              </a:ext>
            </a:extLst>
          </p:cNvPr>
          <p:cNvGrpSpPr/>
          <p:nvPr/>
        </p:nvGrpSpPr>
        <p:grpSpPr>
          <a:xfrm>
            <a:off x="5292147" y="4098983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422708C-60AA-18EC-5D81-A696970F792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2CE1BB6E-F9D9-67B6-E707-FD610A3EC17C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Deletion in Queue is done at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front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14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5A22D-9097-A812-6C92-7FD6C689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2842"/>
            <a:ext cx="5921115" cy="5865282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elements: ";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(int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front;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rear;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items[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&lt;&lt; " ";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568EA-FC94-A67B-B5BA-6CE92DA6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D90EB7-A276-78B7-5D76-4B460AEC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2031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display (ADT using Arrays)</a:t>
            </a:r>
            <a:br>
              <a:rPr lang="en-US" dirty="0"/>
            </a:br>
            <a:endParaRPr lang="en-PK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842D05B-77AF-763F-E9E7-91C42AAED906}"/>
              </a:ext>
            </a:extLst>
          </p:cNvPr>
          <p:cNvSpPr txBox="1">
            <a:spLocks/>
          </p:cNvSpPr>
          <p:nvPr/>
        </p:nvSpPr>
        <p:spPr>
          <a:xfrm>
            <a:off x="6263143" y="972770"/>
            <a:ext cx="5713995" cy="581535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return;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items[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21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CAC3-C339-9D05-CFC4-05274211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88" y="184665"/>
            <a:ext cx="10401300" cy="639794"/>
          </a:xfrm>
        </p:spPr>
        <p:txBody>
          <a:bodyPr/>
          <a:lstStyle/>
          <a:p>
            <a:pPr algn="ctr"/>
            <a:r>
              <a:rPr lang="en-US" dirty="0"/>
              <a:t>Circular Queue</a:t>
            </a:r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66E68-5C98-C0FD-A241-8587E54F0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2D9358-8456-D7DB-DAA7-C63C1CABEA32}"/>
              </a:ext>
            </a:extLst>
          </p:cNvPr>
          <p:cNvSpPr txBox="1">
            <a:spLocks/>
          </p:cNvSpPr>
          <p:nvPr/>
        </p:nvSpPr>
        <p:spPr>
          <a:xfrm>
            <a:off x="594360" y="974361"/>
            <a:ext cx="10393428" cy="55185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54000"/>
              <a:buFont typeface="Arial" panose="020B0604020202020204" pitchFamily="34" charset="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to wastage of memory space, as discussed previously.</a:t>
            </a:r>
          </a:p>
          <a:p>
            <a:pPr marL="342900" indent="-342900">
              <a:buSzPct val="154000"/>
              <a:buFont typeface="Arial" panose="020B0604020202020204" pitchFamily="34" charset="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Circular Queue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solves this problem by reclaiming unused space at the beginning of Queue.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is a linear data structure where the last position is connected back to the first position, forming a circle.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Wraps around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using modulo operator (%).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US" sz="2500" dirty="0"/>
              <a:t> </a:t>
            </a:r>
            <a:r>
              <a:rPr lang="en-PK" altLang="en-PK" sz="2800" b="1" dirty="0">
                <a:latin typeface="Arial" panose="020B0604020202020204" pitchFamily="34" charset="0"/>
              </a:rPr>
              <a:t>Front:</a:t>
            </a:r>
            <a:r>
              <a:rPr lang="en-PK" altLang="en-PK" sz="2800" dirty="0">
                <a:latin typeface="Arial" panose="020B0604020202020204" pitchFamily="34" charset="0"/>
              </a:rPr>
              <a:t> Pointer to the front element of the queue. 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800" b="1" dirty="0">
                <a:latin typeface="Arial" panose="020B0604020202020204" pitchFamily="34" charset="0"/>
              </a:rPr>
              <a:t>Rear:</a:t>
            </a:r>
            <a:r>
              <a:rPr lang="en-PK" altLang="en-PK" sz="2800" dirty="0">
                <a:latin typeface="Arial" panose="020B0604020202020204" pitchFamily="34" charset="0"/>
              </a:rPr>
              <a:t> Pointer to the rear element of the queue. </a:t>
            </a: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800" b="1" dirty="0">
                <a:latin typeface="Arial" panose="020B0604020202020204" pitchFamily="34" charset="0"/>
              </a:rPr>
              <a:t>Empty Queue: </a:t>
            </a:r>
            <a:r>
              <a:rPr lang="en-PK" altLang="en-PK" sz="2800" dirty="0">
                <a:latin typeface="Arial" panose="020B0604020202020204" pitchFamily="34" charset="0"/>
              </a:rPr>
              <a:t>Condition when front and rear point to the same position (or a specific initial value like -1). </a:t>
            </a:r>
            <a:endParaRPr lang="en-US" altLang="en-PK" sz="2800" dirty="0">
              <a:latin typeface="Arial" panose="020B0604020202020204" pitchFamily="34" charset="0"/>
            </a:endParaRPr>
          </a:p>
          <a:p>
            <a:pPr marL="342900" indent="-342900">
              <a:buSzPct val="15400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r>
              <a:rPr lang="en-PK" altLang="en-PK" sz="2800" b="1" dirty="0">
                <a:latin typeface="Arial" panose="020B0604020202020204" pitchFamily="34" charset="0"/>
              </a:rPr>
              <a:t>Full Queue:</a:t>
            </a:r>
            <a:r>
              <a:rPr lang="en-PK" altLang="en-PK" sz="2800" dirty="0">
                <a:latin typeface="Arial" panose="020B0604020202020204" pitchFamily="34" charset="0"/>
              </a:rPr>
              <a:t> Condition when there is no more space to enqueue elements (requires a specific check, often related to the array size and the positions of front and rear). </a:t>
            </a:r>
          </a:p>
          <a:p>
            <a:pPr marL="0" indent="0">
              <a:buSzPct val="154000"/>
              <a:buNone/>
            </a:pPr>
            <a:endParaRPr lang="en-PK" altLang="en-PK" sz="2800" dirty="0">
              <a:latin typeface="Arial" panose="020B0604020202020204" pitchFamily="34" charset="0"/>
            </a:endParaRPr>
          </a:p>
          <a:p>
            <a:pPr marL="342900" indent="-342900">
              <a:buSzPct val="154000"/>
              <a:buFont typeface="Arial" panose="020B0604020202020204" pitchFamily="34" charset="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4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1F8B-6F7D-CE56-BA25-858E7F9E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98A1-18B7-FE61-09FB-2DF5FD36F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0" y="1030259"/>
            <a:ext cx="5307952" cy="5076533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int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CircularQueue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items[SIZE], front, rear;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CircularQueue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= rear = -1;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(front == -1);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A361B-C212-9B94-85D6-DE400CDFA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956C338-7059-E597-AF8E-14188E4B1817}"/>
              </a:ext>
            </a:extLst>
          </p:cNvPr>
          <p:cNvSpPr txBox="1">
            <a:spLocks/>
          </p:cNvSpPr>
          <p:nvPr/>
        </p:nvSpPr>
        <p:spPr>
          <a:xfrm>
            <a:off x="5756224" y="1076752"/>
            <a:ext cx="6182378" cy="503004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( (rear + 1) % SIZE == front);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Enqueue operation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enqueue(int value)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Dequeue operation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dequeue()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Display queue elements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// Display queue font element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peek( );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46D581-1321-6043-5FC8-BC386A4E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3" y="203198"/>
            <a:ext cx="10645720" cy="5572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Implementing Circular Queue (ADT using Arrays)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2722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D667-B9BA-BE0F-6351-B947DFDA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9AA021-DB1A-4F90-F8C8-87D1404A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4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Enqueue: Circular Queue (ADT using Arrays)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58031-0297-3118-D0AA-515D7ED9E71E}"/>
              </a:ext>
            </a:extLst>
          </p:cNvPr>
          <p:cNvSpPr txBox="1"/>
          <p:nvPr/>
        </p:nvSpPr>
        <p:spPr>
          <a:xfrm>
            <a:off x="183629" y="1528993"/>
            <a:ext cx="7686207" cy="5425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enqueue(int value) {</a:t>
            </a:r>
          </a:p>
          <a:p>
            <a:pPr marL="0" indent="0">
              <a:buNone/>
            </a:pPr>
            <a:r>
              <a:rPr lang="en-US" sz="2800" dirty="0"/>
              <a:t>        if (                 ) {</a:t>
            </a:r>
          </a:p>
          <a:p>
            <a:pPr marL="0" indent="0">
              <a:buNone/>
            </a:pPr>
            <a:r>
              <a:rPr lang="en-US" sz="2800" dirty="0"/>
              <a:t>            </a:t>
            </a:r>
            <a:r>
              <a:rPr lang="en-US" sz="2800" dirty="0" err="1"/>
              <a:t>cout</a:t>
            </a:r>
            <a:r>
              <a:rPr lang="en-US" sz="2800" dirty="0"/>
              <a:t> &lt;&lt; "Queue is full!\n";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/>
              <a:t>            return;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800" dirty="0"/>
              <a:t>        }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r>
              <a:rPr lang="en-US" sz="2800" dirty="0"/>
              <a:t>               if (                       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err="1"/>
              <a:t>cout</a:t>
            </a:r>
            <a:r>
              <a:rPr lang="en-US" sz="2800" dirty="0"/>
              <a:t> &lt;&lt; "Inserted " &lt;&lt; value &lt;&lt; 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  <a:endParaRPr lang="en-PK" sz="28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AA7E094-1A38-CC9D-F7AB-CE0288036F97}"/>
              </a:ext>
            </a:extLst>
          </p:cNvPr>
          <p:cNvSpPr txBox="1">
            <a:spLocks/>
          </p:cNvSpPr>
          <p:nvPr/>
        </p:nvSpPr>
        <p:spPr>
          <a:xfrm>
            <a:off x="3252862" y="565118"/>
            <a:ext cx="9099029" cy="1123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PK"/>
            </a:defPPr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8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PK" dirty="0"/>
              <a:t>bool </a:t>
            </a:r>
            <a:r>
              <a:rPr lang="en-PK" dirty="0" err="1">
                <a:solidFill>
                  <a:srgbClr val="FF0000"/>
                </a:solidFill>
              </a:rPr>
              <a:t>isFull</a:t>
            </a:r>
            <a:r>
              <a:rPr lang="en-PK" dirty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PK" dirty="0">
                <a:solidFill>
                  <a:srgbClr val="FF0000"/>
                </a:solidFill>
              </a:rPr>
              <a:t>) </a:t>
            </a:r>
            <a:r>
              <a:rPr lang="en-PK" dirty="0"/>
              <a:t>{</a:t>
            </a:r>
            <a:r>
              <a:rPr lang="en-US" dirty="0"/>
              <a:t> </a:t>
            </a:r>
            <a:r>
              <a:rPr lang="en-PK" dirty="0">
                <a:solidFill>
                  <a:schemeClr val="accent2">
                    <a:lumMod val="50000"/>
                  </a:schemeClr>
                </a:solidFill>
              </a:rPr>
              <a:t>return (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(rear + 1) % SIZE == front</a:t>
            </a:r>
            <a:r>
              <a:rPr lang="en-PK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PK" dirty="0">
                <a:solidFill>
                  <a:schemeClr val="accent2">
                    <a:lumMod val="50000"/>
                  </a:schemeClr>
                </a:solidFill>
              </a:rPr>
              <a:t>;  </a:t>
            </a:r>
            <a:r>
              <a:rPr lang="en-PK" dirty="0"/>
              <a:t>}</a:t>
            </a:r>
            <a:endParaRPr lang="en-US" dirty="0"/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q"/>
            </a:pPr>
            <a:r>
              <a:rPr lang="en-US" dirty="0"/>
              <a:t> bool </a:t>
            </a:r>
            <a:r>
              <a:rPr lang="en-US" dirty="0" err="1">
                <a:solidFill>
                  <a:srgbClr val="FF0000"/>
                </a:solidFill>
              </a:rPr>
              <a:t>isEmpty</a:t>
            </a:r>
            <a:r>
              <a:rPr lang="en-US" dirty="0">
                <a:solidFill>
                  <a:srgbClr val="FF0000"/>
                </a:solidFill>
              </a:rPr>
              <a:t>( ) </a:t>
            </a:r>
            <a:r>
              <a:rPr lang="en-US" dirty="0"/>
              <a:t>{ return (front == -1) ;        } </a:t>
            </a:r>
            <a:endParaRPr lang="en-PK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533DEC-AAA9-8AC1-EB27-F57640EA4FFD}"/>
              </a:ext>
            </a:extLst>
          </p:cNvPr>
          <p:cNvSpPr/>
          <p:nvPr/>
        </p:nvSpPr>
        <p:spPr>
          <a:xfrm>
            <a:off x="1515556" y="2038664"/>
            <a:ext cx="131758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isFull</a:t>
            </a:r>
            <a:r>
              <a:rPr lang="en-US" sz="2800" b="1" dirty="0">
                <a:solidFill>
                  <a:schemeClr val="bg1"/>
                </a:solidFill>
              </a:rPr>
              <a:t>( 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9542A6-F03A-D1CF-F34A-70C9BF06ECC5}"/>
              </a:ext>
            </a:extLst>
          </p:cNvPr>
          <p:cNvSpPr/>
          <p:nvPr/>
        </p:nvSpPr>
        <p:spPr>
          <a:xfrm>
            <a:off x="2144369" y="4494734"/>
            <a:ext cx="182475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isEmpty</a:t>
            </a:r>
            <a:r>
              <a:rPr lang="en-US" sz="2800" b="1" dirty="0">
                <a:solidFill>
                  <a:schemeClr val="bg1"/>
                </a:solidFill>
              </a:rPr>
              <a:t> ( 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E43740-603E-C387-9503-6190EECE4B33}"/>
              </a:ext>
            </a:extLst>
          </p:cNvPr>
          <p:cNvSpPr/>
          <p:nvPr/>
        </p:nvSpPr>
        <p:spPr>
          <a:xfrm>
            <a:off x="4395328" y="4528183"/>
            <a:ext cx="1689367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0;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A59001B-A3E0-BF50-098F-564FEF3A93CE}"/>
              </a:ext>
            </a:extLst>
          </p:cNvPr>
          <p:cNvGrpSpPr/>
          <p:nvPr/>
        </p:nvGrpSpPr>
        <p:grpSpPr>
          <a:xfrm>
            <a:off x="7168084" y="3686846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ABA34D3-52CF-DE1C-15CC-603128D5101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6D04057B-EE15-C1F9-12EA-E9B4893822B0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Insertion in Queue is done at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rear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2A2DEE-648A-A96F-4786-09CAE061C72E}"/>
              </a:ext>
            </a:extLst>
          </p:cNvPr>
          <p:cNvSpPr/>
          <p:nvPr/>
        </p:nvSpPr>
        <p:spPr>
          <a:xfrm>
            <a:off x="1240926" y="5035702"/>
            <a:ext cx="3945671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rear = ( rear + 1 ) % size;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D29B1D-4D2E-ED0E-BC56-90590D5EAA66}"/>
              </a:ext>
            </a:extLst>
          </p:cNvPr>
          <p:cNvSpPr/>
          <p:nvPr/>
        </p:nvSpPr>
        <p:spPr>
          <a:xfrm>
            <a:off x="1304917" y="3561618"/>
            <a:ext cx="5310137" cy="852985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00000"/>
              <a:buFontTx/>
              <a:buBlip>
                <a:blip r:embed="rId2"/>
              </a:buBlip>
              <a:tabLst/>
              <a:defRPr/>
            </a:pPr>
            <a:r>
              <a:rPr lang="en-US" sz="24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Enqueue: front is only changed when inserting first value.</a:t>
            </a:r>
            <a:endParaRPr kumimoji="0" lang="en-PK" sz="24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F41B5B-8200-E63C-572F-7154DC08EF3C}"/>
              </a:ext>
            </a:extLst>
          </p:cNvPr>
          <p:cNvSpPr/>
          <p:nvPr/>
        </p:nvSpPr>
        <p:spPr>
          <a:xfrm>
            <a:off x="1240926" y="5563185"/>
            <a:ext cx="3945671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items[rear] = value;</a:t>
            </a:r>
          </a:p>
        </p:txBody>
      </p:sp>
    </p:spTree>
    <p:extLst>
      <p:ext uri="{BB962C8B-B14F-4D97-AF65-F5344CB8AC3E}">
        <p14:creationId xmlns:p14="http://schemas.microsoft.com/office/powerpoint/2010/main" val="314144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9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5B57-2502-677D-7A00-881AA73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F79D-72EB-8F63-E53B-7C085CF7C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59" y="419727"/>
            <a:ext cx="9299148" cy="613014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dequeue()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"Removed " &lt;&lt; items[front] &lt;&lt;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CE214-E8BE-010E-9304-FA785A9C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FE5CDB-70BF-C83A-608B-63368EA4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Dequeue : Circular Queue (ADT using Arrays)</a:t>
            </a:r>
            <a:br>
              <a:rPr lang="en-US" dirty="0"/>
            </a:br>
            <a:endParaRPr lang="en-PK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D1AD90-D335-3B71-87C6-1DC114688C0B}"/>
              </a:ext>
            </a:extLst>
          </p:cNvPr>
          <p:cNvSpPr/>
          <p:nvPr/>
        </p:nvSpPr>
        <p:spPr>
          <a:xfrm>
            <a:off x="1490438" y="1057212"/>
            <a:ext cx="182475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err="1">
                <a:solidFill>
                  <a:schemeClr val="bg1"/>
                </a:solidFill>
              </a:rPr>
              <a:t>isEmpty</a:t>
            </a:r>
            <a:r>
              <a:rPr lang="en-US" sz="2800" b="1" dirty="0">
                <a:solidFill>
                  <a:schemeClr val="bg1"/>
                </a:solidFill>
              </a:rPr>
              <a:t> ( 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43E0CF-F3F6-C272-F931-52333D2D4C59}"/>
              </a:ext>
            </a:extLst>
          </p:cNvPr>
          <p:cNvSpPr/>
          <p:nvPr/>
        </p:nvSpPr>
        <p:spPr>
          <a:xfrm>
            <a:off x="2030084" y="4320565"/>
            <a:ext cx="216716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== rear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AE75F6-798F-0AAA-5576-23E50FA9F89D}"/>
              </a:ext>
            </a:extLst>
          </p:cNvPr>
          <p:cNvSpPr/>
          <p:nvPr/>
        </p:nvSpPr>
        <p:spPr>
          <a:xfrm>
            <a:off x="599059" y="2995988"/>
            <a:ext cx="6545660" cy="950132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indent="-342900">
              <a:buSzPct val="200000"/>
              <a:buBlip>
                <a:blip r:embed="rId2"/>
              </a:buBlip>
            </a:pPr>
            <a:r>
              <a:rPr lang="en-US" sz="27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Dequeue: Rear is only changed when deleting a single value in Queue.</a:t>
            </a:r>
            <a:endParaRPr lang="en-PK" sz="2700" b="1" dirty="0">
              <a:solidFill>
                <a:srgbClr val="E8E8E8">
                  <a:lumMod val="25000"/>
                </a:srgbClr>
              </a:solidFill>
              <a:latin typeface="Aptos" panose="0211000402020202020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8BBAF9F-4453-79D8-B094-4FCF0010F75D}"/>
              </a:ext>
            </a:extLst>
          </p:cNvPr>
          <p:cNvSpPr/>
          <p:nvPr/>
        </p:nvSpPr>
        <p:spPr>
          <a:xfrm>
            <a:off x="2002016" y="4893524"/>
            <a:ext cx="285434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rear = -1 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5AF5B7-0589-A2A1-F9A0-4EFDDFE6A99A}"/>
              </a:ext>
            </a:extLst>
          </p:cNvPr>
          <p:cNvSpPr/>
          <p:nvPr/>
        </p:nvSpPr>
        <p:spPr>
          <a:xfrm>
            <a:off x="2251377" y="5601393"/>
            <a:ext cx="420938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front = ( front + 1 ) % SIZE;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702DF6-3D40-7BF3-6AE0-EB9810AA4B1A}"/>
              </a:ext>
            </a:extLst>
          </p:cNvPr>
          <p:cNvGrpSpPr/>
          <p:nvPr/>
        </p:nvGrpSpPr>
        <p:grpSpPr>
          <a:xfrm>
            <a:off x="7455560" y="3837634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C928EAD-F942-279A-17E5-69CC8B502B9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1240CD2C-866A-CF31-E53C-128F19EDCB9C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Deletion in Queue is done at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front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118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694B9-7E1D-761C-1576-9158EDB0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6C86A-90DD-1E65-C351-1D503B5F3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3042"/>
            <a:ext cx="5921115" cy="6165082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elements: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front;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(true) {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items[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&lt;&lt; " ";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rear) break;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 % SIZE;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endParaRPr lang="en-PK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CC52C-6C3E-8629-6C87-BA1555E5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B0AE8C-86DB-9A76-F012-D2A06207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display: Circular Queue (ADT using Arrays)</a:t>
            </a:r>
            <a:br>
              <a:rPr lang="en-US" dirty="0"/>
            </a:br>
            <a:endParaRPr lang="en-PK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99D44B6-D7D7-5461-12AC-15C5D178AC03}"/>
              </a:ext>
            </a:extLst>
          </p:cNvPr>
          <p:cNvSpPr txBox="1">
            <a:spLocks/>
          </p:cNvSpPr>
          <p:nvPr/>
        </p:nvSpPr>
        <p:spPr>
          <a:xfrm>
            <a:off x="6096000" y="639620"/>
            <a:ext cx="5713995" cy="61485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return;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items[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81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6F7A-9703-EBFC-F476-9ADD9459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DEF71-1828-3DBA-ACB5-D1BA00F67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0" y="1030259"/>
            <a:ext cx="6836948" cy="5827741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Node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data;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next;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Node(int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=0) : data(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next(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}</a:t>
            </a:r>
            <a:endParaRPr lang="en-US" sz="2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Queue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 *front, *rear;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Queue()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= rear =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41E1-14A0-12D0-9130-6235975A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B47A8D-4A03-0860-1B55-F99A38BAD9D9}"/>
              </a:ext>
            </a:extLst>
          </p:cNvPr>
          <p:cNvSpPr txBox="1">
            <a:spLocks/>
          </p:cNvSpPr>
          <p:nvPr/>
        </p:nvSpPr>
        <p:spPr>
          <a:xfrm>
            <a:off x="7285213" y="1076752"/>
            <a:ext cx="4706910" cy="503004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Enqueue operation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enqueue(int value)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Dequeue operation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dequeue()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Display queue elements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Display queue font element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peek( );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B14186-7EB5-78F4-8898-A79C6423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3" y="203198"/>
            <a:ext cx="10645720" cy="5572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Implementing Queue (ADT using Linked List)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3841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42309-AA79-BE18-7672-520BBA8A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7FD6FD-6363-C32F-82A2-CF81A5C0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2031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Enqueue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E54FE-2E4D-9D12-F3AD-9454234991F0}"/>
              </a:ext>
            </a:extLst>
          </p:cNvPr>
          <p:cNvSpPr txBox="1"/>
          <p:nvPr/>
        </p:nvSpPr>
        <p:spPr>
          <a:xfrm>
            <a:off x="183629" y="789521"/>
            <a:ext cx="7686207" cy="5865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enqueue(int value) {</a:t>
            </a:r>
          </a:p>
          <a:p>
            <a:pPr marL="0" indent="0">
              <a:buNone/>
            </a:pPr>
            <a:r>
              <a:rPr lang="en-US" sz="2800" dirty="0"/>
              <a:t>               </a:t>
            </a:r>
          </a:p>
          <a:p>
            <a:pPr marL="0" indent="0">
              <a:buNone/>
            </a:pPr>
            <a:r>
              <a:rPr lang="en-US" sz="2800" dirty="0"/>
              <a:t>  if (                               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else {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}</a:t>
            </a:r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lang="en-US" sz="2800" dirty="0" err="1"/>
              <a:t>cout</a:t>
            </a:r>
            <a:r>
              <a:rPr lang="en-US" sz="2800" dirty="0"/>
              <a:t> &lt;&lt; "Inserted " &lt;&lt; value &lt;&lt; 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D0A2EF-0356-FC67-3DAA-DDF9B16F6BF2}"/>
              </a:ext>
            </a:extLst>
          </p:cNvPr>
          <p:cNvSpPr/>
          <p:nvPr/>
        </p:nvSpPr>
        <p:spPr>
          <a:xfrm>
            <a:off x="323672" y="1348685"/>
            <a:ext cx="603327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Node *</a:t>
            </a:r>
            <a:r>
              <a:rPr lang="en-US" sz="2800" b="1" dirty="0" err="1">
                <a:solidFill>
                  <a:schemeClr val="bg1"/>
                </a:solidFill>
              </a:rPr>
              <a:t>newNode</a:t>
            </a:r>
            <a:r>
              <a:rPr lang="en-US" sz="2800" b="1" dirty="0">
                <a:solidFill>
                  <a:schemeClr val="bg1"/>
                </a:solidFill>
              </a:rPr>
              <a:t> = new Node(value) 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F1893B-0EE4-E2A4-CE12-27E9428379BF}"/>
              </a:ext>
            </a:extLst>
          </p:cNvPr>
          <p:cNvSpPr/>
          <p:nvPr/>
        </p:nvSpPr>
        <p:spPr>
          <a:xfrm>
            <a:off x="993399" y="1845252"/>
            <a:ext cx="2544280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rear ==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F18F33-DE36-DF43-476B-75B11F477A4B}"/>
              </a:ext>
            </a:extLst>
          </p:cNvPr>
          <p:cNvSpPr/>
          <p:nvPr/>
        </p:nvSpPr>
        <p:spPr>
          <a:xfrm>
            <a:off x="323672" y="2416586"/>
            <a:ext cx="4203358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rear = new Node 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9AA62B-A5B2-9AF8-20F2-9BDFC54DB584}"/>
              </a:ext>
            </a:extLst>
          </p:cNvPr>
          <p:cNvGrpSpPr/>
          <p:nvPr/>
        </p:nvGrpSpPr>
        <p:grpSpPr>
          <a:xfrm>
            <a:off x="7168084" y="3387046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A83C531-4960-D6D8-6983-E1C40187480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144E676B-AAD8-2545-0165-BB918189D349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Insertion in Queue is done at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rear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450259-E506-E082-7B7A-A2EFFA0E4BDC}"/>
              </a:ext>
            </a:extLst>
          </p:cNvPr>
          <p:cNvSpPr/>
          <p:nvPr/>
        </p:nvSpPr>
        <p:spPr>
          <a:xfrm>
            <a:off x="371852" y="3294090"/>
            <a:ext cx="405847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</a:rPr>
              <a:t>rear</a:t>
            </a:r>
            <a:r>
              <a:rPr lang="en-US" sz="2800" b="1" dirty="0">
                <a:solidFill>
                  <a:schemeClr val="bg1"/>
                </a:solidFill>
              </a:rPr>
              <a:t> -&gt; next = </a:t>
            </a:r>
            <a:r>
              <a:rPr lang="en-US" sz="2800" b="1" dirty="0" err="1">
                <a:solidFill>
                  <a:schemeClr val="bg1"/>
                </a:solidFill>
              </a:rPr>
              <a:t>newNode</a:t>
            </a:r>
            <a:r>
              <a:rPr lang="en-US" sz="2800" b="1" dirty="0">
                <a:solidFill>
                  <a:schemeClr val="bg1"/>
                </a:solidFill>
              </a:rPr>
              <a:t> 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5E0097-B9DD-ADC9-9625-B4657BC1FC01}"/>
              </a:ext>
            </a:extLst>
          </p:cNvPr>
          <p:cNvSpPr/>
          <p:nvPr/>
        </p:nvSpPr>
        <p:spPr>
          <a:xfrm>
            <a:off x="7292446" y="1232173"/>
            <a:ext cx="4511502" cy="182285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00000"/>
              <a:buFontTx/>
              <a:buBlip>
                <a:blip r:embed="rId2"/>
              </a:buBlip>
              <a:tabLst/>
              <a:defRPr/>
            </a:pPr>
            <a:r>
              <a:rPr lang="en-US" sz="30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Enqueue: front is only changed when inserting first value.</a:t>
            </a:r>
            <a:endParaRPr kumimoji="0" lang="en-PK" sz="30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028F43-C67B-4631-F52A-B527346D4E89}"/>
              </a:ext>
            </a:extLst>
          </p:cNvPr>
          <p:cNvSpPr/>
          <p:nvPr/>
        </p:nvSpPr>
        <p:spPr>
          <a:xfrm>
            <a:off x="338662" y="3806874"/>
            <a:ext cx="410665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</a:rPr>
              <a:t>rear</a:t>
            </a:r>
            <a:r>
              <a:rPr lang="en-US" sz="2800" b="1" dirty="0">
                <a:solidFill>
                  <a:schemeClr val="bg1"/>
                </a:solidFill>
              </a:rPr>
              <a:t>  = </a:t>
            </a:r>
            <a:r>
              <a:rPr lang="en-US" sz="2800" b="1" dirty="0" err="1">
                <a:solidFill>
                  <a:schemeClr val="bg1"/>
                </a:solidFill>
              </a:rPr>
              <a:t>newNode</a:t>
            </a:r>
            <a:r>
              <a:rPr lang="en-US" sz="2800" b="1" dirty="0">
                <a:solidFill>
                  <a:schemeClr val="bg1"/>
                </a:solidFill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195157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9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2" grpId="0" animBg="1"/>
      <p:bldP spid="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1F4D-29D1-50B4-7807-D90DD73E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219210-4309-B7FC-3216-3A2717D85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2031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Enqueue: Circular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65359-9DDB-0EE6-CD91-10E526894838}"/>
              </a:ext>
            </a:extLst>
          </p:cNvPr>
          <p:cNvSpPr txBox="1"/>
          <p:nvPr/>
        </p:nvSpPr>
        <p:spPr>
          <a:xfrm>
            <a:off x="183629" y="789521"/>
            <a:ext cx="7686207" cy="5865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enqueue(int value) {</a:t>
            </a:r>
          </a:p>
          <a:p>
            <a:pPr marL="0" indent="0">
              <a:buNone/>
            </a:pPr>
            <a:r>
              <a:rPr lang="en-US" sz="2800" dirty="0"/>
              <a:t>               </a:t>
            </a:r>
          </a:p>
          <a:p>
            <a:pPr marL="0" indent="0">
              <a:buNone/>
            </a:pPr>
            <a:r>
              <a:rPr lang="en-US" sz="2800" dirty="0"/>
              <a:t>  if (                               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</a:t>
            </a:r>
          </a:p>
          <a:p>
            <a:pPr marL="0" indent="0">
              <a:buNone/>
            </a:pPr>
            <a:r>
              <a:rPr lang="en-US" sz="2800" dirty="0"/>
              <a:t>else {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}</a:t>
            </a:r>
          </a:p>
          <a:p>
            <a:pPr marL="0" indent="0">
              <a:buNone/>
            </a:pPr>
            <a:r>
              <a:rPr lang="en-US" sz="2800" dirty="0"/>
              <a:t>   </a:t>
            </a:r>
            <a:r>
              <a:rPr lang="en-US" sz="2800" dirty="0" err="1"/>
              <a:t>cout</a:t>
            </a:r>
            <a:r>
              <a:rPr lang="en-US" sz="2800" dirty="0"/>
              <a:t> &lt;&lt; "Inserted " &lt;&lt; value &lt;&lt; 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316C48-F217-1E64-1F47-3B4921644164}"/>
              </a:ext>
            </a:extLst>
          </p:cNvPr>
          <p:cNvSpPr/>
          <p:nvPr/>
        </p:nvSpPr>
        <p:spPr>
          <a:xfrm>
            <a:off x="323672" y="1348685"/>
            <a:ext cx="603327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Node *</a:t>
            </a:r>
            <a:r>
              <a:rPr lang="en-US" sz="2800" b="1" dirty="0" err="1">
                <a:solidFill>
                  <a:schemeClr val="bg1"/>
                </a:solidFill>
              </a:rPr>
              <a:t>newNode</a:t>
            </a:r>
            <a:r>
              <a:rPr lang="en-US" sz="2800" b="1" dirty="0">
                <a:solidFill>
                  <a:schemeClr val="bg1"/>
                </a:solidFill>
              </a:rPr>
              <a:t> = new Node(value) 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E34A8A-1F01-4E2E-BA2F-9E09D6862EF4}"/>
              </a:ext>
            </a:extLst>
          </p:cNvPr>
          <p:cNvSpPr/>
          <p:nvPr/>
        </p:nvSpPr>
        <p:spPr>
          <a:xfrm>
            <a:off x="1008389" y="1830262"/>
            <a:ext cx="2544280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rear ==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F50B4D-9997-DED5-47A6-07B87B9EBF5E}"/>
              </a:ext>
            </a:extLst>
          </p:cNvPr>
          <p:cNvSpPr/>
          <p:nvPr/>
        </p:nvSpPr>
        <p:spPr>
          <a:xfrm>
            <a:off x="323672" y="2341636"/>
            <a:ext cx="4203358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rear = new Node 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6C2B55-CF32-7B89-4DCE-69E1586F8899}"/>
              </a:ext>
            </a:extLst>
          </p:cNvPr>
          <p:cNvGrpSpPr/>
          <p:nvPr/>
        </p:nvGrpSpPr>
        <p:grpSpPr>
          <a:xfrm>
            <a:off x="7168084" y="3387046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F473B9E-830F-2468-D26D-FD3F91CDA19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6D7ECAD2-068B-9D79-1B39-6ED815102443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Insertion in Queue is done at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rear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FF6350-3F90-1007-C7AA-4A0B1F13216D}"/>
              </a:ext>
            </a:extLst>
          </p:cNvPr>
          <p:cNvSpPr/>
          <p:nvPr/>
        </p:nvSpPr>
        <p:spPr>
          <a:xfrm>
            <a:off x="1241274" y="3593893"/>
            <a:ext cx="405847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</a:rPr>
              <a:t>rear</a:t>
            </a:r>
            <a:r>
              <a:rPr lang="en-US" sz="2800" b="1" dirty="0">
                <a:solidFill>
                  <a:schemeClr val="bg1"/>
                </a:solidFill>
              </a:rPr>
              <a:t> -&gt; next = </a:t>
            </a:r>
            <a:r>
              <a:rPr lang="en-US" sz="2800" b="1" dirty="0" err="1">
                <a:solidFill>
                  <a:schemeClr val="bg1"/>
                </a:solidFill>
              </a:rPr>
              <a:t>newNode</a:t>
            </a:r>
            <a:r>
              <a:rPr lang="en-US" sz="2800" b="1" dirty="0">
                <a:solidFill>
                  <a:schemeClr val="bg1"/>
                </a:solidFill>
              </a:rPr>
              <a:t> 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C8CAB0-F1BD-EA29-684C-F80A2010DC38}"/>
              </a:ext>
            </a:extLst>
          </p:cNvPr>
          <p:cNvSpPr/>
          <p:nvPr/>
        </p:nvSpPr>
        <p:spPr>
          <a:xfrm>
            <a:off x="7292446" y="1232173"/>
            <a:ext cx="4511502" cy="1822850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00000"/>
              <a:buFontTx/>
              <a:buBlip>
                <a:blip r:embed="rId2"/>
              </a:buBlip>
              <a:tabLst/>
              <a:defRPr/>
            </a:pPr>
            <a:r>
              <a:rPr lang="en-US" sz="30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Enqueue: front is only changed when inserting first value.</a:t>
            </a:r>
            <a:endParaRPr kumimoji="0" lang="en-PK" sz="30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BE523C-9280-C93A-79BA-71D9D213FE10}"/>
              </a:ext>
            </a:extLst>
          </p:cNvPr>
          <p:cNvSpPr/>
          <p:nvPr/>
        </p:nvSpPr>
        <p:spPr>
          <a:xfrm>
            <a:off x="1208084" y="4046717"/>
            <a:ext cx="410665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</a:rPr>
              <a:t>rear</a:t>
            </a:r>
            <a:r>
              <a:rPr lang="en-US" sz="2800" b="1" dirty="0">
                <a:solidFill>
                  <a:schemeClr val="bg1"/>
                </a:solidFill>
              </a:rPr>
              <a:t>  = </a:t>
            </a:r>
            <a:r>
              <a:rPr lang="en-US" sz="2800" b="1" dirty="0" err="1">
                <a:solidFill>
                  <a:schemeClr val="bg1"/>
                </a:solidFill>
              </a:rPr>
              <a:t>newNode</a:t>
            </a:r>
            <a:r>
              <a:rPr lang="en-US" sz="2800" b="1" dirty="0">
                <a:solidFill>
                  <a:schemeClr val="bg1"/>
                </a:solidFill>
              </a:rPr>
              <a:t> ;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BE663F-2D84-2A04-11A7-F975B5AB0389}"/>
              </a:ext>
            </a:extLst>
          </p:cNvPr>
          <p:cNvSpPr/>
          <p:nvPr/>
        </p:nvSpPr>
        <p:spPr>
          <a:xfrm>
            <a:off x="299409" y="2814406"/>
            <a:ext cx="346312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rear -&gt; next = front ;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F0BD59-F55F-F131-77C6-6C7936CB7901}"/>
              </a:ext>
            </a:extLst>
          </p:cNvPr>
          <p:cNvSpPr/>
          <p:nvPr/>
        </p:nvSpPr>
        <p:spPr>
          <a:xfrm>
            <a:off x="1223074" y="4507664"/>
            <a:ext cx="346312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rear -&gt; next = front ;</a:t>
            </a:r>
          </a:p>
        </p:txBody>
      </p:sp>
    </p:spTree>
    <p:extLst>
      <p:ext uri="{BB962C8B-B14F-4D97-AF65-F5344CB8AC3E}">
        <p14:creationId xmlns:p14="http://schemas.microsoft.com/office/powerpoint/2010/main" val="239705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7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5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849B-D21C-9EAA-4BDB-C8DAA4C4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6AD6C-DCF9-3473-84BF-D09925BF0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59" y="419727"/>
            <a:ext cx="9299148" cy="638497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dequeue()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"Removed " &lt;&lt; temp-&gt;data &lt;&lt;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 temp;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7AD14-10A2-286A-A09F-05DEB1B64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4F9758-CB77-DEC2-F5E3-3CAD5D3D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Dequeue :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F562F1-EE0C-B4F6-D71A-C2D55D4A09B1}"/>
              </a:ext>
            </a:extLst>
          </p:cNvPr>
          <p:cNvSpPr/>
          <p:nvPr/>
        </p:nvSpPr>
        <p:spPr>
          <a:xfrm>
            <a:off x="1490438" y="1057212"/>
            <a:ext cx="254191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A886A9-BEAC-A2A1-D091-FF574AA3569D}"/>
              </a:ext>
            </a:extLst>
          </p:cNvPr>
          <p:cNvSpPr/>
          <p:nvPr/>
        </p:nvSpPr>
        <p:spPr>
          <a:xfrm>
            <a:off x="701832" y="2715773"/>
            <a:ext cx="340547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Node *temp = front;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603DAE-F269-B5F4-D5F3-DE41F202ED9D}"/>
              </a:ext>
            </a:extLst>
          </p:cNvPr>
          <p:cNvSpPr/>
          <p:nvPr/>
        </p:nvSpPr>
        <p:spPr>
          <a:xfrm>
            <a:off x="7537339" y="1856670"/>
            <a:ext cx="4467616" cy="1594401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indent="-342900">
              <a:buSzPct val="200000"/>
              <a:buBlip>
                <a:blip r:embed="rId2"/>
              </a:buBlip>
            </a:pPr>
            <a:r>
              <a:rPr lang="en-US" sz="27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Dequeue: Rear is only changed when deleting a single value in Queue.</a:t>
            </a:r>
            <a:endParaRPr lang="en-PK" sz="2700" b="1" dirty="0">
              <a:solidFill>
                <a:srgbClr val="E8E8E8">
                  <a:lumMod val="25000"/>
                </a:srgbClr>
              </a:solidFill>
              <a:latin typeface="Aptos" panose="0211000402020202020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DC911E-6D54-13C8-2AD3-9A68F369566F}"/>
              </a:ext>
            </a:extLst>
          </p:cNvPr>
          <p:cNvSpPr/>
          <p:nvPr/>
        </p:nvSpPr>
        <p:spPr>
          <a:xfrm>
            <a:off x="701832" y="3248704"/>
            <a:ext cx="340547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front = front -&gt; next 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68F1A8-56D2-7E88-36D6-3FD01EE0E393}"/>
              </a:ext>
            </a:extLst>
          </p:cNvPr>
          <p:cNvSpPr/>
          <p:nvPr/>
        </p:nvSpPr>
        <p:spPr>
          <a:xfrm>
            <a:off x="2066497" y="3775203"/>
            <a:ext cx="2625423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E7DDC2-2516-33A4-952D-F7EC9DBA1ABD}"/>
              </a:ext>
            </a:extLst>
          </p:cNvPr>
          <p:cNvGrpSpPr/>
          <p:nvPr/>
        </p:nvGrpSpPr>
        <p:grpSpPr>
          <a:xfrm>
            <a:off x="7455560" y="3837634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36DDDF4-923B-8234-9DCB-8DA1039A544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A1EC034F-0E68-93A2-4D73-97D7A78DC96F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Deletion in Queue is done at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front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0FE68A-402F-6C92-9900-756AAACF1114}"/>
              </a:ext>
            </a:extLst>
          </p:cNvPr>
          <p:cNvSpPr/>
          <p:nvPr/>
        </p:nvSpPr>
        <p:spPr>
          <a:xfrm>
            <a:off x="2066497" y="4308134"/>
            <a:ext cx="2827915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rear = 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r>
              <a:rPr lang="en-US" sz="2800" b="1" dirty="0">
                <a:solidFill>
                  <a:schemeClr val="bg1"/>
                </a:solidFill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353643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  <p:bldP spid="12" grpId="0" animBg="1"/>
      <p:bldP spid="12" grpId="1" animBg="1"/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B9545-F087-3E51-DFFF-C3821FAA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92D2-719F-8E07-DB3F-580544856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58" y="419727"/>
            <a:ext cx="11302531" cy="638497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dequeue()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   return; }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else{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"Removed " &lt;&lt;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9E39-0972-7272-CEEB-55C29FA2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92C528-9694-37A7-7099-4885918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Dequeue : Circular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CF41AA-0816-77C3-90D8-4BAF6E6ECE63}"/>
              </a:ext>
            </a:extLst>
          </p:cNvPr>
          <p:cNvSpPr/>
          <p:nvPr/>
        </p:nvSpPr>
        <p:spPr>
          <a:xfrm>
            <a:off x="1490438" y="1057212"/>
            <a:ext cx="2541916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E65064-E4D7-6D90-CFE8-4E424E15D643}"/>
              </a:ext>
            </a:extLst>
          </p:cNvPr>
          <p:cNvSpPr/>
          <p:nvPr/>
        </p:nvSpPr>
        <p:spPr>
          <a:xfrm>
            <a:off x="1460458" y="1583711"/>
            <a:ext cx="2347044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== rear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22408E-CCE5-DAB1-8A39-31F92A40DB72}"/>
              </a:ext>
            </a:extLst>
          </p:cNvPr>
          <p:cNvSpPr/>
          <p:nvPr/>
        </p:nvSpPr>
        <p:spPr>
          <a:xfrm>
            <a:off x="7455560" y="1669030"/>
            <a:ext cx="4467616" cy="1594401"/>
          </a:xfrm>
          <a:prstGeom prst="roundRect">
            <a:avLst>
              <a:gd name="adj" fmla="val 16670"/>
            </a:avLst>
          </a:prstGeom>
          <a:solidFill>
            <a:srgbClr val="FFC000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8502047"/>
              <a:satOff val="-8328"/>
              <a:lumOff val="5490"/>
              <a:alphaOff val="0"/>
            </a:schemeClr>
          </a:fillRef>
          <a:effectRef idx="2">
            <a:schemeClr val="accent3">
              <a:hueOff val="8502047"/>
              <a:satOff val="-8328"/>
              <a:lumOff val="5490"/>
              <a:alphaOff val="0"/>
            </a:schemeClr>
          </a:effectRef>
          <a:fontRef idx="minor">
            <a:schemeClr val="lt1"/>
          </a:fontRef>
        </p:style>
        <p:txBody>
          <a:bodyPr anchor="t"/>
          <a:lstStyle/>
          <a:p>
            <a:pPr marL="342900" indent="-342900">
              <a:buSzPct val="200000"/>
              <a:buBlip>
                <a:blip r:embed="rId2"/>
              </a:buBlip>
            </a:pPr>
            <a:r>
              <a:rPr lang="en-US" sz="2700" b="1" dirty="0">
                <a:solidFill>
                  <a:srgbClr val="E8E8E8">
                    <a:lumMod val="25000"/>
                  </a:srgbClr>
                </a:solidFill>
                <a:latin typeface="Aptos" panose="02110004020202020204"/>
              </a:rPr>
              <a:t>Dequeue: Rear is only changed when deleting a single value in Queue.</a:t>
            </a:r>
            <a:endParaRPr lang="en-PK" sz="2700" b="1" dirty="0">
              <a:solidFill>
                <a:srgbClr val="E8E8E8">
                  <a:lumMod val="25000"/>
                </a:srgbClr>
              </a:solidFill>
              <a:latin typeface="Aptos" panose="0211000402020202020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EFB417-1E98-AB47-DD03-5EF21A6E18F6}"/>
              </a:ext>
            </a:extLst>
          </p:cNvPr>
          <p:cNvSpPr/>
          <p:nvPr/>
        </p:nvSpPr>
        <p:spPr>
          <a:xfrm>
            <a:off x="1361398" y="2110210"/>
            <a:ext cx="2206265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</a:rPr>
              <a:t>delete front ;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9F8307-0458-49C6-B5A2-77050018CA79}"/>
              </a:ext>
            </a:extLst>
          </p:cNvPr>
          <p:cNvSpPr/>
          <p:nvPr/>
        </p:nvSpPr>
        <p:spPr>
          <a:xfrm>
            <a:off x="3732553" y="2110210"/>
            <a:ext cx="3581214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rear = </a:t>
            </a:r>
            <a:r>
              <a:rPr lang="en-US" sz="2800" b="1" dirty="0" err="1">
                <a:solidFill>
                  <a:schemeClr val="bg1"/>
                </a:solidFill>
              </a:rPr>
              <a:t>nullptr</a:t>
            </a:r>
            <a:r>
              <a:rPr lang="en-US" sz="2800" b="1" dirty="0">
                <a:solidFill>
                  <a:schemeClr val="bg1"/>
                </a:solidFill>
              </a:rPr>
              <a:t> 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BE881C-F238-9D80-DB83-D871B272F53E}"/>
              </a:ext>
            </a:extLst>
          </p:cNvPr>
          <p:cNvGrpSpPr/>
          <p:nvPr/>
        </p:nvGrpSpPr>
        <p:grpSpPr>
          <a:xfrm>
            <a:off x="7455560" y="3837634"/>
            <a:ext cx="4058473" cy="267645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F5F4390-AA14-F682-5074-4DF38895376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242C1F2D-82D3-52EF-41B4-3AB32A7EEBE5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Deletion in Queue is done at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front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end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4CBA49-F925-5480-205B-37A244123AEF}"/>
              </a:ext>
            </a:extLst>
          </p:cNvPr>
          <p:cNvSpPr/>
          <p:nvPr/>
        </p:nvSpPr>
        <p:spPr>
          <a:xfrm>
            <a:off x="1901605" y="3317428"/>
            <a:ext cx="328499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Node *temp = front;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89F948-1509-A7C9-B016-11E16C520012}"/>
              </a:ext>
            </a:extLst>
          </p:cNvPr>
          <p:cNvSpPr/>
          <p:nvPr/>
        </p:nvSpPr>
        <p:spPr>
          <a:xfrm>
            <a:off x="1901605" y="3886225"/>
            <a:ext cx="340547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/>
                </a:solidFill>
              </a:rPr>
              <a:t>front = front -&gt; next 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6D5F57-DBF7-22F3-F95E-4D215C3A5611}"/>
              </a:ext>
            </a:extLst>
          </p:cNvPr>
          <p:cNvSpPr/>
          <p:nvPr/>
        </p:nvSpPr>
        <p:spPr>
          <a:xfrm>
            <a:off x="1872780" y="4440032"/>
            <a:ext cx="346312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rear -&gt; next = front 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378CA2-9136-28C0-8698-8B216863E343}"/>
              </a:ext>
            </a:extLst>
          </p:cNvPr>
          <p:cNvSpPr/>
          <p:nvPr/>
        </p:nvSpPr>
        <p:spPr>
          <a:xfrm>
            <a:off x="1858945" y="4947449"/>
            <a:ext cx="3463122" cy="404734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</a:rPr>
              <a:t>delete temp ;</a:t>
            </a:r>
          </a:p>
        </p:txBody>
      </p:sp>
    </p:spTree>
    <p:extLst>
      <p:ext uri="{BB962C8B-B14F-4D97-AF65-F5344CB8AC3E}">
        <p14:creationId xmlns:p14="http://schemas.microsoft.com/office/powerpoint/2010/main" val="133132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7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5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  <p:bldP spid="12" grpId="0" animBg="1"/>
      <p:bldP spid="12" grpId="1" animBg="1"/>
      <p:bldP spid="2" grpId="0" animBg="1"/>
      <p:bldP spid="2" grpId="1" animBg="1"/>
      <p:bldP spid="4" grpId="0" animBg="1"/>
      <p:bldP spid="4" grpId="1" animBg="1"/>
      <p:bldP spid="6" grpId="0" animBg="1"/>
      <p:bldP spid="6" grpId="1" animBg="1"/>
      <p:bldP spid="16" grpId="0" animBg="1"/>
      <p:bldP spid="16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FB3A0-BEF2-0922-2038-A20407E1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9FB64-F841-F57C-184B-6E7A0159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3042"/>
            <a:ext cx="5921115" cy="6165082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(front ==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Node*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front;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elements: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&lt;&lt; "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AA329-24A3-E14C-DCE1-C3D628A72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F00BE2-DFAA-7B43-9CB6-DB23AB68E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display: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844569-9555-2D58-DF7D-9F88A7A8B961}"/>
              </a:ext>
            </a:extLst>
          </p:cNvPr>
          <p:cNvSpPr txBox="1">
            <a:spLocks/>
          </p:cNvSpPr>
          <p:nvPr/>
        </p:nvSpPr>
        <p:spPr>
          <a:xfrm>
            <a:off x="6096000" y="639620"/>
            <a:ext cx="5713995" cy="61485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return;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-&gt; data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74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36E50-75D0-DA76-BE14-0B21CAE5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F24B6-7E3B-8D40-D339-D46A0181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3042"/>
            <a:ext cx="5921115" cy="6165082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(front ==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Node*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front;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elements: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{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&lt;&lt; " ";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next;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while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front);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157C3-FC4C-F212-5449-950B1586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4F5D3D-3E42-7F48-0AA3-1D4831A1D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display: Circular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31C5C73-2778-DDC4-9C1E-7F7F678371BE}"/>
              </a:ext>
            </a:extLst>
          </p:cNvPr>
          <p:cNvSpPr txBox="1">
            <a:spLocks/>
          </p:cNvSpPr>
          <p:nvPr/>
        </p:nvSpPr>
        <p:spPr>
          <a:xfrm>
            <a:off x="6096000" y="639620"/>
            <a:ext cx="5713995" cy="61485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PK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return;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-&gt; data</a:t>
            </a: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Destructor to free memory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~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CircularQueue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(front != NULL)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dequeue();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3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3921-78D9-A617-C9FE-EFB1F8C61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B79E8-C53E-DD5E-97E6-8C1EA667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88" y="184665"/>
            <a:ext cx="10401300" cy="639794"/>
          </a:xfrm>
        </p:spPr>
        <p:txBody>
          <a:bodyPr/>
          <a:lstStyle/>
          <a:p>
            <a:pPr algn="ctr"/>
            <a:r>
              <a:rPr lang="en-US" dirty="0"/>
              <a:t>Double Ended Queue (Deque)</a:t>
            </a:r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351CE-9B85-D76F-F147-90011B14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D0252B-5F15-FABB-B830-7D1855897A79}"/>
              </a:ext>
            </a:extLst>
          </p:cNvPr>
          <p:cNvSpPr txBox="1">
            <a:spLocks/>
          </p:cNvSpPr>
          <p:nvPr/>
        </p:nvSpPr>
        <p:spPr>
          <a:xfrm>
            <a:off x="594360" y="974361"/>
            <a:ext cx="10393428" cy="551851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PK"/>
            </a:defPPr>
            <a:lvl1pPr marL="342900" indent="-342900" defTabSz="800110">
              <a:lnSpc>
                <a:spcPct val="90000"/>
              </a:lnSpc>
              <a:spcBef>
                <a:spcPts val="875"/>
              </a:spcBef>
              <a:buSzPct val="154000"/>
              <a:buFont typeface="Arial" panose="020B0604020202020204" pitchFamily="34" charset="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2500"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r>
              <a:rPr lang="en-US" dirty="0"/>
              <a:t>Pronounced "deck".</a:t>
            </a:r>
          </a:p>
          <a:p>
            <a:r>
              <a:rPr lang="en-US" dirty="0"/>
              <a:t> A linear data structure that allows insertion and deletion of elements from both the front (head) and the back (tail).</a:t>
            </a:r>
          </a:p>
          <a:p>
            <a:r>
              <a:rPr lang="en-US" dirty="0"/>
              <a:t>A train with doors at both the front and the back, allowing passengers to enter and exit from either end.</a:t>
            </a:r>
          </a:p>
          <a:p>
            <a:r>
              <a:rPr lang="en-US" dirty="0"/>
              <a:t>Combines the features of both a queue and a stack.</a:t>
            </a:r>
          </a:p>
          <a:p>
            <a:r>
              <a:rPr lang="en-US" dirty="0"/>
              <a:t>More flexible than a standard queue or stack for certain applications.</a:t>
            </a:r>
          </a:p>
          <a:p>
            <a:r>
              <a:rPr lang="en-US" dirty="0"/>
              <a:t>Undo/Redo Functionality</a:t>
            </a:r>
          </a:p>
          <a:p>
            <a:r>
              <a:rPr lang="en-US" dirty="0"/>
              <a:t>Browsing History</a:t>
            </a:r>
          </a:p>
          <a:p>
            <a:r>
              <a:rPr lang="en-US" dirty="0"/>
              <a:t>Palindrome Checking</a:t>
            </a:r>
          </a:p>
          <a:p>
            <a:r>
              <a:rPr lang="en-US" dirty="0"/>
              <a:t>Sliding Window Algorithms</a:t>
            </a:r>
          </a:p>
          <a:p>
            <a:r>
              <a:rPr lang="en-US" dirty="0"/>
              <a:t>Web Server Request Handling</a:t>
            </a:r>
            <a:endParaRPr lang="en-PK" altLang="en-P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2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732D-6AE0-35F4-1A7B-D489F942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55C32-4E7D-8F16-74E5-97D5E1906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0" y="820399"/>
            <a:ext cx="6312292" cy="6037601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Node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data;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next;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Node(int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=0) : data(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next(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}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Deque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    Node *front, *rear;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Deque( ){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= rear =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E2500-DE18-35D2-274B-54C7D7C75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557D9F7-E78D-2666-E929-AEA7DB74FDA6}"/>
              </a:ext>
            </a:extLst>
          </p:cNvPr>
          <p:cNvSpPr txBox="1">
            <a:spLocks/>
          </p:cNvSpPr>
          <p:nvPr/>
        </p:nvSpPr>
        <p:spPr>
          <a:xfrm>
            <a:off x="6805533" y="820399"/>
            <a:ext cx="5133067" cy="60376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{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(front == NULL);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peekFront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 !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) 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front-&gt;data;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&lt;&lt;"Deque is empty";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peekRear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 !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) 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return rear-&gt;data;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&lt;&lt;"Deque is empty";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DDD5F2-02C6-245C-FD75-09AF18E8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3" y="203198"/>
            <a:ext cx="10645720" cy="5572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Implementing Deque (ADT using Linked List)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5649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7CE7-52B9-D799-EF33-D17C672CA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E180-2B73-B2EE-8FFB-C385F376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8D81FB-9CD7-5C44-1A08-44383B8BC843}"/>
              </a:ext>
            </a:extLst>
          </p:cNvPr>
          <p:cNvSpPr txBox="1">
            <a:spLocks/>
          </p:cNvSpPr>
          <p:nvPr/>
        </p:nvSpPr>
        <p:spPr>
          <a:xfrm>
            <a:off x="536942" y="956832"/>
            <a:ext cx="7422835" cy="579623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front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Front(int value)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at Rear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Rear(int value)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at front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sz="2400" b="1" dirty="0"/>
              <a:t>dequeue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at Rear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400" b="1" dirty="0"/>
              <a:t>dequeue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Rear() 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Display queue elements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Free Memory 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~Deque( )</a:t>
            </a:r>
          </a:p>
          <a:p>
            <a:pPr marL="409194" indent="-457200">
              <a:buFont typeface="+mj-lt"/>
              <a:buAutoNum type="arabicPeriod" startAt="14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5DA46C-8B39-740C-BB31-DC3C6CE3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3" y="203198"/>
            <a:ext cx="10645720" cy="5572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Implementing Deque (ADT using Linked List)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9230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3983-F7DA-0CC1-DCD3-FBAADC01F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AACC9C5-B5B2-4AB7-33FE-CCCCD49FC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30" y="37778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/>
              <a:t>EnqueueFront</a:t>
            </a:r>
            <a:r>
              <a:rPr lang="en-US" dirty="0"/>
              <a:t>: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ABEE4-A324-5ED4-711E-C73D4A46F823}"/>
              </a:ext>
            </a:extLst>
          </p:cNvPr>
          <p:cNvSpPr txBox="1"/>
          <p:nvPr/>
        </p:nvSpPr>
        <p:spPr>
          <a:xfrm>
            <a:off x="288560" y="429232"/>
            <a:ext cx="7686207" cy="639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enqueue</a:t>
            </a:r>
            <a:r>
              <a:rPr lang="en-PK" sz="2800" dirty="0"/>
              <a:t>Front</a:t>
            </a:r>
            <a:r>
              <a:rPr lang="en-US" sz="2800" dirty="0"/>
              <a:t>(int value) 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cout</a:t>
            </a:r>
            <a:r>
              <a:rPr lang="en-US" sz="2800" dirty="0"/>
              <a:t> &lt;&lt; "Inserted at front: " &lt;&lt; value &lt;&lt; 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       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3BF317-BA95-D37F-ACC5-4A1D0201C66F}"/>
              </a:ext>
            </a:extLst>
          </p:cNvPr>
          <p:cNvSpPr/>
          <p:nvPr/>
        </p:nvSpPr>
        <p:spPr>
          <a:xfrm>
            <a:off x="1246280" y="881175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Node* </a:t>
            </a: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new Node(value)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04C06-E5FB-D5CF-656A-B8FC7569F470}"/>
              </a:ext>
            </a:extLst>
          </p:cNvPr>
          <p:cNvSpPr/>
          <p:nvPr/>
        </p:nvSpPr>
        <p:spPr>
          <a:xfrm>
            <a:off x="1246280" y="1543241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</a:rPr>
              <a:t>-&gt;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next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front;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602D37-F46C-BFD7-DC60-22C737E07794}"/>
              </a:ext>
            </a:extLst>
          </p:cNvPr>
          <p:cNvSpPr/>
          <p:nvPr/>
        </p:nvSpPr>
        <p:spPr>
          <a:xfrm>
            <a:off x="1256273" y="2205307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isEmpty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( )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496255-5F43-55E2-1984-348F66EF180F}"/>
              </a:ext>
            </a:extLst>
          </p:cNvPr>
          <p:cNvSpPr/>
          <p:nvPr/>
        </p:nvSpPr>
        <p:spPr>
          <a:xfrm>
            <a:off x="2125693" y="2859380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rear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newNode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145C78-6E82-DC1C-BAEC-6604DB6A2953}"/>
              </a:ext>
            </a:extLst>
          </p:cNvPr>
          <p:cNvSpPr/>
          <p:nvPr/>
        </p:nvSpPr>
        <p:spPr>
          <a:xfrm>
            <a:off x="1256273" y="351345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else {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F40291-C8F0-D3C7-8434-4CA47C2B4D4E}"/>
              </a:ext>
            </a:extLst>
          </p:cNvPr>
          <p:cNvSpPr/>
          <p:nvPr/>
        </p:nvSpPr>
        <p:spPr>
          <a:xfrm>
            <a:off x="2125693" y="4115763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front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</a:rPr>
              <a:t>-&gt;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</a:t>
            </a: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prev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</a:t>
            </a:r>
            <a:r>
              <a:rPr kumimoji="0" lang="en-US" sz="2500" b="1" i="0" u="none" strike="noStrike" kern="0" cap="none" spc="0" normalizeH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C9F658-7786-ECAC-9F91-12701D1AB5EA}"/>
              </a:ext>
            </a:extLst>
          </p:cNvPr>
          <p:cNvSpPr/>
          <p:nvPr/>
        </p:nvSpPr>
        <p:spPr>
          <a:xfrm>
            <a:off x="2154942" y="4769836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newNode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38CF62-FC2A-3635-7000-77D4FBB77B60}"/>
              </a:ext>
            </a:extLst>
          </p:cNvPr>
          <p:cNvSpPr/>
          <p:nvPr/>
        </p:nvSpPr>
        <p:spPr>
          <a:xfrm>
            <a:off x="1246280" y="535626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78870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2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F9A5-1C32-4432-DE79-0911BFD0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E16CCF-CF70-B5BA-A2BD-49D2E9A9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30" y="37778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/>
              <a:t>EnqueueRear</a:t>
            </a:r>
            <a:r>
              <a:rPr lang="en-US" dirty="0"/>
              <a:t>: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99FAB-9793-7859-F187-6C24A7C5D2DF}"/>
              </a:ext>
            </a:extLst>
          </p:cNvPr>
          <p:cNvSpPr txBox="1"/>
          <p:nvPr/>
        </p:nvSpPr>
        <p:spPr>
          <a:xfrm>
            <a:off x="288560" y="429232"/>
            <a:ext cx="7686207" cy="639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</a:t>
            </a:r>
            <a:r>
              <a:rPr lang="en-US" sz="2800" dirty="0" err="1"/>
              <a:t>enqueueRear</a:t>
            </a:r>
            <a:r>
              <a:rPr lang="en-US" sz="2800" dirty="0"/>
              <a:t>(int value) 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cout</a:t>
            </a:r>
            <a:r>
              <a:rPr lang="en-US" sz="2800" dirty="0"/>
              <a:t> &lt;&lt; "Inserted at rear: " &lt;&lt; value &lt;&lt; </a:t>
            </a:r>
            <a:r>
              <a:rPr lang="en-US" sz="2800" dirty="0" err="1"/>
              <a:t>endl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       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AFC226-1B71-66C3-987A-9FBC544D197A}"/>
              </a:ext>
            </a:extLst>
          </p:cNvPr>
          <p:cNvSpPr/>
          <p:nvPr/>
        </p:nvSpPr>
        <p:spPr>
          <a:xfrm>
            <a:off x="1246280" y="881175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Node* </a:t>
            </a: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new Node(value)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5DBAC5-5C47-3390-B8D4-12D827AF9FB9}"/>
              </a:ext>
            </a:extLst>
          </p:cNvPr>
          <p:cNvSpPr/>
          <p:nvPr/>
        </p:nvSpPr>
        <p:spPr>
          <a:xfrm>
            <a:off x="1246280" y="1543241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</a:rPr>
              <a:t>-&gt;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</a:t>
            </a: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prev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rear;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83536E-4786-B08D-F105-76B0A4A33B5D}"/>
              </a:ext>
            </a:extLst>
          </p:cNvPr>
          <p:cNvSpPr/>
          <p:nvPr/>
        </p:nvSpPr>
        <p:spPr>
          <a:xfrm>
            <a:off x="1256273" y="2205307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isEmpty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( )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E5F96C-D957-2F94-7D55-86BAF44AA819}"/>
              </a:ext>
            </a:extLst>
          </p:cNvPr>
          <p:cNvSpPr/>
          <p:nvPr/>
        </p:nvSpPr>
        <p:spPr>
          <a:xfrm>
            <a:off x="2125693" y="2859380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rear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newNode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3B18C3-E097-2D0F-C467-618124951229}"/>
              </a:ext>
            </a:extLst>
          </p:cNvPr>
          <p:cNvSpPr/>
          <p:nvPr/>
        </p:nvSpPr>
        <p:spPr>
          <a:xfrm>
            <a:off x="1256273" y="351345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else {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8426CB-69DE-B3F8-75E6-A9374F42A79B}"/>
              </a:ext>
            </a:extLst>
          </p:cNvPr>
          <p:cNvSpPr/>
          <p:nvPr/>
        </p:nvSpPr>
        <p:spPr>
          <a:xfrm>
            <a:off x="2125693" y="4115763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rear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</a:rPr>
              <a:t>-&gt;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next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</a:t>
            </a:r>
            <a:r>
              <a:rPr kumimoji="0" lang="en-US" sz="2500" b="1" i="0" u="none" strike="noStrike" kern="0" cap="none" spc="0" normalizeH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533F84-9085-786B-6757-09D3B45CEEFF}"/>
              </a:ext>
            </a:extLst>
          </p:cNvPr>
          <p:cNvSpPr/>
          <p:nvPr/>
        </p:nvSpPr>
        <p:spPr>
          <a:xfrm>
            <a:off x="2154942" y="4769836"/>
            <a:ext cx="5224470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rear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newNode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87B73E-E957-D4C1-3C67-39B05CB19DE1}"/>
              </a:ext>
            </a:extLst>
          </p:cNvPr>
          <p:cNvSpPr/>
          <p:nvPr/>
        </p:nvSpPr>
        <p:spPr>
          <a:xfrm>
            <a:off x="1246280" y="535626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20466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4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0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6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2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F6B77-6EF9-5252-3201-9CCA98C6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A9C0EE8-DFF0-8DA5-2562-DACEF909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30" y="37778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/>
              <a:t>DequeueFront</a:t>
            </a:r>
            <a:r>
              <a:rPr lang="en-US" dirty="0"/>
              <a:t>: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9032F6-0262-E451-43A9-D3110A0E21B1}"/>
              </a:ext>
            </a:extLst>
          </p:cNvPr>
          <p:cNvSpPr txBox="1"/>
          <p:nvPr/>
        </p:nvSpPr>
        <p:spPr>
          <a:xfrm>
            <a:off x="288560" y="429232"/>
            <a:ext cx="7686207" cy="639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dequeue</a:t>
            </a:r>
            <a:r>
              <a:rPr lang="en-PK" sz="2800" dirty="0"/>
              <a:t>Front</a:t>
            </a:r>
            <a:r>
              <a:rPr lang="en-US" sz="2800" dirty="0"/>
              <a:t>( ) 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}       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1DDA6-8904-6732-FBC9-9020A9BA216A}"/>
              </a:ext>
            </a:extLst>
          </p:cNvPr>
          <p:cNvSpPr/>
          <p:nvPr/>
        </p:nvSpPr>
        <p:spPr>
          <a:xfrm>
            <a:off x="1246280" y="972865"/>
            <a:ext cx="3250769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isEmpty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( )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F63313-D88C-4C39-76D9-91E2AC52E37B}"/>
              </a:ext>
            </a:extLst>
          </p:cNvPr>
          <p:cNvSpPr/>
          <p:nvPr/>
        </p:nvSpPr>
        <p:spPr>
          <a:xfrm>
            <a:off x="2154942" y="1588244"/>
            <a:ext cx="412593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{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cout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&lt;&lt;“\n deque is empty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334E9E-D85C-EF41-676B-2F8C8BD511FB}"/>
              </a:ext>
            </a:extLst>
          </p:cNvPr>
          <p:cNvSpPr/>
          <p:nvPr/>
        </p:nvSpPr>
        <p:spPr>
          <a:xfrm>
            <a:off x="6310859" y="1588244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return; 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B4B88A-A609-961F-2331-245032D12BCE}"/>
              </a:ext>
            </a:extLst>
          </p:cNvPr>
          <p:cNvSpPr/>
          <p:nvPr/>
        </p:nvSpPr>
        <p:spPr>
          <a:xfrm>
            <a:off x="1246280" y="2269866"/>
            <a:ext cx="2876015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Node* temp = front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DCDEBA-E4C5-8CB3-664F-C49BEA2F7E1A}"/>
              </a:ext>
            </a:extLst>
          </p:cNvPr>
          <p:cNvSpPr/>
          <p:nvPr/>
        </p:nvSpPr>
        <p:spPr>
          <a:xfrm>
            <a:off x="4232899" y="2266019"/>
            <a:ext cx="735449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 err="1">
                <a:solidFill>
                  <a:srgbClr val="002060"/>
                </a:solidFill>
              </a:rPr>
              <a:t>cout</a:t>
            </a:r>
            <a:r>
              <a:rPr lang="en-US" sz="2500" b="1" kern="0" dirty="0">
                <a:solidFill>
                  <a:srgbClr val="002060"/>
                </a:solidFill>
              </a:rPr>
              <a:t> &lt;&lt; "Deleted from front: " &lt;&lt; front-&gt;data &lt;&lt; </a:t>
            </a:r>
            <a:r>
              <a:rPr lang="en-US" sz="2500" b="1" kern="0" dirty="0" err="1">
                <a:solidFill>
                  <a:srgbClr val="002060"/>
                </a:solidFill>
              </a:rPr>
              <a:t>endl</a:t>
            </a:r>
            <a:r>
              <a:rPr lang="en-US" sz="2500" b="1" kern="0" dirty="0">
                <a:solidFill>
                  <a:srgbClr val="002060"/>
                </a:solidFill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51A00-4E34-245A-E0EC-E5B88629C9F3}"/>
              </a:ext>
            </a:extLst>
          </p:cNvPr>
          <p:cNvSpPr/>
          <p:nvPr/>
        </p:nvSpPr>
        <p:spPr>
          <a:xfrm>
            <a:off x="1246280" y="2943794"/>
            <a:ext cx="3250769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front == rear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2601E-E1F8-C8F0-F532-16FF40175036}"/>
              </a:ext>
            </a:extLst>
          </p:cNvPr>
          <p:cNvSpPr/>
          <p:nvPr/>
        </p:nvSpPr>
        <p:spPr>
          <a:xfrm>
            <a:off x="4556612" y="2943794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rear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nullptr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BD6E04-63EA-DE82-5863-A5BFE8976492}"/>
              </a:ext>
            </a:extLst>
          </p:cNvPr>
          <p:cNvSpPr/>
          <p:nvPr/>
        </p:nvSpPr>
        <p:spPr>
          <a:xfrm>
            <a:off x="1256273" y="355842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else {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86E20C-27F3-B938-4CEA-953B8C4B7263}"/>
              </a:ext>
            </a:extLst>
          </p:cNvPr>
          <p:cNvSpPr/>
          <p:nvPr/>
        </p:nvSpPr>
        <p:spPr>
          <a:xfrm>
            <a:off x="2588755" y="4194257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front -&gt; next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B6606A-93A7-7D29-0DCA-EDF5D7935E0D}"/>
              </a:ext>
            </a:extLst>
          </p:cNvPr>
          <p:cNvSpPr/>
          <p:nvPr/>
        </p:nvSpPr>
        <p:spPr>
          <a:xfrm>
            <a:off x="2631424" y="4808886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front -&gt;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prev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nullptr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A1AF81-1318-0687-7433-CF264F6E0BCA}"/>
              </a:ext>
            </a:extLst>
          </p:cNvPr>
          <p:cNvSpPr/>
          <p:nvPr/>
        </p:nvSpPr>
        <p:spPr>
          <a:xfrm>
            <a:off x="1246280" y="541622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186310-D59F-F600-6C30-8CE780208250}"/>
              </a:ext>
            </a:extLst>
          </p:cNvPr>
          <p:cNvSpPr/>
          <p:nvPr/>
        </p:nvSpPr>
        <p:spPr>
          <a:xfrm>
            <a:off x="1256273" y="5988865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delete temp;</a:t>
            </a:r>
          </a:p>
        </p:txBody>
      </p:sp>
    </p:spTree>
    <p:extLst>
      <p:ext uri="{BB962C8B-B14F-4D97-AF65-F5344CB8AC3E}">
        <p14:creationId xmlns:p14="http://schemas.microsoft.com/office/powerpoint/2010/main" val="141707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9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5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23" grpId="0" animBg="1"/>
      <p:bldP spid="23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668D-3685-B268-A074-C784EE9B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2D3119F-0A41-28BE-01F0-A573F17A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430" y="37778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err="1"/>
              <a:t>DequeueRear</a:t>
            </a:r>
            <a:r>
              <a:rPr lang="en-US" dirty="0"/>
              <a:t>: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89272B-8A07-73D2-DC28-78163EA85265}"/>
              </a:ext>
            </a:extLst>
          </p:cNvPr>
          <p:cNvSpPr txBox="1"/>
          <p:nvPr/>
        </p:nvSpPr>
        <p:spPr>
          <a:xfrm>
            <a:off x="288560" y="429232"/>
            <a:ext cx="7686207" cy="639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</a:t>
            </a:r>
            <a:r>
              <a:rPr lang="en-US" sz="2800" dirty="0" err="1"/>
              <a:t>dequeueRear</a:t>
            </a:r>
            <a:r>
              <a:rPr lang="en-US" sz="2800" dirty="0"/>
              <a:t>( ) 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}       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53EA2-1807-05FD-C454-EF6935A7CC4E}"/>
              </a:ext>
            </a:extLst>
          </p:cNvPr>
          <p:cNvSpPr/>
          <p:nvPr/>
        </p:nvSpPr>
        <p:spPr>
          <a:xfrm>
            <a:off x="1246280" y="972865"/>
            <a:ext cx="3250769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isEmpty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( )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D22DA-538F-61F3-B19A-C4E7A3F74676}"/>
              </a:ext>
            </a:extLst>
          </p:cNvPr>
          <p:cNvSpPr/>
          <p:nvPr/>
        </p:nvSpPr>
        <p:spPr>
          <a:xfrm>
            <a:off x="2154942" y="1588244"/>
            <a:ext cx="412593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{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cout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&lt;&lt;“\n deque is empty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47A755-F69B-8673-BE53-669AE7F1492D}"/>
              </a:ext>
            </a:extLst>
          </p:cNvPr>
          <p:cNvSpPr/>
          <p:nvPr/>
        </p:nvSpPr>
        <p:spPr>
          <a:xfrm>
            <a:off x="6310859" y="1588244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return; 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437FC-52B0-43FF-16E9-D6A4A74DC3CD}"/>
              </a:ext>
            </a:extLst>
          </p:cNvPr>
          <p:cNvSpPr/>
          <p:nvPr/>
        </p:nvSpPr>
        <p:spPr>
          <a:xfrm>
            <a:off x="1246280" y="2269866"/>
            <a:ext cx="2876015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Node* temp = rear;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4AF5F2-B441-CBC1-938D-812A604A15D4}"/>
              </a:ext>
            </a:extLst>
          </p:cNvPr>
          <p:cNvSpPr/>
          <p:nvPr/>
        </p:nvSpPr>
        <p:spPr>
          <a:xfrm>
            <a:off x="4232899" y="2266019"/>
            <a:ext cx="735449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 err="1">
                <a:solidFill>
                  <a:srgbClr val="002060"/>
                </a:solidFill>
              </a:rPr>
              <a:t>cout</a:t>
            </a:r>
            <a:r>
              <a:rPr lang="en-US" sz="2500" b="1" kern="0" dirty="0">
                <a:solidFill>
                  <a:srgbClr val="002060"/>
                </a:solidFill>
              </a:rPr>
              <a:t> &lt;&lt; "Deleted from rear: " &lt;&lt; rear-&gt;data &lt;&lt; </a:t>
            </a:r>
            <a:r>
              <a:rPr lang="en-US" sz="2500" b="1" kern="0" dirty="0" err="1">
                <a:solidFill>
                  <a:srgbClr val="002060"/>
                </a:solidFill>
              </a:rPr>
              <a:t>endl</a:t>
            </a:r>
            <a:r>
              <a:rPr lang="en-US" sz="2500" b="1" kern="0" dirty="0">
                <a:solidFill>
                  <a:srgbClr val="002060"/>
                </a:solidFill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52CDFA-D604-27E2-44EC-412E55D84822}"/>
              </a:ext>
            </a:extLst>
          </p:cNvPr>
          <p:cNvSpPr/>
          <p:nvPr/>
        </p:nvSpPr>
        <p:spPr>
          <a:xfrm>
            <a:off x="1246280" y="2943794"/>
            <a:ext cx="3250769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front == rear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90782-7B5B-B16A-CEAE-3D7123A53DAD}"/>
              </a:ext>
            </a:extLst>
          </p:cNvPr>
          <p:cNvSpPr/>
          <p:nvPr/>
        </p:nvSpPr>
        <p:spPr>
          <a:xfrm>
            <a:off x="4556612" y="2943794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rear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nullptr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3CFD0-89FD-109F-CC9A-D0B086033886}"/>
              </a:ext>
            </a:extLst>
          </p:cNvPr>
          <p:cNvSpPr/>
          <p:nvPr/>
        </p:nvSpPr>
        <p:spPr>
          <a:xfrm>
            <a:off x="1256273" y="355842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else {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D29C32-70B3-6607-AA96-12AFFFF58CB6}"/>
              </a:ext>
            </a:extLst>
          </p:cNvPr>
          <p:cNvSpPr/>
          <p:nvPr/>
        </p:nvSpPr>
        <p:spPr>
          <a:xfrm>
            <a:off x="2588755" y="4194257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rear 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= rear -&gt;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prev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6F998-5AA7-D170-EC1E-DBBC0CD21D48}"/>
              </a:ext>
            </a:extLst>
          </p:cNvPr>
          <p:cNvSpPr/>
          <p:nvPr/>
        </p:nvSpPr>
        <p:spPr>
          <a:xfrm>
            <a:off x="2631424" y="4808886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rear -&gt; next=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nullptr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12807C-301A-CF00-D74F-48B71733113A}"/>
              </a:ext>
            </a:extLst>
          </p:cNvPr>
          <p:cNvSpPr/>
          <p:nvPr/>
        </p:nvSpPr>
        <p:spPr>
          <a:xfrm>
            <a:off x="1246280" y="5416223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465A85-26A0-31F8-76CA-D2950AE5A003}"/>
              </a:ext>
            </a:extLst>
          </p:cNvPr>
          <p:cNvSpPr/>
          <p:nvPr/>
        </p:nvSpPr>
        <p:spPr>
          <a:xfrm>
            <a:off x="1256273" y="5988865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delete temp;</a:t>
            </a:r>
          </a:p>
        </p:txBody>
      </p:sp>
    </p:spTree>
    <p:extLst>
      <p:ext uri="{BB962C8B-B14F-4D97-AF65-F5344CB8AC3E}">
        <p14:creationId xmlns:p14="http://schemas.microsoft.com/office/powerpoint/2010/main" val="423074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9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5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23" grpId="0" animBg="1"/>
      <p:bldP spid="23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6ACE-9E0D-48D7-B90E-C591F933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D38F-4AE2-AE20-13A6-E189ABF06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3042"/>
            <a:ext cx="5921115" cy="6165082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(front ==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is empty!\n";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Node*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front;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"Queue elements: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&lt;&lt; "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A453D-3304-D24F-F6CE-6CFA0A81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14F011-F56E-E530-36D9-D7DF7D26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display: Deque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53A550-1218-9F8F-98DF-AA3A814611F2}"/>
              </a:ext>
            </a:extLst>
          </p:cNvPr>
          <p:cNvSpPr txBox="1">
            <a:spLocks/>
          </p:cNvSpPr>
          <p:nvPr/>
        </p:nvSpPr>
        <p:spPr>
          <a:xfrm>
            <a:off x="6096000" y="639620"/>
            <a:ext cx="5713995" cy="61485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Destructor to free memory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~Deque() {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(!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dequeueFront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19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D66B-8ACF-8BDB-F855-0C4B6243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D3F6-B278-2BDF-F289-50E017DF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88" y="184665"/>
            <a:ext cx="10401300" cy="639794"/>
          </a:xfrm>
        </p:spPr>
        <p:txBody>
          <a:bodyPr/>
          <a:lstStyle/>
          <a:p>
            <a:pPr algn="ctr"/>
            <a:r>
              <a:rPr lang="en-US" dirty="0"/>
              <a:t>Priority Queue </a:t>
            </a:r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747EA-BC05-1ED6-1880-88B0A0BB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E1EBEFC-8AD4-C980-D6A1-17DEDD294353}"/>
              </a:ext>
            </a:extLst>
          </p:cNvPr>
          <p:cNvSpPr txBox="1">
            <a:spLocks/>
          </p:cNvSpPr>
          <p:nvPr/>
        </p:nvSpPr>
        <p:spPr>
          <a:xfrm>
            <a:off x="594360" y="974361"/>
            <a:ext cx="10393428" cy="551851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PK"/>
            </a:defPPr>
            <a:lvl1pPr marL="342900" indent="-342900" defTabSz="800110">
              <a:lnSpc>
                <a:spcPct val="90000"/>
              </a:lnSpc>
              <a:spcBef>
                <a:spcPts val="875"/>
              </a:spcBef>
              <a:buSzPct val="154000"/>
              <a:buFont typeface="Arial" panose="020B0604020202020204" pitchFamily="34" charset="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2500"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r>
              <a:rPr lang="en-US" b="1" dirty="0"/>
              <a:t>Priority Queue</a:t>
            </a:r>
            <a:r>
              <a:rPr lang="en-US" dirty="0"/>
              <a:t> is a special type of queue in which:</a:t>
            </a:r>
          </a:p>
          <a:p>
            <a:r>
              <a:rPr lang="en-US" dirty="0"/>
              <a:t>Each element is associated with a </a:t>
            </a:r>
            <a:r>
              <a:rPr lang="en-US" b="1" dirty="0"/>
              <a:t>priority</a:t>
            </a:r>
            <a:r>
              <a:rPr lang="en-US" dirty="0"/>
              <a:t>.</a:t>
            </a:r>
          </a:p>
          <a:p>
            <a:r>
              <a:rPr lang="en-US" dirty="0"/>
              <a:t>Elements are </a:t>
            </a:r>
            <a:r>
              <a:rPr lang="en-US" b="1" dirty="0"/>
              <a:t>served based on priority</a:t>
            </a:r>
            <a:r>
              <a:rPr lang="en-US" dirty="0"/>
              <a:t> (higher or lower depending on implementation).</a:t>
            </a:r>
          </a:p>
          <a:p>
            <a:r>
              <a:rPr lang="en-US" dirty="0"/>
              <a:t>If two elements have the same priority, they are served in the order they were inserted (FIFO for equal priority).</a:t>
            </a:r>
          </a:p>
          <a:p>
            <a:r>
              <a:rPr lang="en-US" b="1" dirty="0"/>
              <a:t>Types of Priority Queues:</a:t>
            </a:r>
            <a:endParaRPr lang="en-US" dirty="0"/>
          </a:p>
          <a:p>
            <a:r>
              <a:rPr lang="en-US" b="1" dirty="0"/>
              <a:t>Max-Priority Queue:</a:t>
            </a:r>
            <a:r>
              <a:rPr lang="en-US" dirty="0"/>
              <a:t> In this type, the element with the </a:t>
            </a:r>
            <a:r>
              <a:rPr lang="en-US" b="1" dirty="0"/>
              <a:t>largest</a:t>
            </a:r>
            <a:r>
              <a:rPr lang="en-US" dirty="0"/>
              <a:t> priority value is given the highest priority and is served first.</a:t>
            </a:r>
          </a:p>
          <a:p>
            <a:r>
              <a:rPr lang="en-US" b="1" dirty="0"/>
              <a:t>Min-Priority Queue:</a:t>
            </a:r>
            <a:r>
              <a:rPr lang="en-US" dirty="0"/>
              <a:t> In this type, the element with the </a:t>
            </a:r>
            <a:r>
              <a:rPr lang="en-US" b="1" dirty="0"/>
              <a:t>smallest</a:t>
            </a:r>
            <a:r>
              <a:rPr lang="en-US" dirty="0"/>
              <a:t> priority value is given the highest priority and is served first.</a:t>
            </a:r>
          </a:p>
          <a:p>
            <a:r>
              <a:rPr lang="en-US" dirty="0"/>
              <a:t>We’ll implement a </a:t>
            </a:r>
            <a:r>
              <a:rPr lang="en-US" b="1" dirty="0"/>
              <a:t>Min-Priority Queue</a:t>
            </a:r>
            <a:r>
              <a:rPr lang="en-US" dirty="0"/>
              <a:t> (lower priority number means higher priority).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92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0B2B-DA3E-E8CE-5351-44AFB605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26B90-3F1F-3874-B485-386118AD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0" y="820399"/>
            <a:ext cx="6612095" cy="6037601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Node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data, priority;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 * next;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Node(int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data(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priority(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next(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 }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priorityQueque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    Node *front;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priorityQueque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=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73391-8E09-08E3-7A1D-8E1E22BA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B65D292-AE5F-BF31-E7ED-324E7926D6DB}"/>
              </a:ext>
            </a:extLst>
          </p:cNvPr>
          <p:cNvSpPr txBox="1">
            <a:spLocks/>
          </p:cNvSpPr>
          <p:nvPr/>
        </p:nvSpPr>
        <p:spPr>
          <a:xfrm>
            <a:off x="6985417" y="820399"/>
            <a:ext cx="5096652" cy="60376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insert an element into the queue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enqueue(int value, int priority);   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remove the highest priority element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dequeue();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to display the queue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 );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PriorityQueue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9186610-FEF7-49C7-666F-CE7AC3AD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43" y="83278"/>
            <a:ext cx="10645720" cy="55724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Implementing Priority Queue (ADT)</a:t>
            </a: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5540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50BB8-64E6-4E5D-184F-1C094479D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FC488C1-B5C5-FA15-F011-1D471EC0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772" y="37778"/>
            <a:ext cx="10877007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Enqueue: Priority Queue(ADT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065CF3-3001-C39C-E314-95F5787618CA}"/>
              </a:ext>
            </a:extLst>
          </p:cNvPr>
          <p:cNvSpPr txBox="1"/>
          <p:nvPr/>
        </p:nvSpPr>
        <p:spPr>
          <a:xfrm>
            <a:off x="288560" y="429232"/>
            <a:ext cx="11253866" cy="6398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enqueue(int value, int priority) 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cout</a:t>
            </a:r>
            <a:r>
              <a:rPr lang="en-US" sz="2800" dirty="0"/>
              <a:t> &lt;&lt; "Inserted " &lt;&lt; value &lt;&lt; " with priority " &lt;&lt; priority &lt;&lt; </a:t>
            </a:r>
            <a:r>
              <a:rPr lang="en-US" sz="2800" dirty="0" err="1"/>
              <a:t>endl</a:t>
            </a:r>
            <a:r>
              <a:rPr lang="en-US" sz="2800" dirty="0"/>
              <a:t>;    }       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BB1A06-EDC7-31A9-7B0A-66B2FF49C7C4}"/>
              </a:ext>
            </a:extLst>
          </p:cNvPr>
          <p:cNvSpPr/>
          <p:nvPr/>
        </p:nvSpPr>
        <p:spPr>
          <a:xfrm>
            <a:off x="496773" y="881175"/>
            <a:ext cx="6338743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Node* </a:t>
            </a:r>
            <a:r>
              <a:rPr kumimoji="0" lang="en-US" sz="2500" b="1" i="0" u="none" strike="noStrike" kern="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newNode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 = new Node(value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 , </a:t>
            </a:r>
            <a:r>
              <a:rPr lang="en-US" sz="2400" b="1" dirty="0">
                <a:solidFill>
                  <a:schemeClr val="bg1"/>
                </a:solidFill>
              </a:rPr>
              <a:t>priority</a:t>
            </a:r>
            <a:r>
              <a:rPr kumimoji="0" lang="en-US" sz="25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)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E2F1AE-69A5-10F0-1A77-CA5C0D63BE0C}"/>
              </a:ext>
            </a:extLst>
          </p:cNvPr>
          <p:cNvSpPr/>
          <p:nvPr/>
        </p:nvSpPr>
        <p:spPr>
          <a:xfrm>
            <a:off x="496774" y="1378351"/>
            <a:ext cx="6458662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>
                <a:solidFill>
                  <a:srgbClr val="002060"/>
                </a:solidFill>
              </a:rPr>
              <a:t>if ( front == </a:t>
            </a:r>
            <a:r>
              <a:rPr lang="en-US" sz="2500" b="1" kern="0" dirty="0" err="1">
                <a:solidFill>
                  <a:srgbClr val="002060"/>
                </a:solidFill>
              </a:rPr>
              <a:t>nullptr</a:t>
            </a:r>
            <a:r>
              <a:rPr lang="en-US" sz="2500" b="1" kern="0" dirty="0">
                <a:solidFill>
                  <a:srgbClr val="002060"/>
                </a:solidFill>
              </a:rPr>
              <a:t> || </a:t>
            </a:r>
            <a:r>
              <a:rPr lang="en-US" sz="2500" b="1" kern="0" dirty="0">
                <a:solidFill>
                  <a:schemeClr val="bg1"/>
                </a:solidFill>
              </a:rPr>
              <a:t>priority</a:t>
            </a:r>
            <a:r>
              <a:rPr lang="en-US" sz="2500" b="1" kern="0" dirty="0">
                <a:solidFill>
                  <a:srgbClr val="002060"/>
                </a:solidFill>
              </a:rPr>
              <a:t> </a:t>
            </a:r>
            <a:r>
              <a:rPr lang="en-US" sz="2500" b="1" kern="0" dirty="0">
                <a:solidFill>
                  <a:srgbClr val="FF0000"/>
                </a:solidFill>
              </a:rPr>
              <a:t>&lt;</a:t>
            </a:r>
            <a:r>
              <a:rPr lang="en-US" sz="2500" b="1" kern="0" dirty="0">
                <a:solidFill>
                  <a:srgbClr val="002060"/>
                </a:solidFill>
              </a:rPr>
              <a:t>  front-&gt;priority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175A9-7808-F19B-A47B-9FB70C32D9D7}"/>
              </a:ext>
            </a:extLst>
          </p:cNvPr>
          <p:cNvSpPr/>
          <p:nvPr/>
        </p:nvSpPr>
        <p:spPr>
          <a:xfrm>
            <a:off x="1391181" y="1890517"/>
            <a:ext cx="3630520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newNode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-&gt; next = front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9BBCA8-F518-10CE-7440-41B278D4FD2C}"/>
              </a:ext>
            </a:extLst>
          </p:cNvPr>
          <p:cNvSpPr/>
          <p:nvPr/>
        </p:nvSpPr>
        <p:spPr>
          <a:xfrm>
            <a:off x="5138713" y="1893359"/>
            <a:ext cx="2761101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 = 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newNode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F2148-10C5-0DE1-8A95-BD55AE90FE19}"/>
              </a:ext>
            </a:extLst>
          </p:cNvPr>
          <p:cNvSpPr/>
          <p:nvPr/>
        </p:nvSpPr>
        <p:spPr>
          <a:xfrm>
            <a:off x="496774" y="2391668"/>
            <a:ext cx="1421968" cy="57638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else {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044D1A-9BFA-48F0-33C0-F86BA7B0054D}"/>
              </a:ext>
            </a:extLst>
          </p:cNvPr>
          <p:cNvSpPr/>
          <p:nvPr/>
        </p:nvSpPr>
        <p:spPr>
          <a:xfrm>
            <a:off x="2035760" y="2671923"/>
            <a:ext cx="2970963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>
                <a:solidFill>
                  <a:srgbClr val="002060"/>
                </a:solidFill>
              </a:rPr>
              <a:t>Node* </a:t>
            </a: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rgbClr val="002060"/>
                </a:solidFill>
              </a:rPr>
              <a:t> = front;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C39ECF-1FE2-52BD-43C2-E0844C0CB558}"/>
              </a:ext>
            </a:extLst>
          </p:cNvPr>
          <p:cNvSpPr/>
          <p:nvPr/>
        </p:nvSpPr>
        <p:spPr>
          <a:xfrm>
            <a:off x="2090738" y="3179156"/>
            <a:ext cx="9076934" cy="53437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>
                <a:solidFill>
                  <a:srgbClr val="002060"/>
                </a:solidFill>
              </a:rPr>
              <a:t>while ( </a:t>
            </a: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chemeClr val="bg1"/>
                </a:solidFill>
              </a:rPr>
              <a:t>-&gt;</a:t>
            </a:r>
            <a:r>
              <a:rPr lang="en-US" sz="2500" b="1" kern="0" dirty="0">
                <a:solidFill>
                  <a:srgbClr val="002060"/>
                </a:solidFill>
              </a:rPr>
              <a:t>next != </a:t>
            </a:r>
            <a:r>
              <a:rPr lang="en-US" sz="2500" b="1" kern="0" dirty="0" err="1">
                <a:solidFill>
                  <a:srgbClr val="002060"/>
                </a:solidFill>
              </a:rPr>
              <a:t>nullptr</a:t>
            </a:r>
            <a:r>
              <a:rPr lang="en-US" sz="2500" b="1" kern="0" dirty="0">
                <a:solidFill>
                  <a:srgbClr val="002060"/>
                </a:solidFill>
              </a:rPr>
              <a:t> &amp;&amp; </a:t>
            </a: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chemeClr val="bg1"/>
                </a:solidFill>
              </a:rPr>
              <a:t>-&gt;</a:t>
            </a:r>
            <a:r>
              <a:rPr lang="en-US" sz="2500" b="1" kern="0" dirty="0">
                <a:solidFill>
                  <a:srgbClr val="002060"/>
                </a:solidFill>
              </a:rPr>
              <a:t>next</a:t>
            </a:r>
            <a:r>
              <a:rPr lang="en-US" sz="2500" b="1" kern="0" dirty="0">
                <a:solidFill>
                  <a:schemeClr val="bg1"/>
                </a:solidFill>
              </a:rPr>
              <a:t>-&gt;</a:t>
            </a:r>
            <a:r>
              <a:rPr lang="en-US" sz="2500" b="1" kern="0" dirty="0">
                <a:solidFill>
                  <a:srgbClr val="002060"/>
                </a:solidFill>
              </a:rPr>
              <a:t>priority </a:t>
            </a:r>
            <a:r>
              <a:rPr lang="en-US" sz="2500" b="1" kern="0" dirty="0">
                <a:solidFill>
                  <a:srgbClr val="FF0000"/>
                </a:solidFill>
              </a:rPr>
              <a:t>&lt;=</a:t>
            </a:r>
            <a:r>
              <a:rPr lang="en-US" sz="2500" b="1" kern="0" dirty="0">
                <a:solidFill>
                  <a:srgbClr val="002060"/>
                </a:solidFill>
              </a:rPr>
              <a:t> </a:t>
            </a:r>
            <a:r>
              <a:rPr lang="en-US" sz="2500" b="1" kern="0" dirty="0">
                <a:solidFill>
                  <a:schemeClr val="bg1"/>
                </a:solidFill>
              </a:rPr>
              <a:t>priority</a:t>
            </a:r>
            <a:r>
              <a:rPr lang="en-US" sz="2500" b="1" kern="0" dirty="0">
                <a:solidFill>
                  <a:srgbClr val="002060"/>
                </a:solidFill>
              </a:rPr>
              <a:t> ) {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9F0DA7-A1E3-F1BD-475B-5C8DCD9F942B}"/>
              </a:ext>
            </a:extLst>
          </p:cNvPr>
          <p:cNvSpPr/>
          <p:nvPr/>
        </p:nvSpPr>
        <p:spPr>
          <a:xfrm>
            <a:off x="3641161" y="3761339"/>
            <a:ext cx="2970963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rgbClr val="002060"/>
                </a:solidFill>
              </a:rPr>
              <a:t> = </a:t>
            </a: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rgbClr val="002060"/>
                </a:solidFill>
              </a:rPr>
              <a:t>-&gt;next;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8A9A5B-E4C9-F936-CCF9-784E2FA3468E}"/>
              </a:ext>
            </a:extLst>
          </p:cNvPr>
          <p:cNvSpPr/>
          <p:nvPr/>
        </p:nvSpPr>
        <p:spPr>
          <a:xfrm>
            <a:off x="2065741" y="4060011"/>
            <a:ext cx="977262" cy="488408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926E6-693C-AEEF-9066-B8A786A63FDC}"/>
              </a:ext>
            </a:extLst>
          </p:cNvPr>
          <p:cNvSpPr/>
          <p:nvPr/>
        </p:nvSpPr>
        <p:spPr>
          <a:xfrm>
            <a:off x="2035760" y="4637964"/>
            <a:ext cx="4275099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 err="1">
                <a:solidFill>
                  <a:srgbClr val="002060"/>
                </a:solidFill>
              </a:rPr>
              <a:t>newNode</a:t>
            </a:r>
            <a:r>
              <a:rPr lang="en-US" sz="2500" b="1" kern="0" dirty="0">
                <a:solidFill>
                  <a:srgbClr val="002060"/>
                </a:solidFill>
              </a:rPr>
              <a:t>-&gt;next = </a:t>
            </a: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rgbClr val="002060"/>
                </a:solidFill>
              </a:rPr>
              <a:t>-&gt;next;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411225-0533-E256-12EF-78413994E14E}"/>
              </a:ext>
            </a:extLst>
          </p:cNvPr>
          <p:cNvSpPr/>
          <p:nvPr/>
        </p:nvSpPr>
        <p:spPr>
          <a:xfrm>
            <a:off x="2035760" y="5119447"/>
            <a:ext cx="4275099" cy="4059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 err="1">
                <a:solidFill>
                  <a:srgbClr val="002060"/>
                </a:solidFill>
              </a:rPr>
              <a:t>trNo</a:t>
            </a:r>
            <a:r>
              <a:rPr lang="en-US" sz="2500" b="1" kern="0" dirty="0">
                <a:solidFill>
                  <a:srgbClr val="002060"/>
                </a:solidFill>
              </a:rPr>
              <a:t>-&gt;next = </a:t>
            </a:r>
            <a:r>
              <a:rPr lang="en-US" sz="2500" b="1" kern="0" dirty="0" err="1">
                <a:solidFill>
                  <a:srgbClr val="002060"/>
                </a:solidFill>
              </a:rPr>
              <a:t>newNode</a:t>
            </a:r>
            <a:r>
              <a:rPr lang="en-US" sz="2500" b="1" kern="0" dirty="0">
                <a:solidFill>
                  <a:srgbClr val="002060"/>
                </a:solidFill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934A5D-28C1-47F8-CB7F-ED2FC8EA8FDE}"/>
              </a:ext>
            </a:extLst>
          </p:cNvPr>
          <p:cNvSpPr/>
          <p:nvPr/>
        </p:nvSpPr>
        <p:spPr>
          <a:xfrm>
            <a:off x="496772" y="5354432"/>
            <a:ext cx="1421967" cy="488408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t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334578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2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0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5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4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0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13" grpId="0" animBg="1"/>
      <p:bldP spid="1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D0FD-B1D5-5A68-3B87-7081B62C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602C45-6676-BDF3-5744-1242821E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48" y="37778"/>
            <a:ext cx="10832031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Dequeue: Priority Queue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BE4B4-A4E3-4720-A41E-91045D8B5D8C}"/>
              </a:ext>
            </a:extLst>
          </p:cNvPr>
          <p:cNvSpPr txBox="1"/>
          <p:nvPr/>
        </p:nvSpPr>
        <p:spPr>
          <a:xfrm>
            <a:off x="228600" y="549152"/>
            <a:ext cx="7686207" cy="53120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defTabSz="800110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0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pPr marL="0" indent="0">
              <a:buNone/>
            </a:pPr>
            <a:r>
              <a:rPr lang="en-US" sz="2800" dirty="0"/>
              <a:t>void dequeue( ) {</a:t>
            </a:r>
          </a:p>
          <a:p>
            <a:pPr marL="0" indent="0">
              <a:buNone/>
            </a:pPr>
            <a:r>
              <a:rPr lang="en-US" sz="2800" dirty="0"/>
              <a:t>   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}       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FF1DF2-E1CB-069F-75F0-DA9C7AA42CAE}"/>
              </a:ext>
            </a:extLst>
          </p:cNvPr>
          <p:cNvSpPr/>
          <p:nvPr/>
        </p:nvSpPr>
        <p:spPr>
          <a:xfrm>
            <a:off x="541748" y="1092785"/>
            <a:ext cx="3250769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If ( front ==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nullptr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 )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09FD3D-0264-60CC-62A9-AC4AEF4F057B}"/>
              </a:ext>
            </a:extLst>
          </p:cNvPr>
          <p:cNvSpPr/>
          <p:nvPr/>
        </p:nvSpPr>
        <p:spPr>
          <a:xfrm>
            <a:off x="1450410" y="1708164"/>
            <a:ext cx="5564992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{ </a:t>
            </a:r>
            <a:r>
              <a:rPr lang="en-US" sz="2500" b="1" kern="0" dirty="0" err="1">
                <a:solidFill>
                  <a:srgbClr val="002060"/>
                </a:solidFill>
                <a:latin typeface="Franklin Gothic Book"/>
              </a:rPr>
              <a:t>cout</a:t>
            </a: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&lt;&lt;“\n Priority Queue is empty\n”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77787C-7266-5B1C-074E-EC983B275F37}"/>
              </a:ext>
            </a:extLst>
          </p:cNvPr>
          <p:cNvSpPr/>
          <p:nvPr/>
        </p:nvSpPr>
        <p:spPr>
          <a:xfrm>
            <a:off x="7150304" y="1708164"/>
            <a:ext cx="1791432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return; }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25DF51-E9EB-31A4-8AF7-E02F8B3450BC}"/>
              </a:ext>
            </a:extLst>
          </p:cNvPr>
          <p:cNvSpPr/>
          <p:nvPr/>
        </p:nvSpPr>
        <p:spPr>
          <a:xfrm>
            <a:off x="541748" y="2389786"/>
            <a:ext cx="2876015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Node* temp = front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4FBDA6-61E3-B982-F139-0B0A2E125757}"/>
              </a:ext>
            </a:extLst>
          </p:cNvPr>
          <p:cNvSpPr/>
          <p:nvPr/>
        </p:nvSpPr>
        <p:spPr>
          <a:xfrm>
            <a:off x="555656" y="3092211"/>
            <a:ext cx="11451465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lvl="0" algn="ctr" defTabSz="965606">
              <a:defRPr/>
            </a:pPr>
            <a:r>
              <a:rPr lang="en-US" sz="2500" b="1" kern="0" dirty="0" err="1">
                <a:solidFill>
                  <a:srgbClr val="002060"/>
                </a:solidFill>
              </a:rPr>
              <a:t>cout</a:t>
            </a:r>
            <a:r>
              <a:rPr lang="en-US" sz="2500" b="1" kern="0" dirty="0">
                <a:solidFill>
                  <a:srgbClr val="002060"/>
                </a:solidFill>
              </a:rPr>
              <a:t> &lt;&lt; "Removed: " &lt;&lt; temp-&gt;data &lt;&lt; " (priority: " &lt;&lt; temp-&gt;priority &lt;&lt; ")" &lt;&lt; </a:t>
            </a:r>
            <a:r>
              <a:rPr lang="en-US" sz="2500" b="1" kern="0" dirty="0" err="1">
                <a:solidFill>
                  <a:srgbClr val="002060"/>
                </a:solidFill>
              </a:rPr>
              <a:t>endl</a:t>
            </a:r>
            <a:r>
              <a:rPr lang="en-US" sz="2500" b="1" kern="0" dirty="0">
                <a:solidFill>
                  <a:srgbClr val="002060"/>
                </a:solidFill>
              </a:rPr>
              <a:t>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592CBC-4BA0-14D6-23A2-7F4A71ADCCA3}"/>
              </a:ext>
            </a:extLst>
          </p:cNvPr>
          <p:cNvSpPr/>
          <p:nvPr/>
        </p:nvSpPr>
        <p:spPr>
          <a:xfrm>
            <a:off x="551741" y="3823038"/>
            <a:ext cx="3935714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2060"/>
                </a:solidFill>
                <a:latin typeface="Franklin Gothic Book"/>
              </a:rPr>
              <a:t>f</a:t>
            </a:r>
            <a:r>
              <a:rPr lang="en-US" sz="2500" b="1" kern="0" noProof="0" dirty="0" err="1">
                <a:solidFill>
                  <a:srgbClr val="002060"/>
                </a:solidFill>
                <a:latin typeface="Franklin Gothic Book"/>
              </a:rPr>
              <a:t>ront</a:t>
            </a:r>
            <a:r>
              <a:rPr lang="en-US" sz="2500" b="1" kern="0" noProof="0" dirty="0">
                <a:solidFill>
                  <a:srgbClr val="002060"/>
                </a:solidFill>
                <a:latin typeface="Franklin Gothic Book"/>
              </a:rPr>
              <a:t> = front -&gt; next ;</a:t>
            </a:r>
            <a:endParaRPr kumimoji="0" lang="en-US" sz="25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BBE6B9-1B82-39F1-4E8F-34C8BA1F7C0B}"/>
              </a:ext>
            </a:extLst>
          </p:cNvPr>
          <p:cNvSpPr/>
          <p:nvPr/>
        </p:nvSpPr>
        <p:spPr>
          <a:xfrm>
            <a:off x="551741" y="4553865"/>
            <a:ext cx="2181467" cy="572642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</a:rPr>
              <a:t>delete temp;</a:t>
            </a:r>
          </a:p>
        </p:txBody>
      </p:sp>
    </p:spTree>
    <p:extLst>
      <p:ext uri="{BB962C8B-B14F-4D97-AF65-F5344CB8AC3E}">
        <p14:creationId xmlns:p14="http://schemas.microsoft.com/office/powerpoint/2010/main" val="48762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7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23" grpId="0" animBg="1"/>
      <p:bldP spid="23" grpId="1" animBg="1"/>
      <p:bldP spid="2" grpId="0" animBg="1"/>
      <p:bldP spid="2" grpId="1" animBg="1"/>
      <p:bldP spid="13" grpId="0" animBg="1"/>
      <p:bldP spid="13" grpId="1" animBg="1"/>
      <p:bldP spid="16" grpId="0" animBg="1"/>
      <p:bldP spid="1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EDC4-F406-98BA-FB7A-67BCC991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1321-E9DC-C28F-622A-053ADFEB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" y="623042"/>
            <a:ext cx="11707318" cy="6165082"/>
          </a:xfr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(front == NULL) {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"Priority Queue is empty!" &lt;&lt;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front;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"Priority Queue: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(t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NULL) {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"[" &lt;&lt;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-&gt;data &lt;&lt; ", p:" &lt;&lt;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-&gt;priority &lt;&lt; "] ";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-&gt;next;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PK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PK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AD04E-A814-8833-8D30-7E419C18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3E80A0-23CC-DA22-8808-D51E9041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32" y="53297"/>
            <a:ext cx="10352349" cy="586324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display: Deque (ADT using Linked List)</a:t>
            </a:r>
            <a:br>
              <a:rPr lang="en-US" dirty="0"/>
            </a:br>
            <a:endParaRPr lang="en-PK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0A019E8-E180-AC33-5616-A1156FB57264}"/>
              </a:ext>
            </a:extLst>
          </p:cNvPr>
          <p:cNvSpPr txBox="1">
            <a:spLocks/>
          </p:cNvSpPr>
          <p:nvPr/>
        </p:nvSpPr>
        <p:spPr>
          <a:xfrm>
            <a:off x="7090347" y="1074335"/>
            <a:ext cx="4991725" cy="258326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Destructor to free memory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PriorityQueue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(front !=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dequeue( );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P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48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10AE-030F-06AD-F4DD-B772B2F4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4C19-75DB-5DFC-48FE-5236A1F3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88" y="184665"/>
            <a:ext cx="10401300" cy="639794"/>
          </a:xfrm>
        </p:spPr>
        <p:txBody>
          <a:bodyPr/>
          <a:lstStyle/>
          <a:p>
            <a:pPr algn="ctr"/>
            <a:r>
              <a:rPr lang="en-US" dirty="0"/>
              <a:t>Applications of Queue </a:t>
            </a:r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710BE-D8B9-C050-A2EB-29BE6675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09857F-A580-375B-045D-57E7D3C45A88}"/>
              </a:ext>
            </a:extLst>
          </p:cNvPr>
          <p:cNvSpPr txBox="1">
            <a:spLocks/>
          </p:cNvSpPr>
          <p:nvPr/>
        </p:nvSpPr>
        <p:spPr>
          <a:xfrm>
            <a:off x="594360" y="809471"/>
            <a:ext cx="10393428" cy="5518514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PK"/>
            </a:defPPr>
            <a:lvl1pPr marL="342900" indent="-342900" defTabSz="800110">
              <a:lnSpc>
                <a:spcPct val="90000"/>
              </a:lnSpc>
              <a:spcBef>
                <a:spcPts val="875"/>
              </a:spcBef>
              <a:buSzPct val="154000"/>
              <a:buFont typeface="Arial" panose="020B0604020202020204" pitchFamily="34" charset="0"/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2500"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008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>
                <a:solidFill>
                  <a:schemeClr val="bg1"/>
                </a:solidFill>
              </a:defRPr>
            </a:lvl2pPr>
            <a:lvl3pPr marL="100013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>
                <a:solidFill>
                  <a:schemeClr val="bg1"/>
                </a:solidFill>
              </a:defRPr>
            </a:lvl3pPr>
            <a:lvl4pPr marL="1400193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4pPr>
            <a:lvl5pPr marL="1800248" indent="-248034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>
                <a:solidFill>
                  <a:schemeClr val="bg1"/>
                </a:solidFill>
              </a:defRPr>
            </a:lvl5pPr>
            <a:lvl6pPr marL="2200302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6pPr>
            <a:lvl7pPr marL="2600358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7pPr>
            <a:lvl8pPr marL="3000413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8pPr>
            <a:lvl9pPr marL="3400467" indent="-200028" defTabSz="800110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/>
            </a:lvl9pPr>
          </a:lstStyle>
          <a:p>
            <a:r>
              <a:rPr lang="en-US" dirty="0"/>
              <a:t>Job Scheduling in Operating</a:t>
            </a:r>
          </a:p>
          <a:p>
            <a:r>
              <a:rPr lang="en-US" dirty="0"/>
              <a:t>CPU Scheduling (Ready Queue)</a:t>
            </a:r>
          </a:p>
          <a:p>
            <a:r>
              <a:rPr lang="en-US" dirty="0"/>
              <a:t>I/O Buffers and Device Management</a:t>
            </a:r>
          </a:p>
          <a:p>
            <a:r>
              <a:rPr lang="en-US" dirty="0"/>
              <a:t>Print Queue</a:t>
            </a:r>
          </a:p>
          <a:p>
            <a:r>
              <a:rPr lang="en-US" dirty="0"/>
              <a:t>Call Center Systems</a:t>
            </a:r>
          </a:p>
          <a:p>
            <a:r>
              <a:rPr lang="en-US" dirty="0"/>
              <a:t>Traffic Management / Simulation.</a:t>
            </a:r>
          </a:p>
          <a:p>
            <a:r>
              <a:rPr lang="en-US" dirty="0"/>
              <a:t>Data Packet Handling in Networking</a:t>
            </a:r>
          </a:p>
          <a:p>
            <a:r>
              <a:rPr lang="en-US" dirty="0"/>
              <a:t>Breadth-First Search (BFS) in Graphs</a:t>
            </a:r>
          </a:p>
          <a:p>
            <a:r>
              <a:rPr lang="en-US" dirty="0"/>
              <a:t>Simulation of Real-World Systems</a:t>
            </a:r>
          </a:p>
          <a:p>
            <a:r>
              <a:rPr lang="en-US" dirty="0"/>
              <a:t>Message Queuing in Distributed Systems</a:t>
            </a:r>
          </a:p>
          <a:p>
            <a:r>
              <a:rPr lang="en-US" dirty="0"/>
              <a:t>Undo/Redo Functionality (Alongside Stack)</a:t>
            </a:r>
          </a:p>
          <a:p>
            <a:r>
              <a:rPr lang="en-US" dirty="0"/>
              <a:t>Multithreading/Multitasking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65339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1853-64CF-41CF-3370-4580CA91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What is a Stack?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858E8-2A5B-9267-06E9-43C7F67832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9417610" cy="359747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Stack</a:t>
            </a:r>
            <a:r>
              <a:rPr lang="en-US" dirty="0"/>
              <a:t> is a </a:t>
            </a:r>
            <a:r>
              <a:rPr lang="en-US" b="1" dirty="0"/>
              <a:t>linear data structure</a:t>
            </a:r>
            <a:r>
              <a:rPr lang="en-US" dirty="0"/>
              <a:t> that follows the </a:t>
            </a:r>
            <a:r>
              <a:rPr lang="en-US" b="1" dirty="0"/>
              <a:t>Last In, First Out (LIFO)</a:t>
            </a:r>
            <a:r>
              <a:rPr lang="en-US" dirty="0"/>
              <a:t> principle.</a:t>
            </a:r>
            <a:br>
              <a:rPr lang="en-US" dirty="0"/>
            </a:br>
            <a:r>
              <a:rPr lang="en-US" dirty="0"/>
              <a:t>This means that the </a:t>
            </a:r>
            <a:r>
              <a:rPr lang="en-US" b="1" dirty="0"/>
              <a:t>last element</a:t>
            </a:r>
            <a:r>
              <a:rPr lang="en-US" dirty="0"/>
              <a:t> added (pushed) to the stack is the </a:t>
            </a:r>
            <a:r>
              <a:rPr lang="en-US" b="1" dirty="0"/>
              <a:t>first one to be removed (popped)</a:t>
            </a:r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F2D03-F2BB-88BB-F0EA-DE6C74C734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7/7/2025</a:t>
            </a:fld>
            <a:endParaRPr lang="en-US" dirty="0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3E5A4-404A-8E55-AB2C-09567358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568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A89F-EF99-33F0-EB0F-6767803C5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6DB36-7E96-3EF3-75A9-B0CB97F80A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10621721" cy="3597470"/>
          </a:xfrm>
        </p:spPr>
        <p:txBody>
          <a:bodyPr/>
          <a:lstStyle/>
          <a:p>
            <a:r>
              <a:rPr lang="en-US" dirty="0"/>
              <a:t>| Operation          | Description                                 </a:t>
            </a:r>
          </a:p>
          <a:p>
            <a:r>
              <a:rPr lang="en-US" dirty="0"/>
              <a:t>| ------------------        | ------------------------------------------- </a:t>
            </a:r>
          </a:p>
          <a:p>
            <a:r>
              <a:rPr lang="en-US" dirty="0"/>
              <a:t>| push(x)              | Adds element `x` to the top of the stack    </a:t>
            </a:r>
          </a:p>
          <a:p>
            <a:r>
              <a:rPr lang="en-US" dirty="0"/>
              <a:t>| pop()                  | Removes the top element of the stack        </a:t>
            </a:r>
          </a:p>
          <a:p>
            <a:r>
              <a:rPr lang="en-US" dirty="0"/>
              <a:t>| peek( ) / top( )   | Returns the top element without removing it </a:t>
            </a:r>
          </a:p>
          <a:p>
            <a:r>
              <a:rPr lang="en-US" dirty="0"/>
              <a:t>| </a:t>
            </a:r>
            <a:r>
              <a:rPr lang="en-US" dirty="0" err="1"/>
              <a:t>isEmpty</a:t>
            </a:r>
            <a:r>
              <a:rPr lang="en-US" dirty="0"/>
              <a:t>()            | Checks whether the stack is empty           </a:t>
            </a:r>
          </a:p>
          <a:p>
            <a:r>
              <a:rPr lang="en-US" dirty="0"/>
              <a:t>| size()                   | Returns the number of elements in the stack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303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1AF4-EB2E-D83A-09C3-100613CB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7247" y="745154"/>
            <a:ext cx="3847820" cy="6052084"/>
          </a:xfrm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#define SIZE 100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Stack 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[SIZE];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top;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Stack() { top = -1; }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bool isEmpty() 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top == -1;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bool isFull() 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top == SIZE - 1;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/>
            </a:pPr>
            <a:endParaRPr lang="en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920FA-215D-68B4-CE07-EC55238A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DF4FE0-AFF2-0409-843C-C7F357DC7DBF}"/>
              </a:ext>
            </a:extLst>
          </p:cNvPr>
          <p:cNvSpPr txBox="1">
            <a:spLocks/>
          </p:cNvSpPr>
          <p:nvPr/>
        </p:nvSpPr>
        <p:spPr>
          <a:xfrm>
            <a:off x="3579166" y="763260"/>
            <a:ext cx="4578036" cy="538404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3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push(int x) {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(isFull()) {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cout &lt;&lt; "Stack Overflow\n";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return;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      arr[++top] = x;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pop() {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cout &lt;&lt; "Stack Underflow\n";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return;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       top--;</a:t>
            </a:r>
          </a:p>
          <a:p>
            <a:pPr marL="409194" indent="-457200">
              <a:buFont typeface="+mj-lt"/>
              <a:buAutoNum type="arabicPeriod" startAt="1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23B841-0A4B-A775-099D-E5284F2D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61" y="63376"/>
            <a:ext cx="7692657" cy="60089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sz="3600" dirty="0"/>
              <a:t>🔹 Stack Implementation using Array</a:t>
            </a:r>
            <a:endParaRPr lang="en-PK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19E65A-2292-32DD-7FB7-75F3B64360FF}"/>
              </a:ext>
            </a:extLst>
          </p:cNvPr>
          <p:cNvSpPr txBox="1">
            <a:spLocks/>
          </p:cNvSpPr>
          <p:nvPr/>
        </p:nvSpPr>
        <p:spPr>
          <a:xfrm>
            <a:off x="8117945" y="265325"/>
            <a:ext cx="4578036" cy="53840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peek() 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cout &lt;&lt; "Stack is Empty\n";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-1;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  return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[top];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size() { return top + 1; 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cout &lt;&lt; "Stack is empty\n";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   cout &lt;&lt; "Stack elements: 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(int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top;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0;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--)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cout &lt;&lt;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&lt;&lt; " 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cout &lt;&lt;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409194" indent="-457200">
              <a:buFont typeface="+mj-lt"/>
              <a:buAutoNum type="arabicPeriod" startAt="25"/>
            </a:pPr>
            <a:endParaRPr lang="en-PK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50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75D7-9205-2DD1-59FC-530144A1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447C4-60C7-725A-8AA1-EB096BE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7247" y="745154"/>
            <a:ext cx="3847820" cy="6052084"/>
          </a:xfrm>
        </p:spPr>
        <p:txBody>
          <a:bodyPr>
            <a:noAutofit/>
          </a:bodyPr>
          <a:lstStyle/>
          <a:p>
            <a:pPr marL="409194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Node{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data;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 *next;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Node(int v=0) : data(v), next(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 }</a:t>
            </a:r>
          </a:p>
          <a:p>
            <a:pPr marL="409194" indent="-4572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Stack{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    Node* Top;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Stack():Top(nullptr)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Push(int val){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newNode = new Node(val);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newNode-&gt;next = Top;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Top = newNode;</a:t>
            </a:r>
          </a:p>
          <a:p>
            <a:pPr marL="409194" indent="-457200">
              <a:buFont typeface="+mj-lt"/>
              <a:buAutoNum type="arabicPeriod"/>
            </a:pP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73F8D-B9D0-3BF0-C38E-5A8F8BB0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17CE9C-FA2A-52F8-CCCF-4042939E97E9}"/>
              </a:ext>
            </a:extLst>
          </p:cNvPr>
          <p:cNvSpPr txBox="1">
            <a:spLocks/>
          </p:cNvSpPr>
          <p:nvPr/>
        </p:nvSpPr>
        <p:spPr>
          <a:xfrm>
            <a:off x="3237722" y="717994"/>
            <a:ext cx="4919480" cy="614000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13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void Pop(){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(Top ==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cout&lt;&lt;"\n stack underflow ";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Node* temp = Top;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Top = Top-&gt;next;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delete temp;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r>
              <a:rPr lang="en-P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peek(){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(Top ==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cout&lt;&lt;"\n stack underflow ";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cout&lt;&lt;"\n top element = “&lt;&lt;Top-&gt;data;</a:t>
            </a:r>
          </a:p>
          <a:p>
            <a:pPr marL="409194" indent="-457200">
              <a:buFont typeface="+mj-lt"/>
              <a:buAutoNum type="arabicPeriod" startAt="16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 startAt="16"/>
            </a:pPr>
            <a:endParaRPr lang="en-PK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9D50D6D-994A-4B50-0F71-4CCE8B6B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55" y="63376"/>
            <a:ext cx="7849363" cy="600892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/>
          <a:p>
            <a:r>
              <a:rPr lang="en-US" sz="3200" dirty="0"/>
              <a:t>🔹 Stack Implementation using Linked List</a:t>
            </a:r>
            <a:endParaRPr lang="en-PK" sz="32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9E95B06-C7D7-6E49-43F5-06E6EC6F9A06}"/>
              </a:ext>
            </a:extLst>
          </p:cNvPr>
          <p:cNvSpPr txBox="1">
            <a:spLocks/>
          </p:cNvSpPr>
          <p:nvPr/>
        </p:nvSpPr>
        <p:spPr>
          <a:xfrm>
            <a:off x="8117945" y="265324"/>
            <a:ext cx="4578036" cy="64342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(Top == nullptr){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cout&lt;&lt;"\n stack underflow 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return;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cout&lt;&lt;"\n Data Elements = 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Node* trNo = Top;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while(trNo){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cout&lt;&lt;trNo-&gt;data&lt;&lt;" ";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trNo = trNo-&gt;next;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~Stack(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while (Top)  Pop();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409194" indent="-457200">
              <a:buFont typeface="+mj-lt"/>
              <a:buAutoNum type="arabicPeriod" startAt="25"/>
            </a:pPr>
            <a:r>
              <a:rPr lang="en-PK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4694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2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 animBg="1"/>
      <p:bldP spid="8" grpId="0" animBg="1"/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CDA0F-DD26-E409-7CCC-32A24D58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3F0BA-1FFC-E47D-479D-C8B500B11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| Expression Type |               Format                     | Example |</a:t>
            </a:r>
          </a:p>
          <a:p>
            <a:r>
              <a:rPr lang="en-US" dirty="0"/>
              <a:t>| --------------------------- | -------------------------------- ------------  | -------------- |</a:t>
            </a:r>
          </a:p>
          <a:p>
            <a:r>
              <a:rPr lang="en-US" dirty="0"/>
              <a:t>| **Infix**            | Operand Operator Operand |   A + B    |</a:t>
            </a:r>
          </a:p>
          <a:p>
            <a:r>
              <a:rPr lang="en-US" dirty="0"/>
              <a:t>| **Prefix**         | Operator Operand </a:t>
            </a:r>
            <a:r>
              <a:rPr lang="en-US" dirty="0" err="1"/>
              <a:t>Operand</a:t>
            </a:r>
            <a:r>
              <a:rPr lang="en-US" dirty="0"/>
              <a:t> |   + A B    |</a:t>
            </a:r>
          </a:p>
          <a:p>
            <a:r>
              <a:rPr lang="en-US" dirty="0"/>
              <a:t>| **Postfix**       | Operand </a:t>
            </a:r>
            <a:r>
              <a:rPr lang="en-US" dirty="0" err="1"/>
              <a:t>Operand</a:t>
            </a:r>
            <a:r>
              <a:rPr lang="en-US" dirty="0"/>
              <a:t> Operator |   A B +    |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B238-FB16-0165-238A-21818EAB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0440-668C-E722-2FAB-F496059B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5801C-7614-1976-D84D-0DC1B544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65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2051-A402-C9A3-33E3-A552BC6C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Infix to Postfix Conversion (using Stack)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F2078-2F2D-7A32-FB57-21134438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1" y="1825625"/>
            <a:ext cx="10382250" cy="4667250"/>
          </a:xfrm>
        </p:spPr>
        <p:txBody>
          <a:bodyPr/>
          <a:lstStyle/>
          <a:p>
            <a:r>
              <a:rPr lang="en-US" dirty="0"/>
              <a:t>✅ Rules to Follow:</a:t>
            </a:r>
          </a:p>
          <a:p>
            <a:r>
              <a:rPr lang="en-US" dirty="0"/>
              <a:t>Operands (A, B, 1, 2, etc.) go directly to the output.</a:t>
            </a:r>
          </a:p>
          <a:p>
            <a:r>
              <a:rPr lang="en-US" dirty="0"/>
              <a:t>Left Parenthesis ( is pushed to stack.</a:t>
            </a:r>
          </a:p>
          <a:p>
            <a:r>
              <a:rPr lang="en-US" dirty="0"/>
              <a:t>Right Parenthesis ) : Pop from stack to output until ( is found. Remove both.</a:t>
            </a:r>
          </a:p>
          <a:p>
            <a:r>
              <a:rPr lang="en-US" dirty="0"/>
              <a:t>Operators (+, -, *, /, ^):</a:t>
            </a:r>
          </a:p>
          <a:p>
            <a:pPr lvl="1"/>
            <a:r>
              <a:rPr lang="en-US" dirty="0"/>
              <a:t>While the stack is not empty, and the top of stack has higher or equal precedence, pop to output.</a:t>
            </a:r>
          </a:p>
          <a:p>
            <a:pPr lvl="1"/>
            <a:r>
              <a:rPr lang="en-US" dirty="0"/>
              <a:t>Push the current operator to the stack.</a:t>
            </a:r>
          </a:p>
          <a:p>
            <a:r>
              <a:rPr lang="en-US" dirty="0"/>
              <a:t>After the expression ends, pop all remaining operators in stack to the output.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93B6D-6D18-4ACA-8C59-49A074A7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</p:spTree>
    <p:extLst>
      <p:ext uri="{BB962C8B-B14F-4D97-AF65-F5344CB8AC3E}">
        <p14:creationId xmlns:p14="http://schemas.microsoft.com/office/powerpoint/2010/main" val="350830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0479-1D7B-2DC1-099A-641C5FFB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1AF27-5202-B0B7-5FE6-90CF29A2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| Operator | Precedence | Associativity |</a:t>
            </a:r>
          </a:p>
          <a:p>
            <a:r>
              <a:rPr lang="en-US" dirty="0"/>
              <a:t>| --------------- | -------------------- | -------------------- |</a:t>
            </a:r>
          </a:p>
          <a:p>
            <a:r>
              <a:rPr lang="en-US" dirty="0"/>
              <a:t>| ^              |          3         | Right to Left |</a:t>
            </a:r>
          </a:p>
          <a:p>
            <a:r>
              <a:rPr lang="en-US" dirty="0"/>
              <a:t>| *  /          |          2         | Left to Right |</a:t>
            </a:r>
          </a:p>
          <a:p>
            <a:r>
              <a:rPr lang="en-US" dirty="0"/>
              <a:t>| +  -           |          1         | Left to Right |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199BB-83A8-3E4A-C09C-3B9C2E33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1BDDE-86ED-E18D-2719-5A4F06B7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0AEBB-9933-06C6-6BD0-C9B0F719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19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7F94-FB69-84B2-6C1A-282368CB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Infix to Postfix 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5D12A-57A2-6BD2-F7F0-5B5364675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| Infix Expression      | Postfix Expression |</a:t>
            </a:r>
          </a:p>
          <a:p>
            <a:r>
              <a:rPr lang="en-US" dirty="0"/>
              <a:t>| --------------------------------| ------------------------------- </a:t>
            </a:r>
          </a:p>
          <a:p>
            <a:r>
              <a:rPr lang="en-US" dirty="0"/>
              <a:t>| A + B                       | A B +            </a:t>
            </a:r>
          </a:p>
          <a:p>
            <a:r>
              <a:rPr lang="en-US" dirty="0"/>
              <a:t>| A + B * C                | A B C * +        </a:t>
            </a:r>
          </a:p>
          <a:p>
            <a:r>
              <a:rPr lang="en-US" dirty="0"/>
              <a:t>| (A + B) * C              | A B + C *        </a:t>
            </a:r>
          </a:p>
          <a:p>
            <a:r>
              <a:rPr lang="en-US" dirty="0"/>
              <a:t>| A + B * C - D          | A B C * + D -    </a:t>
            </a:r>
          </a:p>
          <a:p>
            <a:r>
              <a:rPr lang="en-US" dirty="0"/>
              <a:t>| A * (B + C) / D       | A B C + * D /    </a:t>
            </a:r>
          </a:p>
          <a:p>
            <a:r>
              <a:rPr lang="en-US" dirty="0"/>
              <a:t>| A + (B * (C + D))    | A B C D + * +   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C473D-1AEC-1439-82D7-8A9C6152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EE4CA-71E2-B93A-2203-E095026C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4B83-C254-430F-62C0-A111E8F3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9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3E30-E1B7-5C94-EF40-7994EEF6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02DBC-3128-0AE8-5A38-7E1AD53EF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1" y="1825625"/>
            <a:ext cx="4767348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an empty stack S</a:t>
            </a:r>
          </a:p>
          <a:p>
            <a:r>
              <a:rPr lang="en-US" dirty="0"/>
              <a:t>Create an empty output list/postfix</a:t>
            </a:r>
          </a:p>
          <a:p>
            <a:endParaRPr lang="en-US" dirty="0"/>
          </a:p>
          <a:p>
            <a:r>
              <a:rPr lang="en-US" dirty="0"/>
              <a:t>For each token in the infix expression:</a:t>
            </a:r>
          </a:p>
          <a:p>
            <a:r>
              <a:rPr lang="en-US" dirty="0"/>
              <a:t>    If token is operand:</a:t>
            </a:r>
          </a:p>
          <a:p>
            <a:r>
              <a:rPr lang="en-US" dirty="0"/>
              <a:t>        Add to output</a:t>
            </a:r>
          </a:p>
          <a:p>
            <a:r>
              <a:rPr lang="en-US" dirty="0"/>
              <a:t>    Else if token is '(':</a:t>
            </a:r>
          </a:p>
          <a:p>
            <a:r>
              <a:rPr lang="en-US" dirty="0"/>
              <a:t>        Push to stack</a:t>
            </a:r>
          </a:p>
          <a:p>
            <a:r>
              <a:rPr lang="en-US" dirty="0"/>
              <a:t>    Else if token is ')':</a:t>
            </a:r>
          </a:p>
          <a:p>
            <a:r>
              <a:rPr lang="en-US" dirty="0"/>
              <a:t>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45A7C-A92C-74E6-0A99-9AD41481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B3291-5410-A20E-3BCA-F1BE65D4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4BFA-4E17-24E2-0565-DA580BE1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541A60-4C42-FB0F-FB6F-618A589530C2}"/>
              </a:ext>
            </a:extLst>
          </p:cNvPr>
          <p:cNvSpPr txBox="1">
            <a:spLocks/>
          </p:cNvSpPr>
          <p:nvPr/>
        </p:nvSpPr>
        <p:spPr>
          <a:xfrm>
            <a:off x="5715000" y="1690688"/>
            <a:ext cx="62761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00028" indent="-248034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Char char="•"/>
              <a:defRPr sz="24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75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     While top of stack != '(':</a:t>
            </a:r>
          </a:p>
          <a:p>
            <a:r>
              <a:rPr lang="en-US" dirty="0"/>
              <a:t>                Pop from stack to output</a:t>
            </a:r>
          </a:p>
          <a:p>
            <a:r>
              <a:rPr lang="en-US" dirty="0"/>
              <a:t>         Pop '(' and discard</a:t>
            </a:r>
          </a:p>
          <a:p>
            <a:r>
              <a:rPr lang="en-US" dirty="0"/>
              <a:t> Else if token is operator:</a:t>
            </a:r>
          </a:p>
          <a:p>
            <a:r>
              <a:rPr lang="en-US" dirty="0"/>
              <a:t>     While stack not empty and precedence of       top &gt;= current token:</a:t>
            </a:r>
          </a:p>
          <a:p>
            <a:r>
              <a:rPr lang="en-US" dirty="0"/>
              <a:t>            Pop from stack to output</a:t>
            </a:r>
          </a:p>
          <a:p>
            <a:r>
              <a:rPr lang="en-US" dirty="0"/>
              <a:t>      Push current token to stack</a:t>
            </a:r>
          </a:p>
          <a:p>
            <a:endParaRPr lang="en-US" dirty="0"/>
          </a:p>
          <a:p>
            <a:r>
              <a:rPr lang="en-US" dirty="0"/>
              <a:t>While stack is not empty:</a:t>
            </a:r>
          </a:p>
          <a:p>
            <a:r>
              <a:rPr lang="en-US" dirty="0"/>
              <a:t>    Pop from stack to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0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508C-47A9-B2CD-4F43-E6F0B8E0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🔹 Applications of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B784-B9DF-A6DE-4F1B-3BB4C8D641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245259"/>
            <a:ext cx="10971637" cy="430039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Expression Evaluation: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	Infix → Postfix conversion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	Postfix evaluation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Function Call Management: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	Recursion uses system stack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Undo/Redo operations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Balanced Parentheses Checking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Backtracking: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	Maze solving, navigating paths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Browser History Navigation</a:t>
            </a:r>
          </a:p>
        </p:txBody>
      </p:sp>
    </p:spTree>
    <p:extLst>
      <p:ext uri="{BB962C8B-B14F-4D97-AF65-F5344CB8AC3E}">
        <p14:creationId xmlns:p14="http://schemas.microsoft.com/office/powerpoint/2010/main" val="2720602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D0F44-558F-D7A7-9AB8-32C52E2D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A6A319-E7A2-4E27-84AE-182C1A22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3" y="76844"/>
            <a:ext cx="11272604" cy="673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1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</TotalTime>
  <Words>4672</Words>
  <Application>Microsoft Office PowerPoint</Application>
  <PresentationFormat>Widescreen</PresentationFormat>
  <Paragraphs>838</Paragraphs>
  <Slides>46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Aptos</vt:lpstr>
      <vt:lpstr>Arial</vt:lpstr>
      <vt:lpstr>Calibri</vt:lpstr>
      <vt:lpstr>Franklin Gothic Book</vt:lpstr>
      <vt:lpstr>Franklin Gothic Demi</vt:lpstr>
      <vt:lpstr>Times New Roman</vt:lpstr>
      <vt:lpstr>Wingdings</vt:lpstr>
      <vt:lpstr>Custom</vt:lpstr>
      <vt:lpstr>Queue, Stack</vt:lpstr>
      <vt:lpstr>PowerPoint Presentation</vt:lpstr>
      <vt:lpstr>Introduction to Queues </vt:lpstr>
      <vt:lpstr>Queue Operations</vt:lpstr>
      <vt:lpstr>Types of Queues </vt:lpstr>
      <vt:lpstr>Implementing Linear Queue (ADT using Arrays) </vt:lpstr>
      <vt:lpstr>Enqueue (ADT using Arrays) </vt:lpstr>
      <vt:lpstr>Dequeue (ADT using Arrays) </vt:lpstr>
      <vt:lpstr>display (ADT using Arrays) </vt:lpstr>
      <vt:lpstr>Circular Queue</vt:lpstr>
      <vt:lpstr>Implementing Circular Queue (ADT using Arrays) </vt:lpstr>
      <vt:lpstr>Enqueue: Circular Queue (ADT using Arrays) </vt:lpstr>
      <vt:lpstr>Dequeue : Circular Queue (ADT using Arrays) </vt:lpstr>
      <vt:lpstr>display: Circular Queue (ADT using Arrays) </vt:lpstr>
      <vt:lpstr>Implementing Queue (ADT using Linked List) </vt:lpstr>
      <vt:lpstr>Enqueue (ADT using Linked List) </vt:lpstr>
      <vt:lpstr>Enqueue: Circular (ADT using Linked List) </vt:lpstr>
      <vt:lpstr>Dequeue : (ADT using Linked List) </vt:lpstr>
      <vt:lpstr>Dequeue : Circular (ADT using Linked List) </vt:lpstr>
      <vt:lpstr>display: (ADT using Linked List) </vt:lpstr>
      <vt:lpstr>display: Circular (ADT using Linked List) </vt:lpstr>
      <vt:lpstr>Double Ended Queue (Deque)</vt:lpstr>
      <vt:lpstr>Implementing Deque (ADT using Linked List) </vt:lpstr>
      <vt:lpstr>Implementing Deque (ADT using Linked List) </vt:lpstr>
      <vt:lpstr>EnqueueFront: (ADT using Linked List) </vt:lpstr>
      <vt:lpstr>EnqueueRear: (ADT using Linked List) </vt:lpstr>
      <vt:lpstr>DequeueFront: (ADT using Linked List) </vt:lpstr>
      <vt:lpstr>DequeueRear: (ADT using Linked List) </vt:lpstr>
      <vt:lpstr>display: Deque (ADT using Linked List) </vt:lpstr>
      <vt:lpstr>Priority Queue </vt:lpstr>
      <vt:lpstr>Implementing Priority Queue (ADT) </vt:lpstr>
      <vt:lpstr>Enqueue: Priority Queue(ADT using Linked List) </vt:lpstr>
      <vt:lpstr>Dequeue: Priority Queue (ADT using Linked List) </vt:lpstr>
      <vt:lpstr>display: Deque (ADT using Linked List) </vt:lpstr>
      <vt:lpstr>Applications of Queue </vt:lpstr>
      <vt:lpstr>🔹 What is a Stack?</vt:lpstr>
      <vt:lpstr>🔹 Basic Operations</vt:lpstr>
      <vt:lpstr>🔹 Stack Implementation using Array</vt:lpstr>
      <vt:lpstr>🔹 Stack Implementation using Linked List</vt:lpstr>
      <vt:lpstr>Infix to Postfix</vt:lpstr>
      <vt:lpstr>Algorithm: Infix to Postfix Conversion (using Stack)</vt:lpstr>
      <vt:lpstr>Operator Precedence:</vt:lpstr>
      <vt:lpstr>✅ Infix to Postfix Examples:</vt:lpstr>
      <vt:lpstr>Pseudocode:</vt:lpstr>
      <vt:lpstr>🔹 Applications of Stack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369</cp:revision>
  <dcterms:created xsi:type="dcterms:W3CDTF">2025-04-05T03:04:11Z</dcterms:created>
  <dcterms:modified xsi:type="dcterms:W3CDTF">2025-07-07T08:46:52Z</dcterms:modified>
</cp:coreProperties>
</file>