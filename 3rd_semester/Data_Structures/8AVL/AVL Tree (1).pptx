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</p:sldMasterIdLst>
  <p:notesMasterIdLst>
    <p:notesMasterId r:id="rId27"/>
  </p:notesMasterIdLst>
  <p:sldIdLst>
    <p:sldId id="397" r:id="rId3"/>
    <p:sldId id="401" r:id="rId4"/>
    <p:sldId id="402" r:id="rId5"/>
    <p:sldId id="403" r:id="rId6"/>
    <p:sldId id="404" r:id="rId7"/>
    <p:sldId id="405" r:id="rId8"/>
    <p:sldId id="406" r:id="rId9"/>
    <p:sldId id="408" r:id="rId10"/>
    <p:sldId id="411" r:id="rId11"/>
    <p:sldId id="413" r:id="rId12"/>
    <p:sldId id="416" r:id="rId13"/>
    <p:sldId id="414" r:id="rId14"/>
    <p:sldId id="415" r:id="rId15"/>
    <p:sldId id="412" r:id="rId16"/>
    <p:sldId id="417" r:id="rId17"/>
    <p:sldId id="418" r:id="rId18"/>
    <p:sldId id="419" r:id="rId19"/>
    <p:sldId id="420" r:id="rId20"/>
    <p:sldId id="422" r:id="rId21"/>
    <p:sldId id="421" r:id="rId22"/>
    <p:sldId id="424" r:id="rId23"/>
    <p:sldId id="407" r:id="rId24"/>
    <p:sldId id="409" r:id="rId25"/>
    <p:sldId id="41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648A7-251D-4C4B-810F-55888340EC93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32FAD-94E8-48F8-ABE1-C27A07E81E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403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89C7E07-3C67-C64C-8DA0-0404F630397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896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1" y="2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2" y="189574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 spc="43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61" y="2281920"/>
            <a:ext cx="6787747" cy="3708517"/>
          </a:xfrm>
        </p:spPr>
        <p:txBody>
          <a:bodyPr lIns="0" tIns="228600" rIns="0" bIns="0">
            <a:normAutofit/>
          </a:bodyPr>
          <a:lstStyle>
            <a:lvl1pPr marL="248034" indent="-248034">
              <a:lnSpc>
                <a:spcPct val="80000"/>
              </a:lnSpc>
              <a:spcBef>
                <a:spcPts val="1926"/>
              </a:spcBef>
              <a:buFont typeface="Arial" panose="020B0604020202020204" pitchFamily="34" charset="0"/>
              <a:buChar char="•"/>
              <a:defRPr lang="en-US" sz="21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48034">
              <a:spcBef>
                <a:spcPts val="52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AE7A3BE3-A3A4-4A31-B2D1-5C953E9DC527}" type="datetime1">
              <a:rPr lang="en-US" smtClean="0">
                <a:latin typeface="+mn-lt"/>
              </a:rPr>
              <a:t>4/27/2025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333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17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0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525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38" dirty="0"/>
          </a:p>
        </p:txBody>
      </p:sp>
    </p:spTree>
    <p:extLst>
      <p:ext uri="{BB962C8B-B14F-4D97-AF65-F5344CB8AC3E}">
        <p14:creationId xmlns:p14="http://schemas.microsoft.com/office/powerpoint/2010/main" val="228308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392">
          <p15:clr>
            <a:srgbClr val="FBAE40"/>
          </p15:clr>
        </p15:guide>
        <p15:guide id="3" pos="5131">
          <p15:clr>
            <a:srgbClr val="FBAE40"/>
          </p15:clr>
        </p15:guide>
        <p15:guide id="4" pos="5387">
          <p15:clr>
            <a:srgbClr val="FBAE40"/>
          </p15:clr>
        </p15:guide>
        <p15:guide id="8" orient="horz" pos="210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17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60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7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1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48034" indent="-248034">
              <a:spcBef>
                <a:spcPts val="1575"/>
              </a:spcBef>
              <a:buFont typeface="Arial" panose="020B0604020202020204" pitchFamily="34" charset="0"/>
              <a:buChar char="•"/>
              <a:defRPr sz="1750"/>
            </a:lvl1pPr>
            <a:lvl2pPr indent="-248034">
              <a:spcBef>
                <a:spcPts val="157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B6094AC-E784-48DD-A888-543E37FD6BFE}" type="datetime1">
              <a:rPr lang="en-US" smtClean="0">
                <a:latin typeface="+mn-lt"/>
              </a:rPr>
              <a:t>4/27/2025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19249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2722">
          <p15:clr>
            <a:srgbClr val="FBAE40"/>
          </p15:clr>
        </p15:guide>
        <p15:guide id="4" pos="6776">
          <p15:clr>
            <a:srgbClr val="FBAE40"/>
          </p15:clr>
        </p15:guide>
        <p15:guide id="5" pos="2296">
          <p15:clr>
            <a:srgbClr val="FBAE40"/>
          </p15:clr>
        </p15:guide>
        <p15:guide id="6" pos="4734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638">
          <p15:clr>
            <a:srgbClr val="FBAE40"/>
          </p15:clr>
        </p15:guide>
        <p15:guide id="9" orient="horz" pos="628">
          <p15:clr>
            <a:srgbClr val="FBAE40"/>
          </p15:clr>
        </p15:guide>
        <p15:guide id="10" pos="6322">
          <p15:clr>
            <a:srgbClr val="FBAE40"/>
          </p15:clr>
        </p15:guide>
        <p15:guide id="11" pos="430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249290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2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2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2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520072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90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480066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8F5FDDE-4FCE-46FC-9D1E-82E2067BF07D}" type="datetime1">
              <a:rPr lang="en-US" smtClean="0">
                <a:latin typeface="+mn-lt"/>
              </a:rPr>
              <a:t>4/27/2025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249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1" y="2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8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6" y="457201"/>
            <a:ext cx="5198269" cy="2305050"/>
          </a:xfrm>
        </p:spPr>
        <p:txBody>
          <a:bodyPr lIns="0" tIns="274320">
            <a:normAutofit/>
          </a:bodyPr>
          <a:lstStyle>
            <a:lvl1pPr marL="400055" indent="-400055">
              <a:spcBef>
                <a:spcPts val="1575"/>
              </a:spcBef>
              <a:buFont typeface="+mj-lt"/>
              <a:buAutoNum type="arabicPeriod"/>
              <a:defRPr sz="1750"/>
            </a:lvl1pPr>
            <a:lvl2pPr marL="800110" indent="-400055">
              <a:spcBef>
                <a:spcPts val="1575"/>
              </a:spcBef>
              <a:buFont typeface="+mj-lt"/>
              <a:buAutoNum type="alphaLcPeriod"/>
              <a:defRPr sz="1750"/>
            </a:lvl2pPr>
            <a:lvl3pPr marL="1200165" indent="-400055">
              <a:spcBef>
                <a:spcPts val="1575"/>
              </a:spcBef>
              <a:buFont typeface="+mj-lt"/>
              <a:buAutoNum type="arabicParenR"/>
              <a:defRPr sz="1750"/>
            </a:lvl3pPr>
            <a:lvl4pPr marL="1200165" indent="0">
              <a:spcBef>
                <a:spcPts val="1575"/>
              </a:spcBef>
              <a:buFont typeface="+mj-lt"/>
              <a:buNone/>
              <a:defRPr sz="1750"/>
            </a:lvl4pPr>
            <a:lvl5pPr marL="2000274" indent="-400055">
              <a:spcBef>
                <a:spcPts val="1575"/>
              </a:spcBef>
              <a:buFont typeface="+mj-lt"/>
              <a:buAutoNum type="arabicPeriod"/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2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248034" indent="-248034">
              <a:spcBef>
                <a:spcPts val="1575"/>
              </a:spcBef>
              <a:defRPr sz="1750"/>
            </a:lvl2pPr>
            <a:lvl3pPr marL="480066" indent="-248034">
              <a:spcBef>
                <a:spcPts val="1575"/>
              </a:spcBef>
              <a:defRPr sz="1750"/>
            </a:lvl3pPr>
            <a:lvl4pPr marL="720098" indent="-248034">
              <a:spcBef>
                <a:spcPts val="1575"/>
              </a:spcBef>
              <a:defRPr sz="1750"/>
            </a:lvl4pPr>
            <a:lvl5pPr marL="880121"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11F5BF9-E5FF-49A6-85B7-274668A709BF}" type="datetime1">
              <a:rPr lang="en-US" smtClean="0">
                <a:latin typeface="+mn-lt"/>
              </a:rPr>
              <a:t>4/27/2025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8496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30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81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indent="-248034">
              <a:spcBef>
                <a:spcPts val="1575"/>
              </a:spcBef>
              <a:defRPr sz="1750"/>
            </a:lvl2pPr>
            <a:lvl3pPr indent="-248034">
              <a:spcBef>
                <a:spcPts val="1575"/>
              </a:spcBef>
              <a:defRPr sz="1750"/>
            </a:lvl3pPr>
            <a:lvl4pPr indent="-248034">
              <a:spcBef>
                <a:spcPts val="1575"/>
              </a:spcBef>
              <a:defRPr sz="1750"/>
            </a:lvl4pPr>
            <a:lvl5pPr indent="-248034"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2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7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867F27-3135-49B5-9523-328765329631}" type="datetime1">
              <a:rPr lang="en-US" smtClean="0">
                <a:latin typeface="+mn-lt"/>
              </a:rPr>
              <a:t>4/27/2025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7707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8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6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575"/>
              </a:spcBef>
              <a:buFont typeface="Arial" panose="020B0604020202020204" pitchFamily="34" charset="0"/>
              <a:buNone/>
              <a:defRPr sz="1750"/>
            </a:lvl1pPr>
            <a:lvl2pPr marL="400055" indent="0">
              <a:spcBef>
                <a:spcPts val="1575"/>
              </a:spcBef>
              <a:buNone/>
              <a:defRPr sz="1750"/>
            </a:lvl2pPr>
            <a:lvl3pPr marL="800110" indent="0">
              <a:spcBef>
                <a:spcPts val="1575"/>
              </a:spcBef>
              <a:buNone/>
              <a:defRPr sz="1750"/>
            </a:lvl3pPr>
            <a:lvl4pPr marL="1200165" indent="0">
              <a:spcBef>
                <a:spcPts val="1575"/>
              </a:spcBef>
              <a:buNone/>
              <a:defRPr sz="1750"/>
            </a:lvl4pPr>
            <a:lvl5pPr marL="1600220" indent="0">
              <a:spcBef>
                <a:spcPts val="1575"/>
              </a:spcBef>
              <a:buNone/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5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575"/>
              </a:spcBef>
              <a:buNone/>
              <a:defRPr sz="1750"/>
            </a:lvl1pPr>
            <a:lvl2pPr>
              <a:spcBef>
                <a:spcPts val="52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02F2146-D6F7-4345-B711-D9089D0FC027}" type="datetime1">
              <a:rPr lang="en-US" smtClean="0">
                <a:latin typeface="+mn-lt"/>
              </a:rPr>
              <a:t>4/27/2025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6593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2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10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575"/>
              </a:spcBef>
              <a:buNone/>
              <a:defRPr sz="1750"/>
            </a:lvl1pPr>
            <a:lvl2pPr>
              <a:spcBef>
                <a:spcPts val="52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00041" indent="-300041">
              <a:spcBef>
                <a:spcPts val="1575"/>
              </a:spcBef>
              <a:buFont typeface="Arial" panose="020B0604020202020204" pitchFamily="34" charset="0"/>
              <a:buChar char="•"/>
              <a:defRPr sz="1750"/>
            </a:lvl1pPr>
            <a:lvl2pPr>
              <a:spcBef>
                <a:spcPts val="1575"/>
              </a:spcBef>
              <a:defRPr sz="1750"/>
            </a:lvl2pPr>
            <a:lvl3pPr>
              <a:spcBef>
                <a:spcPts val="1575"/>
              </a:spcBef>
              <a:defRPr sz="1750"/>
            </a:lvl3pPr>
            <a:lvl4pPr>
              <a:spcBef>
                <a:spcPts val="1575"/>
              </a:spcBef>
              <a:defRPr sz="1750"/>
            </a:lvl4pPr>
            <a:lvl5pPr>
              <a:spcBef>
                <a:spcPts val="1575"/>
              </a:spcBef>
              <a:defRPr sz="175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65B2A43-A627-45E7-84DD-5C36C6D815C9}" type="datetime1">
              <a:rPr lang="en-US" smtClean="0">
                <a:latin typeface="+mn-lt"/>
              </a:rPr>
              <a:t>4/27/2025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53628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2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385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F437B7B-046D-4C0E-BC06-C9A3BA31177F}" type="datetime1">
              <a:rPr lang="en-US" smtClean="0">
                <a:latin typeface="+mn-lt"/>
              </a:rPr>
              <a:t>4/27/2025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816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09">
          <p15:clr>
            <a:srgbClr val="FBAE40"/>
          </p15:clr>
        </p15:guide>
        <p15:guide id="2" pos="8363">
          <p15:clr>
            <a:srgbClr val="FBAE40"/>
          </p15:clr>
        </p15:guide>
        <p15:guide id="3" pos="3402">
          <p15:clr>
            <a:srgbClr val="FBAE40"/>
          </p15:clr>
        </p15:guide>
        <p15:guide id="4" pos="6095">
          <p15:clr>
            <a:srgbClr val="FBAE40"/>
          </p15:clr>
        </p15:guide>
        <p15:guide id="5" pos="2977">
          <p15:clr>
            <a:srgbClr val="FBAE40"/>
          </p15:clr>
        </p15:guide>
        <p15:guide id="6" pos="5670">
          <p15:clr>
            <a:srgbClr val="FBAE40"/>
          </p15:clr>
        </p15:guide>
        <p15:guide id="7" orient="horz" pos="1393">
          <p15:clr>
            <a:srgbClr val="FBAE40"/>
          </p15:clr>
        </p15:guide>
        <p15:guide id="8" orient="horz" pos="1584">
          <p15:clr>
            <a:srgbClr val="FBAE40"/>
          </p15:clr>
        </p15:guide>
        <p15:guide id="10" orient="horz" pos="6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5250" b="1" i="0" spc="87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sz="1738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1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3501"/>
            </a:lvl2pPr>
            <a:lvl3pPr>
              <a:defRPr sz="3501"/>
            </a:lvl3pPr>
            <a:lvl4pPr>
              <a:defRPr sz="3501"/>
            </a:lvl4pPr>
            <a:lvl5pPr>
              <a:defRPr sz="3501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943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AE6F9-6713-456F-8139-48C5EC2606DA}" type="datetime1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Samin Ahmed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8283B-55A7-4531-B812-042440F64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18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ACF8E-FB7F-F5CD-50E7-8D3C24A34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AB460-F7D4-0D88-3A3B-B9C757058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5B9C3-E91A-5F21-8B1B-AAF5DE4E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8F391-2318-9066-E7D5-F74463D63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CDDCD-FA06-33EB-3709-7FC9910AF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696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BB99-C886-0707-ABDD-89275543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51F8-D8CC-0180-61C5-9152710A7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CD9F7-FD89-E98C-99A2-5E2BA96C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4E972-BFBA-536E-65C7-D04EFDAE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C435D-C503-1367-DD9D-D0628D6DF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89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1981-2810-19EF-A5D6-8314A60B1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6BF05-9263-3E02-3F3C-F99BA17B6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E5970-193C-1495-58F1-AB332FD10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530CC-53E3-8463-CFA8-5264B8C2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9F033-248F-C5C0-9241-4336898F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444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2B8C-1F16-691F-6D8E-739F9D1C1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C479-8DFF-9610-2D3B-B76540FF6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FD33C-C8F0-3738-354F-1C33ADAC6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59F7C-4A07-2752-9043-42550DE2C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D25E1-DDBD-EDE5-BD8F-D2DA86776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64ADE-4B34-DC0C-4FA3-ED1C6AAB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02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8F2B-3C27-B880-ED92-837514698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B6E5B-3551-D780-F806-A64082B17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08AA1D-C5F3-2ADB-B87F-2920B4B0C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6C53C-5798-6E35-B1E9-2ACF51953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B1820F-A6E1-A76A-49A9-7921429805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74C487-43C5-FE62-91E7-D6382DCA2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24B49-6D93-5777-0791-BC9C3A274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5AB1D-1FAF-8073-5BCB-1369C9E1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184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E82F-9488-5A82-E79A-767CC434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071CC-1234-A69A-2B05-4D560315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31C31-BAAA-859B-0765-7324C0779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5579F-CE3A-3322-604E-842265C4B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8129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FBA6D-0F92-DF70-254D-4D0665D18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C71D0A-F541-FE6A-C132-FA254DCB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6BA51-5196-B2F9-80DD-42F7A8DC6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282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B1528-307C-0599-B59D-9654A0AAF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C62BE-674B-7E86-EB3D-318D5716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EA5D0-49C0-FA61-6F1F-20D7131A5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E74EA-F9EF-1BC0-2789-BD1F0B9DE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24457-6002-A964-0F3F-59DC9AE41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DBA1E-A00C-0A10-E1F6-FE8370E1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94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8242F-C6E8-541B-84FF-5B79FC52B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118553-1C78-7B3F-98D5-BF055E7087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00733-CB67-FF1A-4970-2E734D3AA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4DCAA-D3FF-ECA8-7C00-11CDE2A3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E76A6-8970-293E-6FCB-335826C3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C658D-3EA1-6B41-8C5C-15166386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841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6A47-99A7-299E-00AE-2DB9DF7F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5E896-6144-C97D-0DE7-8B6024F65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64CB9-A509-E299-A9C1-744374B5C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C7784-A7FD-DB47-E232-5546FFE85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4EB78-AF0E-4BD9-2F2B-B2E626CD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593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70CC8-6684-FDF5-F5AC-69DE78D36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14EAE-9D53-ED50-27E2-530529102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F976E-C336-81AF-09F3-4ED4E619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CEC58-292C-8834-1DA4-EDC538DC6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E35DD-F4A6-64AD-E228-A8E22541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676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1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1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2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63" b="0" i="0">
                <a:solidFill>
                  <a:schemeClr val="bg1"/>
                </a:solidFill>
                <a:latin typeface="+mn-lt"/>
              </a:defRPr>
            </a:lvl1pPr>
          </a:lstStyle>
          <a:p>
            <a:fld id="{E3BC92F9-ED9E-45FE-947B-14976A8B1B40}" type="datetime1">
              <a:rPr lang="en-US" smtClean="0">
                <a:latin typeface="+mn-lt"/>
              </a:rPr>
              <a:t>4/27/2025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2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63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0507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/>
  <p:txStyles>
    <p:titleStyle>
      <a:lvl1pPr algn="l" defTabSz="800110" rtl="0" eaLnBrk="1" latinLnBrk="0" hangingPunct="1">
        <a:lnSpc>
          <a:spcPct val="80000"/>
        </a:lnSpc>
        <a:spcBef>
          <a:spcPct val="0"/>
        </a:spcBef>
        <a:buNone/>
        <a:defRPr sz="3850" b="1" i="0" kern="1200" spc="87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0028" indent="-248034" algn="l" defTabSz="800110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00083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21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000138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75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400193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1800248" indent="-248034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200302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600358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3000413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400467" indent="-200028" algn="l" defTabSz="800110" rtl="0" eaLnBrk="1" latinLnBrk="0" hangingPunct="1">
        <a:lnSpc>
          <a:spcPct val="90000"/>
        </a:lnSpc>
        <a:spcBef>
          <a:spcPts val="437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400055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80011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00165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4pPr>
      <a:lvl5pPr marL="160022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5pPr>
      <a:lvl6pPr marL="2000274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6pPr>
      <a:lvl7pPr marL="240033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7pPr>
      <a:lvl8pPr marL="2800386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8pPr>
      <a:lvl9pPr marL="3200440" algn="l" defTabSz="800110" rtl="0" eaLnBrk="1" latinLnBrk="0" hangingPunct="1">
        <a:defRPr sz="15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58">
          <p15:clr>
            <a:srgbClr val="A4A3A4"/>
          </p15:clr>
        </p15:guide>
        <p15:guide id="2" pos="4536">
          <p15:clr>
            <a:srgbClr val="A4A3A4"/>
          </p15:clr>
        </p15:guide>
        <p15:guide id="3" pos="284">
          <p15:clr>
            <a:srgbClr val="547EBF"/>
          </p15:clr>
        </p15:guide>
        <p15:guide id="4" orient="horz" pos="273">
          <p15:clr>
            <a:srgbClr val="547EBF"/>
          </p15:clr>
        </p15:guide>
        <p15:guide id="5" pos="8789">
          <p15:clr>
            <a:srgbClr val="547EBF"/>
          </p15:clr>
        </p15:guide>
        <p15:guide id="6" orient="horz" pos="4642">
          <p15:clr>
            <a:srgbClr val="547EBF"/>
          </p15:clr>
        </p15:guide>
        <p15:guide id="7" pos="709">
          <p15:clr>
            <a:srgbClr val="547EBF"/>
          </p15:clr>
        </p15:guide>
        <p15:guide id="8" pos="4394">
          <p15:clr>
            <a:srgbClr val="547EBF"/>
          </p15:clr>
        </p15:guide>
        <p15:guide id="9" pos="2495">
          <p15:clr>
            <a:srgbClr val="547EBF"/>
          </p15:clr>
        </p15:guide>
        <p15:guide id="10" pos="2183">
          <p15:clr>
            <a:srgbClr val="547EBF"/>
          </p15:clr>
        </p15:guide>
        <p15:guide id="11" pos="6577">
          <p15:clr>
            <a:srgbClr val="547EBF"/>
          </p15:clr>
        </p15:guide>
        <p15:guide id="12" pos="6889">
          <p15:clr>
            <a:srgbClr val="547EBF"/>
          </p15:clr>
        </p15:guide>
        <p15:guide id="13" pos="5868">
          <p15:clr>
            <a:srgbClr val="9FCC3B"/>
          </p15:clr>
        </p15:guide>
        <p15:guide id="14" pos="6152">
          <p15:clr>
            <a:srgbClr val="9FCC3B"/>
          </p15:clr>
        </p15:guide>
        <p15:guide id="15" pos="3204">
          <p15:clr>
            <a:srgbClr val="9FCC3B"/>
          </p15:clr>
        </p15:guide>
        <p15:guide id="16" pos="2920">
          <p15:clr>
            <a:srgbClr val="9FCC3B"/>
          </p15:clr>
        </p15:guide>
        <p15:guide id="17" pos="465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6D100-EFAE-DF24-0939-CEDC5EB7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FD180-43D5-1779-86D6-921C9DC3D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DF6F9-1A46-2F5F-E0E4-BEDD71DB1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1097EC-0DC1-452A-A5C4-07F7F88F07E7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07DC9-ED17-785C-D4D6-A68F5AF77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0CD8F-65F4-8A26-63F1-F672D7EBBA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F5985-2603-4DF3-830C-CAC7D1257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059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freesvg.org/subscribe-butto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3166" y="788669"/>
            <a:ext cx="4800600" cy="2880360"/>
          </a:xfrm>
        </p:spPr>
        <p:txBody>
          <a:bodyPr/>
          <a:lstStyle/>
          <a:p>
            <a:r>
              <a:rPr lang="en-US" dirty="0"/>
              <a:t>AVL Tree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83166" y="4139662"/>
            <a:ext cx="3908049" cy="1121038"/>
          </a:xfrm>
        </p:spPr>
        <p:txBody>
          <a:bodyPr>
            <a:normAutofit/>
          </a:bodyPr>
          <a:lstStyle/>
          <a:p>
            <a:r>
              <a:rPr lang="en-US" dirty="0"/>
              <a:t>ADT, Applications</a:t>
            </a:r>
          </a:p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C230368-557F-784A-0938-D34B9D616AC0}"/>
              </a:ext>
            </a:extLst>
          </p:cNvPr>
          <p:cNvSpPr txBox="1">
            <a:spLocks/>
          </p:cNvSpPr>
          <p:nvPr/>
        </p:nvSpPr>
        <p:spPr>
          <a:xfrm>
            <a:off x="9435762" y="5409987"/>
            <a:ext cx="2271476" cy="1121039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83464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Samin Ahmed</a:t>
            </a:r>
          </a:p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FAST-NUCES</a:t>
            </a:r>
          </a:p>
          <a:p>
            <a:pPr marL="0" marR="0" lvl="0" indent="0" algn="l" defTabSz="900113" rtl="0" eaLnBrk="1" fontAlgn="auto" latinLnBrk="0" hangingPunct="1">
              <a:lnSpc>
                <a:spcPct val="90000"/>
              </a:lnSpc>
              <a:spcBef>
                <a:spcPts val="984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756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Peshawar Campus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9170235-8272-D703-3BDB-65C3B1202FFC}"/>
              </a:ext>
            </a:extLst>
          </p:cNvPr>
          <p:cNvSpPr txBox="1">
            <a:spLocks/>
          </p:cNvSpPr>
          <p:nvPr/>
        </p:nvSpPr>
        <p:spPr>
          <a:xfrm>
            <a:off x="3844577" y="901045"/>
            <a:ext cx="3440644" cy="11210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800110" rtl="0" eaLnBrk="1" latinLnBrk="0" hangingPunct="1">
              <a:lnSpc>
                <a:spcPct val="90000"/>
              </a:lnSpc>
              <a:spcBef>
                <a:spcPts val="875"/>
              </a:spcBef>
              <a:buFont typeface="Arial" panose="020B0604020202020204" pitchFamily="34" charset="0"/>
              <a:buNone/>
              <a:defRPr sz="2100" b="1" i="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008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0013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00193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00248" indent="-248034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3501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200302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00358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00413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00467" indent="-200028" algn="l" defTabSz="800110" rtl="0" eaLnBrk="1" latinLnBrk="0" hangingPunct="1">
              <a:lnSpc>
                <a:spcPct val="90000"/>
              </a:lnSpc>
              <a:spcBef>
                <a:spcPts val="437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00110" rtl="0" eaLnBrk="1" fontAlgn="auto" latinLnBrk="0" hangingPunct="1">
              <a:lnSpc>
                <a:spcPct val="90000"/>
              </a:lnSpc>
              <a:spcBef>
                <a:spcPts val="8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7CA655">
                    <a:lumMod val="75000"/>
                  </a:srgbClr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t>Link1</a:t>
            </a:r>
          </a:p>
        </p:txBody>
      </p:sp>
      <p:pic>
        <p:nvPicPr>
          <p:cNvPr id="6" name="Picture 5" descr="A gold square with black text&#10;&#10;AI-generated content may be incorrect.">
            <a:extLst>
              <a:ext uri="{FF2B5EF4-FFF2-40B4-BE49-F238E27FC236}">
                <a16:creationId xmlns:a16="http://schemas.microsoft.com/office/drawing/2014/main" id="{3566F8C3-5A48-408C-F73F-5AB945081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664061" y="1005975"/>
            <a:ext cx="2072343" cy="112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432895">
        <p:random/>
      </p:transition>
    </mc:Choice>
    <mc:Fallback xmlns="">
      <p:transition spd="slow" advTm="1432895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build="p"/>
      <p:bldP spid="2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FC7122D-1123-1F01-76FB-F7F0BED50611}"/>
              </a:ext>
            </a:extLst>
          </p:cNvPr>
          <p:cNvSpPr txBox="1">
            <a:spLocks/>
          </p:cNvSpPr>
          <p:nvPr/>
        </p:nvSpPr>
        <p:spPr>
          <a:xfrm>
            <a:off x="594360" y="199185"/>
            <a:ext cx="9778365" cy="57036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80011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50" b="1" i="0" u="none" strike="noStrike" kern="1200" cap="none" spc="87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Demi"/>
                <a:ea typeface="+mj-ea"/>
                <a:cs typeface="+mj-cs"/>
              </a:rPr>
              <a:t>AVL Tree</a:t>
            </a:r>
            <a:endParaRPr kumimoji="0" lang="en-US" sz="3850" b="1" i="0" u="none" strike="noStrike" kern="1200" cap="none" spc="87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marR="0" lvl="0" indent="0" algn="ctr" defTabSz="80011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A33B1F-1E94-68E9-F0C2-2ADC08C73421}"/>
              </a:ext>
            </a:extLst>
          </p:cNvPr>
          <p:cNvSpPr txBox="1">
            <a:spLocks/>
          </p:cNvSpPr>
          <p:nvPr/>
        </p:nvSpPr>
        <p:spPr>
          <a:xfrm>
            <a:off x="277496" y="874929"/>
            <a:ext cx="8450049" cy="54172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What is an AVL Tree?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dirty="0">
                <a:latin typeface="Arial" panose="020B0604020202020204" pitchFamily="34" charset="0"/>
              </a:rPr>
              <a:t>An </a:t>
            </a:r>
            <a:r>
              <a:rPr lang="en-US" altLang="en-US" sz="2400" b="1" dirty="0">
                <a:latin typeface="Arial" panose="020B0604020202020204" pitchFamily="34" charset="0"/>
              </a:rPr>
              <a:t>AVL Tree</a:t>
            </a:r>
            <a:r>
              <a:rPr lang="en-US" altLang="en-US" sz="2400" dirty="0">
                <a:latin typeface="Arial" panose="020B0604020202020204" pitchFamily="34" charset="0"/>
              </a:rPr>
              <a:t> is a type of </a:t>
            </a:r>
            <a:r>
              <a:rPr lang="en-US" altLang="en-US" sz="2400" b="1" dirty="0">
                <a:latin typeface="Arial" panose="020B0604020202020204" pitchFamily="34" charset="0"/>
              </a:rPr>
              <a:t>self-balancing binary search tree (BST)</a:t>
            </a:r>
            <a:r>
              <a:rPr lang="en-US" altLang="en-US" sz="2400" dirty="0">
                <a:latin typeface="Arial" panose="020B0604020202020204" pitchFamily="34" charset="0"/>
              </a:rPr>
              <a:t>. It’s named after its inventors </a:t>
            </a:r>
            <a:r>
              <a:rPr lang="en-US" altLang="en-US" sz="2400" b="1" dirty="0">
                <a:latin typeface="Arial" panose="020B0604020202020204" pitchFamily="34" charset="0"/>
              </a:rPr>
              <a:t>Adelson-</a:t>
            </a:r>
            <a:r>
              <a:rPr lang="en-US" altLang="en-US" sz="2400" b="1" dirty="0" err="1">
                <a:latin typeface="Arial" panose="020B0604020202020204" pitchFamily="34" charset="0"/>
              </a:rPr>
              <a:t>Velsky</a:t>
            </a:r>
            <a:r>
              <a:rPr lang="en-US" altLang="en-US" sz="2400" b="1" dirty="0">
                <a:latin typeface="Arial" panose="020B0604020202020204" pitchFamily="34" charset="0"/>
              </a:rPr>
              <a:t> and Landis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✅ Key Idea: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In a normal BST, the tree can become unbalanced, which means operations like search, insert, or delete may take too long (O(n)).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The AVL Tree automatically keeps itself balanced after every insert or delete to make sure operations stay fast (O(log n)).</a:t>
            </a:r>
          </a:p>
          <a:p>
            <a:pPr marL="342900" indent="-342900">
              <a:buSzPct val="160000"/>
              <a:buBlip>
                <a:blip r:embed="rId2"/>
              </a:buBlip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6755B-B4BD-AB89-D614-F3D445562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727545" y="874929"/>
            <a:ext cx="3213975" cy="461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1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8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795EB-B590-DDDD-D0B8-75D1E9587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0072C35-63F6-545A-3C3F-29AAE56A4779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778365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📏 Balance Factor</a:t>
            </a:r>
          </a:p>
          <a:p>
            <a:pPr marL="0" marR="0" lvl="0" indent="0" algn="ctr" defTabSz="80011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353F55-A4DA-9E84-D387-33F142265868}"/>
              </a:ext>
            </a:extLst>
          </p:cNvPr>
          <p:cNvSpPr txBox="1">
            <a:spLocks/>
          </p:cNvSpPr>
          <p:nvPr/>
        </p:nvSpPr>
        <p:spPr>
          <a:xfrm>
            <a:off x="413293" y="874929"/>
            <a:ext cx="11111768" cy="54172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The balance factor of a node in an AVL tree is: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Balance Factor = Height of Left Subtree  </a:t>
            </a:r>
            <a:r>
              <a:rPr lang="en-US" altLang="en-US" sz="5600" b="1" dirty="0">
                <a:latin typeface="Arial" panose="020B0604020202020204" pitchFamily="34" charset="0"/>
              </a:rPr>
              <a:t>-</a:t>
            </a:r>
            <a:r>
              <a:rPr lang="en-US" altLang="en-US" sz="2400" b="1" dirty="0">
                <a:latin typeface="Arial" panose="020B0604020202020204" pitchFamily="34" charset="0"/>
              </a:rPr>
              <a:t>  Height of Right Subtree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Allowed Balance Factors:</a:t>
            </a:r>
          </a:p>
          <a:p>
            <a:pPr marL="0" indent="0">
              <a:buSzPct val="160000"/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6000" b="1" dirty="0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r>
              <a:rPr lang="en-US" altLang="en-US" sz="6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-1,    0,   +1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If a node has a balance factor outside this range, the tree is unbalanced, and we need to rebalance it using </a:t>
            </a:r>
            <a:r>
              <a:rPr lang="en-US" altLang="en-US" sz="2400" b="1" u="sng" dirty="0">
                <a:latin typeface="Arial" panose="020B0604020202020204" pitchFamily="34" charset="0"/>
              </a:rPr>
              <a:t>rotations</a:t>
            </a:r>
            <a:r>
              <a:rPr lang="en-US" altLang="en-US" sz="2400" b="1" dirty="0">
                <a:latin typeface="Arial" panose="020B0604020202020204" pitchFamily="34" charset="0"/>
              </a:rPr>
              <a:t>.</a:t>
            </a:r>
          </a:p>
          <a:p>
            <a:pPr marL="0" indent="0">
              <a:buSzPct val="160000"/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44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5A824-0574-DAD4-3280-406B4683E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E92654-713D-AA45-2661-227AFD8ED75B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980088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🔄 Rotations (Rebalance </a:t>
            </a:r>
            <a:r>
              <a:rPr lang="en-US" dirty="0" err="1">
                <a:solidFill>
                  <a:srgbClr val="000000"/>
                </a:solidFill>
                <a:latin typeface="Franklin Gothic Demi"/>
              </a:rPr>
              <a:t>Tree,Simple</a:t>
            </a:r>
            <a:r>
              <a:rPr lang="en-US" dirty="0">
                <a:solidFill>
                  <a:srgbClr val="000000"/>
                </a:solidFill>
                <a:latin typeface="Franklin Gothic Demi"/>
              </a:rPr>
              <a:t> Case)</a:t>
            </a: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E468F9-30F5-FD64-7815-350689372A93}"/>
              </a:ext>
            </a:extLst>
          </p:cNvPr>
          <p:cNvSpPr txBox="1">
            <a:spLocks/>
          </p:cNvSpPr>
          <p:nvPr/>
        </p:nvSpPr>
        <p:spPr>
          <a:xfrm>
            <a:off x="413293" y="992618"/>
            <a:ext cx="10813004" cy="54172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There are four types of rotations: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1. Right Rotation (Single Rotation) - LL Case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Happens when the unbalanced node has a left child and a left subtree.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Looks like a “leaning left” tree.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0A7D2-119D-A5CC-10D6-65AC9C18C2F8}"/>
              </a:ext>
            </a:extLst>
          </p:cNvPr>
          <p:cNvSpPr txBox="1"/>
          <p:nvPr/>
        </p:nvSpPr>
        <p:spPr>
          <a:xfrm>
            <a:off x="1989499" y="3429000"/>
            <a:ext cx="6097508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z                     y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/                    /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y      =&gt;        x     z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/    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65887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5E1B2-E86A-3F5E-A089-5AD64D57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FC1279-6DD6-EE39-F4DC-170284800F38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943874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🔄 Rotations (Rebalance </a:t>
            </a:r>
            <a:r>
              <a:rPr lang="en-US" dirty="0" err="1">
                <a:solidFill>
                  <a:srgbClr val="000000"/>
                </a:solidFill>
                <a:latin typeface="Franklin Gothic Demi"/>
              </a:rPr>
              <a:t>Tree,Simple</a:t>
            </a:r>
            <a:r>
              <a:rPr lang="en-US" dirty="0">
                <a:solidFill>
                  <a:srgbClr val="000000"/>
                </a:solidFill>
                <a:latin typeface="Franklin Gothic Demi"/>
              </a:rPr>
              <a:t> Case)</a:t>
            </a:r>
            <a:endParaRPr lang="en-PK" sz="7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802D01-13F7-2FC2-F5C4-7516DCA1702C}"/>
              </a:ext>
            </a:extLst>
          </p:cNvPr>
          <p:cNvSpPr txBox="1">
            <a:spLocks/>
          </p:cNvSpPr>
          <p:nvPr/>
        </p:nvSpPr>
        <p:spPr>
          <a:xfrm>
            <a:off x="413292" y="992618"/>
            <a:ext cx="11274732" cy="54172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There are four types of rotations: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2. Left Rotation (Single Rotation) - RR Case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Happens when the unbalanced node has a right child and a right subtree.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Looks like a “leaning right” tree.</a:t>
            </a: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51C417-2F4A-A85E-52AF-0A516BAA4FF8}"/>
              </a:ext>
            </a:extLst>
          </p:cNvPr>
          <p:cNvSpPr txBox="1"/>
          <p:nvPr/>
        </p:nvSpPr>
        <p:spPr>
          <a:xfrm>
            <a:off x="1989499" y="3429000"/>
            <a:ext cx="6097508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z                          y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\                        /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y       =&gt;        z     x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x</a:t>
            </a:r>
          </a:p>
        </p:txBody>
      </p:sp>
    </p:spTree>
    <p:extLst>
      <p:ext uri="{BB962C8B-B14F-4D97-AF65-F5344CB8AC3E}">
        <p14:creationId xmlns:p14="http://schemas.microsoft.com/office/powerpoint/2010/main" val="688860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9087-3856-FBAF-60A7-2D8C9389D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9C0ED20-EDE1-BA12-FBF1-767EE25951E2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835232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🔄 Rotations (Rebalance </a:t>
            </a:r>
            <a:r>
              <a:rPr lang="en-US" dirty="0" err="1">
                <a:solidFill>
                  <a:srgbClr val="000000"/>
                </a:solidFill>
                <a:latin typeface="Franklin Gothic Demi"/>
              </a:rPr>
              <a:t>Tree,Simple</a:t>
            </a:r>
            <a:r>
              <a:rPr lang="en-US" dirty="0">
                <a:solidFill>
                  <a:srgbClr val="000000"/>
                </a:solidFill>
                <a:latin typeface="Franklin Gothic Demi"/>
              </a:rPr>
              <a:t> Case)</a:t>
            </a:r>
            <a:endParaRPr lang="en-PK" sz="7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A23CF3-A252-96E2-3889-9B82526AF06F}"/>
              </a:ext>
            </a:extLst>
          </p:cNvPr>
          <p:cNvSpPr txBox="1">
            <a:spLocks/>
          </p:cNvSpPr>
          <p:nvPr/>
        </p:nvSpPr>
        <p:spPr>
          <a:xfrm>
            <a:off x="177909" y="992618"/>
            <a:ext cx="11147976" cy="54172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There are four types of rotations: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3. Left-Right Rotation (Double Rotation) - LR Case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Happens when the unbalanced node has a left child and a right subtree.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Double Rotations: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2000" b="1" dirty="0">
                <a:latin typeface="Arial" panose="020B0604020202020204" pitchFamily="34" charset="0"/>
              </a:rPr>
              <a:t>L (rotation): swap and make subtree (different from RR)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2000" b="1" dirty="0">
                <a:latin typeface="Arial" panose="020B0604020202020204" pitchFamily="34" charset="0"/>
              </a:rPr>
              <a:t>R (rotation): make the unbalanced node the childe of subtree and adjust the tree.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C0F37-D15E-63CB-3AFD-AA457BFB3015}"/>
              </a:ext>
            </a:extLst>
          </p:cNvPr>
          <p:cNvSpPr txBox="1"/>
          <p:nvPr/>
        </p:nvSpPr>
        <p:spPr>
          <a:xfrm>
            <a:off x="5207121" y="3702054"/>
            <a:ext cx="1482933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z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/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y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\                 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x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FBDA9F-C011-82AA-BBFE-6EE88C96D11F}"/>
              </a:ext>
            </a:extLst>
          </p:cNvPr>
          <p:cNvSpPr txBox="1"/>
          <p:nvPr/>
        </p:nvSpPr>
        <p:spPr>
          <a:xfrm>
            <a:off x="6690054" y="3702054"/>
            <a:ext cx="2360645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       z      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/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=&gt;	  x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/ 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77CCF3-9C8B-EE77-591C-DC9091CF8E99}"/>
              </a:ext>
            </a:extLst>
          </p:cNvPr>
          <p:cNvSpPr txBox="1"/>
          <p:nvPr/>
        </p:nvSpPr>
        <p:spPr>
          <a:xfrm>
            <a:off x="9036962" y="3778471"/>
            <a:ext cx="2806778" cy="206210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         x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  /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=&gt;          y    z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57331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  <p:bldP spid="7" grpId="0" animBg="1"/>
      <p:bldP spid="2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E00EF-3DCF-FA0F-B4DD-F2157AFF6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FBE54E6-6AA0-A654-D3CD-F9986D5A2734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826179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🔄 Rotations (Rebalance </a:t>
            </a:r>
            <a:r>
              <a:rPr lang="en-US" dirty="0" err="1">
                <a:solidFill>
                  <a:srgbClr val="000000"/>
                </a:solidFill>
                <a:latin typeface="Franklin Gothic Demi"/>
              </a:rPr>
              <a:t>Tree,Simple</a:t>
            </a:r>
            <a:r>
              <a:rPr lang="en-US" dirty="0">
                <a:solidFill>
                  <a:srgbClr val="000000"/>
                </a:solidFill>
                <a:latin typeface="Franklin Gothic Demi"/>
              </a:rPr>
              <a:t> Case)</a:t>
            </a:r>
            <a:endParaRPr lang="en-PK" sz="7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210F09-EE27-41B9-961A-5D0DAFC9CE3D}"/>
              </a:ext>
            </a:extLst>
          </p:cNvPr>
          <p:cNvSpPr txBox="1">
            <a:spLocks/>
          </p:cNvSpPr>
          <p:nvPr/>
        </p:nvSpPr>
        <p:spPr>
          <a:xfrm>
            <a:off x="141695" y="992618"/>
            <a:ext cx="11184190" cy="54172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There are four types of rotations: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4. Right-Left Rotation (Double Rotation) - RL Case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Happens when the unbalanced node has a right child and a left subtree.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Double Rotations: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2000" b="1" dirty="0">
                <a:latin typeface="Arial" panose="020B0604020202020204" pitchFamily="34" charset="0"/>
              </a:rPr>
              <a:t>R (rotation): swap and make subtree (different from LL)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2000" b="1" dirty="0">
                <a:latin typeface="Arial" panose="020B0604020202020204" pitchFamily="34" charset="0"/>
              </a:rPr>
              <a:t>L (rotation): make the unbalanced node the childe of subtree and adjust the tree.</a:t>
            </a:r>
          </a:p>
          <a:p>
            <a:pPr marL="0" indent="0">
              <a:buSzPct val="160000"/>
              <a:buNone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CA887-DC29-C30B-2050-8131D5ADFFAB}"/>
              </a:ext>
            </a:extLst>
          </p:cNvPr>
          <p:cNvSpPr txBox="1"/>
          <p:nvPr/>
        </p:nvSpPr>
        <p:spPr>
          <a:xfrm>
            <a:off x="4996843" y="3643349"/>
            <a:ext cx="1426891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z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\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y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/                     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x             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C6814A-AA03-1E67-9CF6-EB19BFD1EF32}"/>
              </a:ext>
            </a:extLst>
          </p:cNvPr>
          <p:cNvSpPr txBox="1"/>
          <p:nvPr/>
        </p:nvSpPr>
        <p:spPr>
          <a:xfrm>
            <a:off x="6437383" y="3643349"/>
            <a:ext cx="2668556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z      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\   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=&gt;	   x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 \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   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682CBA-94E6-DA39-427F-C76E383C08A6}"/>
              </a:ext>
            </a:extLst>
          </p:cNvPr>
          <p:cNvSpPr txBox="1"/>
          <p:nvPr/>
        </p:nvSpPr>
        <p:spPr>
          <a:xfrm>
            <a:off x="9128919" y="3761512"/>
            <a:ext cx="2806778" cy="206210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         x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  /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=&gt;          z    y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4572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  <p:bldP spid="7" grpId="0" animBg="1"/>
      <p:bldP spid="2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D193-6267-585B-5AF9-5BA6DB6B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CF3B6A-8FA4-7C35-EDA1-20F4FD6ECA0A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10034408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🔄 Rotations (Rebalance </a:t>
            </a:r>
            <a:r>
              <a:rPr lang="en-US" dirty="0" err="1">
                <a:solidFill>
                  <a:srgbClr val="000000"/>
                </a:solidFill>
                <a:latin typeface="Franklin Gothic Demi"/>
              </a:rPr>
              <a:t>Tree,Simple</a:t>
            </a:r>
            <a:r>
              <a:rPr lang="en-US" dirty="0">
                <a:solidFill>
                  <a:srgbClr val="000000"/>
                </a:solidFill>
                <a:latin typeface="Franklin Gothic Demi"/>
              </a:rPr>
              <a:t> Case)</a:t>
            </a:r>
            <a:endParaRPr lang="en-PK" sz="72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8DBD46-D867-A885-8BE8-3EE3BCAD1853}"/>
              </a:ext>
            </a:extLst>
          </p:cNvPr>
          <p:cNvSpPr txBox="1">
            <a:spLocks/>
          </p:cNvSpPr>
          <p:nvPr/>
        </p:nvSpPr>
        <p:spPr>
          <a:xfrm>
            <a:off x="413293" y="992618"/>
            <a:ext cx="8450049" cy="54172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Summary of  four rotations: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1. LL Case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2. RR Case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3. LR Case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4. RL Case</a:t>
            </a:r>
          </a:p>
          <a:p>
            <a:pPr marL="342900" indent="-342900">
              <a:buSzPct val="160000"/>
              <a:buBlip>
                <a:blip r:embed="rId2"/>
              </a:buBlip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342900" indent="-342900">
              <a:buSzPct val="160000"/>
              <a:buBlip>
                <a:blip r:embed="rId2"/>
              </a:buBlip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CF57F-634D-C05C-B389-74D799D35809}"/>
              </a:ext>
            </a:extLst>
          </p:cNvPr>
          <p:cNvSpPr txBox="1"/>
          <p:nvPr/>
        </p:nvSpPr>
        <p:spPr>
          <a:xfrm>
            <a:off x="3510479" y="2849110"/>
            <a:ext cx="6765203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z                   </a:t>
            </a:r>
            <a:r>
              <a:rPr lang="en-US" sz="3200" b="1" dirty="0" err="1">
                <a:solidFill>
                  <a:schemeClr val="bg1"/>
                </a:solidFill>
              </a:rPr>
              <a:t>z</a:t>
            </a:r>
            <a:r>
              <a:rPr lang="en-US" sz="3200" b="1" dirty="0">
                <a:solidFill>
                  <a:schemeClr val="bg1"/>
                </a:solidFill>
              </a:rPr>
              <a:t>                   x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\                   \                 /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y       =&gt;     x     =&gt;    z    y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/                     \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x                       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622C5-B22D-5DD8-2474-928DED56FAE2}"/>
              </a:ext>
            </a:extLst>
          </p:cNvPr>
          <p:cNvSpPr txBox="1"/>
          <p:nvPr/>
        </p:nvSpPr>
        <p:spPr>
          <a:xfrm>
            <a:off x="3510479" y="2849110"/>
            <a:ext cx="6765202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z                    y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/                    /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y      =&gt;        x     z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/    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77FB53-F354-7F7B-6809-EFFD3363BC40}"/>
              </a:ext>
            </a:extLst>
          </p:cNvPr>
          <p:cNvSpPr txBox="1"/>
          <p:nvPr/>
        </p:nvSpPr>
        <p:spPr>
          <a:xfrm>
            <a:off x="3510477" y="2849110"/>
            <a:ext cx="6765201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z                          y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\                        /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y       =&gt;        z     x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7AF89-F545-56B0-2181-9F82880CB1E3}"/>
              </a:ext>
            </a:extLst>
          </p:cNvPr>
          <p:cNvSpPr txBox="1"/>
          <p:nvPr/>
        </p:nvSpPr>
        <p:spPr>
          <a:xfrm>
            <a:off x="3510475" y="2849110"/>
            <a:ext cx="6765203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z                </a:t>
            </a:r>
            <a:r>
              <a:rPr lang="en-US" sz="3200" b="1" dirty="0" err="1">
                <a:solidFill>
                  <a:schemeClr val="bg1"/>
                </a:solidFill>
              </a:rPr>
              <a:t>z</a:t>
            </a:r>
            <a:r>
              <a:rPr lang="en-US" sz="3200" b="1" dirty="0">
                <a:solidFill>
                  <a:schemeClr val="bg1"/>
                </a:solidFill>
              </a:rPr>
              <a:t>                 x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/                 /                 /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y       =&gt;    x       =&gt;     y     z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\               /            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x           y</a:t>
            </a:r>
          </a:p>
        </p:txBody>
      </p:sp>
    </p:spTree>
    <p:extLst>
      <p:ext uri="{BB962C8B-B14F-4D97-AF65-F5344CB8AC3E}">
        <p14:creationId xmlns:p14="http://schemas.microsoft.com/office/powerpoint/2010/main" val="352148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2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5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  <p:bldP spid="7" grpId="0" animBg="1"/>
      <p:bldP spid="2" grpId="0" animBg="1"/>
      <p:bldP spid="2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E32B-6B8B-EF9C-ABE7-673147AB7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EC4A497-BBBF-50D6-6174-C6D4312D1785}"/>
              </a:ext>
            </a:extLst>
          </p:cNvPr>
          <p:cNvSpPr txBox="1">
            <a:spLocks/>
          </p:cNvSpPr>
          <p:nvPr/>
        </p:nvSpPr>
        <p:spPr>
          <a:xfrm>
            <a:off x="648681" y="54335"/>
            <a:ext cx="10315066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000000"/>
                </a:solidFill>
                <a:latin typeface="Franklin Gothic Demi"/>
              </a:rPr>
              <a:t>✅ AVL Tree Practice: understanding balance factor</a:t>
            </a:r>
            <a:endParaRPr kumimoji="0" lang="en-PK" sz="320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0857BA-9080-A572-C47C-FC37E8E42D38}"/>
              </a:ext>
            </a:extLst>
          </p:cNvPr>
          <p:cNvSpPr txBox="1"/>
          <p:nvPr/>
        </p:nvSpPr>
        <p:spPr>
          <a:xfrm>
            <a:off x="731064" y="1491098"/>
            <a:ext cx="2093618" cy="156966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10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5    15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4799A-3932-E6B5-2F83-BC6A0C32049D}"/>
              </a:ext>
            </a:extLst>
          </p:cNvPr>
          <p:cNvSpPr txBox="1"/>
          <p:nvPr/>
        </p:nvSpPr>
        <p:spPr>
          <a:xfrm>
            <a:off x="4512736" y="1491098"/>
            <a:ext cx="1977432" cy="156966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20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EF038-89A7-FF63-C529-FD87C1F21391}"/>
              </a:ext>
            </a:extLst>
          </p:cNvPr>
          <p:cNvSpPr txBox="1"/>
          <p:nvPr/>
        </p:nvSpPr>
        <p:spPr>
          <a:xfrm>
            <a:off x="8178222" y="1491098"/>
            <a:ext cx="1977432" cy="156966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30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40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1D512-630B-CE06-3420-389F6EA24AF5}"/>
              </a:ext>
            </a:extLst>
          </p:cNvPr>
          <p:cNvSpPr txBox="1"/>
          <p:nvPr/>
        </p:nvSpPr>
        <p:spPr>
          <a:xfrm>
            <a:off x="4209862" y="3905902"/>
            <a:ext cx="3046565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30    70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80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B8B8FD-EBDB-B6C5-2C20-7FA3D4D2D39E}"/>
              </a:ext>
            </a:extLst>
          </p:cNvPr>
          <p:cNvSpPr txBox="1"/>
          <p:nvPr/>
        </p:nvSpPr>
        <p:spPr>
          <a:xfrm>
            <a:off x="350443" y="844767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Balance Factor of 10: 1 – 1 = 0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A250FA-F1FB-74DA-8142-7F6E9E925146}"/>
              </a:ext>
            </a:extLst>
          </p:cNvPr>
          <p:cNvSpPr txBox="1"/>
          <p:nvPr/>
        </p:nvSpPr>
        <p:spPr>
          <a:xfrm>
            <a:off x="3952214" y="832936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Balance Factor of 20: 1 – 0 = 1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C7A27B-EBDE-4C87-9361-B59FF4048E42}"/>
              </a:ext>
            </a:extLst>
          </p:cNvPr>
          <p:cNvSpPr txBox="1"/>
          <p:nvPr/>
        </p:nvSpPr>
        <p:spPr>
          <a:xfrm>
            <a:off x="7739508" y="832935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Balance Factor of 30: 0 – 1 = -1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FCF5EE-8BDF-B92B-A1CE-BF54F88A489E}"/>
              </a:ext>
            </a:extLst>
          </p:cNvPr>
          <p:cNvSpPr txBox="1"/>
          <p:nvPr/>
        </p:nvSpPr>
        <p:spPr>
          <a:xfrm>
            <a:off x="4209862" y="3259571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Balance Factor of 50: 1 – 2 = -1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29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animBg="1"/>
      <p:bldP spid="5" grpId="0" animBg="1"/>
      <p:bldP spid="8" grpId="0" animBg="1"/>
      <p:bldP spid="9" grpId="0" animBg="1"/>
      <p:bldP spid="11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0B684-94DD-14C7-A3F1-11633925D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FEC2CD0-2EC5-242A-F2E6-F6CD67BB4B50}"/>
              </a:ext>
            </a:extLst>
          </p:cNvPr>
          <p:cNvSpPr txBox="1">
            <a:spLocks/>
          </p:cNvSpPr>
          <p:nvPr/>
        </p:nvSpPr>
        <p:spPr>
          <a:xfrm>
            <a:off x="648681" y="153918"/>
            <a:ext cx="10315066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000000"/>
                </a:solidFill>
                <a:latin typeface="Franklin Gothic Demi"/>
              </a:rPr>
              <a:t>🔄 Identify the Rotation</a:t>
            </a:r>
            <a:endParaRPr kumimoji="0" lang="en-PK" sz="320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652AC6-6917-3E2E-CEFF-FC0FC0952621}"/>
              </a:ext>
            </a:extLst>
          </p:cNvPr>
          <p:cNvSpPr txBox="1"/>
          <p:nvPr/>
        </p:nvSpPr>
        <p:spPr>
          <a:xfrm>
            <a:off x="477192" y="1385216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30 → 20 → 10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06C5C-0132-082E-CD22-770C59D435CE}"/>
              </a:ext>
            </a:extLst>
          </p:cNvPr>
          <p:cNvSpPr txBox="1"/>
          <p:nvPr/>
        </p:nvSpPr>
        <p:spPr>
          <a:xfrm>
            <a:off x="648681" y="2151727"/>
            <a:ext cx="2093618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30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20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6E7D11-33AE-F4D3-2DE5-C9E5D3B276D6}"/>
              </a:ext>
            </a:extLst>
          </p:cNvPr>
          <p:cNvSpPr txBox="1"/>
          <p:nvPr/>
        </p:nvSpPr>
        <p:spPr>
          <a:xfrm>
            <a:off x="3549333" y="2151726"/>
            <a:ext cx="5006191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30                      20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/           →     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20                    10   30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D65236-0DA7-A353-F9F1-E2720D84784B}"/>
              </a:ext>
            </a:extLst>
          </p:cNvPr>
          <p:cNvSpPr txBox="1"/>
          <p:nvPr/>
        </p:nvSpPr>
        <p:spPr>
          <a:xfrm>
            <a:off x="4532693" y="1385215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Case → </a:t>
            </a:r>
            <a:r>
              <a:rPr lang="en-US" b="1" dirty="0"/>
              <a:t>LL 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/>
              <a:t>Case → Right Rotation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0868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 animBg="1"/>
      <p:bldP spid="10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5FC0-07B2-BF08-1138-68D02C8F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5E90350-4C85-FA0E-EBF1-2ECDADCA0622}"/>
              </a:ext>
            </a:extLst>
          </p:cNvPr>
          <p:cNvSpPr txBox="1">
            <a:spLocks/>
          </p:cNvSpPr>
          <p:nvPr/>
        </p:nvSpPr>
        <p:spPr>
          <a:xfrm>
            <a:off x="648681" y="153918"/>
            <a:ext cx="10315066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000000"/>
                </a:solidFill>
                <a:latin typeface="Franklin Gothic Demi"/>
              </a:rPr>
              <a:t>🔄 Identify the Rotation</a:t>
            </a:r>
            <a:endParaRPr kumimoji="0" lang="en-PK" sz="320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DB9D99-1DF2-BBF7-4FBB-9957A6FD073D}"/>
              </a:ext>
            </a:extLst>
          </p:cNvPr>
          <p:cNvSpPr txBox="1"/>
          <p:nvPr/>
        </p:nvSpPr>
        <p:spPr>
          <a:xfrm>
            <a:off x="1210522" y="1451341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50 → 60 → 70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5F640-0403-5778-C5DE-5DE06DB7545B}"/>
              </a:ext>
            </a:extLst>
          </p:cNvPr>
          <p:cNvSpPr txBox="1"/>
          <p:nvPr/>
        </p:nvSpPr>
        <p:spPr>
          <a:xfrm>
            <a:off x="1508760" y="2595347"/>
            <a:ext cx="2093618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60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70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E4185C-8B66-594A-75C7-268A04B986D2}"/>
              </a:ext>
            </a:extLst>
          </p:cNvPr>
          <p:cNvSpPr txBox="1"/>
          <p:nvPr/>
        </p:nvSpPr>
        <p:spPr>
          <a:xfrm>
            <a:off x="4409412" y="1520217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Case → </a:t>
            </a:r>
            <a:r>
              <a:rPr lang="en-US" b="1" dirty="0"/>
              <a:t>RR 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/>
              <a:t>Case → Left Rotation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2CFF09-1448-6FA9-1B4E-4C487C587615}"/>
              </a:ext>
            </a:extLst>
          </p:cNvPr>
          <p:cNvSpPr txBox="1"/>
          <p:nvPr/>
        </p:nvSpPr>
        <p:spPr>
          <a:xfrm>
            <a:off x="4655364" y="2703987"/>
            <a:ext cx="2300715" cy="156966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60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/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50    70</a:t>
            </a:r>
          </a:p>
        </p:txBody>
      </p:sp>
    </p:spTree>
    <p:extLst>
      <p:ext uri="{BB962C8B-B14F-4D97-AF65-F5344CB8AC3E}">
        <p14:creationId xmlns:p14="http://schemas.microsoft.com/office/powerpoint/2010/main" val="268056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 animBg="1"/>
      <p:bldP spid="15" grpId="0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6F693-DDFA-1109-F7D6-0DD440570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CD1B556-67A4-1561-0675-84890B060CB4}"/>
              </a:ext>
            </a:extLst>
          </p:cNvPr>
          <p:cNvSpPr txBox="1">
            <a:spLocks/>
          </p:cNvSpPr>
          <p:nvPr/>
        </p:nvSpPr>
        <p:spPr>
          <a:xfrm>
            <a:off x="648681" y="153918"/>
            <a:ext cx="10315066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000000"/>
                </a:solidFill>
                <a:latin typeface="Franklin Gothic Demi"/>
              </a:rPr>
              <a:t>🔄 Identify the Rotation</a:t>
            </a:r>
            <a:endParaRPr kumimoji="0" lang="en-PK" sz="320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860589-7B03-D002-6A39-293D5ACF0513}"/>
              </a:ext>
            </a:extLst>
          </p:cNvPr>
          <p:cNvSpPr txBox="1"/>
          <p:nvPr/>
        </p:nvSpPr>
        <p:spPr>
          <a:xfrm>
            <a:off x="413814" y="1252162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30 → 10 → 20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15FC3-7E89-7CEC-D9DC-30CE95A5AFCF}"/>
              </a:ext>
            </a:extLst>
          </p:cNvPr>
          <p:cNvSpPr txBox="1"/>
          <p:nvPr/>
        </p:nvSpPr>
        <p:spPr>
          <a:xfrm>
            <a:off x="712052" y="2396168"/>
            <a:ext cx="2093618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30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10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3974D7-A775-9C23-5ED7-6465B728B980}"/>
              </a:ext>
            </a:extLst>
          </p:cNvPr>
          <p:cNvSpPr txBox="1"/>
          <p:nvPr/>
        </p:nvSpPr>
        <p:spPr>
          <a:xfrm>
            <a:off x="3811874" y="2396167"/>
            <a:ext cx="3014429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30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20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C73F2B-A6E4-DDE2-CD6F-32DAE72B490B}"/>
              </a:ext>
            </a:extLst>
          </p:cNvPr>
          <p:cNvSpPr txBox="1"/>
          <p:nvPr/>
        </p:nvSpPr>
        <p:spPr>
          <a:xfrm>
            <a:off x="3567055" y="1348197"/>
            <a:ext cx="33950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Case → </a:t>
            </a:r>
            <a:r>
              <a:rPr lang="en-US" b="1" dirty="0"/>
              <a:t>LR 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/>
              <a:t>Case → Left Rotation: (swap and make left sub-tree)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040BC-D797-4D11-82D2-332AE11CFEBA}"/>
              </a:ext>
            </a:extLst>
          </p:cNvPr>
          <p:cNvSpPr txBox="1"/>
          <p:nvPr/>
        </p:nvSpPr>
        <p:spPr>
          <a:xfrm>
            <a:off x="8038332" y="1331352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Case → </a:t>
            </a:r>
            <a:r>
              <a:rPr lang="en-US" b="1" dirty="0"/>
              <a:t>LL 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/>
              <a:t>Case → Right Rotation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054962-5459-E149-38C7-131280F60E6D}"/>
              </a:ext>
            </a:extLst>
          </p:cNvPr>
          <p:cNvSpPr txBox="1"/>
          <p:nvPr/>
        </p:nvSpPr>
        <p:spPr>
          <a:xfrm>
            <a:off x="8291828" y="2396166"/>
            <a:ext cx="2300715" cy="156966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20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/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10    30</a:t>
            </a:r>
          </a:p>
        </p:txBody>
      </p:sp>
    </p:spTree>
    <p:extLst>
      <p:ext uri="{BB962C8B-B14F-4D97-AF65-F5344CB8AC3E}">
        <p14:creationId xmlns:p14="http://schemas.microsoft.com/office/powerpoint/2010/main" val="56785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 animBg="1"/>
      <p:bldP spid="10" grpId="0" animBg="1"/>
      <p:bldP spid="15" grpId="0"/>
      <p:bldP spid="2" grpId="0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75EF1-4C3A-1F8D-7377-DEE323BE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60FE3EB-5716-1E17-C13B-BEE11F0EF115}"/>
              </a:ext>
            </a:extLst>
          </p:cNvPr>
          <p:cNvSpPr txBox="1">
            <a:spLocks/>
          </p:cNvSpPr>
          <p:nvPr/>
        </p:nvSpPr>
        <p:spPr>
          <a:xfrm>
            <a:off x="648681" y="153918"/>
            <a:ext cx="10315066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000000"/>
                </a:solidFill>
                <a:latin typeface="Franklin Gothic Demi"/>
              </a:rPr>
              <a:t>🔄 Identify the Rotation</a:t>
            </a:r>
            <a:endParaRPr kumimoji="0" lang="en-PK" sz="320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8723D-90EE-FC9D-363F-2312FCEE4E7E}"/>
              </a:ext>
            </a:extLst>
          </p:cNvPr>
          <p:cNvSpPr txBox="1"/>
          <p:nvPr/>
        </p:nvSpPr>
        <p:spPr>
          <a:xfrm>
            <a:off x="350443" y="1641442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50 → 70 → 60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581FF-5A77-56BD-5952-37D0CEF7AE14}"/>
              </a:ext>
            </a:extLst>
          </p:cNvPr>
          <p:cNvSpPr txBox="1"/>
          <p:nvPr/>
        </p:nvSpPr>
        <p:spPr>
          <a:xfrm>
            <a:off x="648681" y="2486694"/>
            <a:ext cx="2093618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60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D7A81-FF98-7DFD-F855-0FB2C8F5A6A5}"/>
              </a:ext>
            </a:extLst>
          </p:cNvPr>
          <p:cNvSpPr txBox="1"/>
          <p:nvPr/>
        </p:nvSpPr>
        <p:spPr>
          <a:xfrm>
            <a:off x="3657971" y="2486693"/>
            <a:ext cx="3014429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60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70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543FF4-56E8-47EF-CB27-0511A3F1F912}"/>
              </a:ext>
            </a:extLst>
          </p:cNvPr>
          <p:cNvSpPr txBox="1"/>
          <p:nvPr/>
        </p:nvSpPr>
        <p:spPr>
          <a:xfrm>
            <a:off x="3385992" y="1311981"/>
            <a:ext cx="35036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Case → </a:t>
            </a:r>
            <a:r>
              <a:rPr lang="en-US" b="1" dirty="0"/>
              <a:t>RL 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/>
              <a:t>Case → Right Rotation: (swap and make right sub-tree)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4A86F2-8975-2C31-C5D6-E3E205938126}"/>
              </a:ext>
            </a:extLst>
          </p:cNvPr>
          <p:cNvSpPr txBox="1"/>
          <p:nvPr/>
        </p:nvSpPr>
        <p:spPr>
          <a:xfrm>
            <a:off x="7359325" y="1720632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Case →</a:t>
            </a:r>
            <a:r>
              <a:rPr lang="en-US" b="1" dirty="0"/>
              <a:t>RR 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/>
              <a:t>Case → Left Rotation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C6D4C0-F58A-DAF4-FD7C-4DB80EC0520E}"/>
              </a:ext>
            </a:extLst>
          </p:cNvPr>
          <p:cNvSpPr txBox="1"/>
          <p:nvPr/>
        </p:nvSpPr>
        <p:spPr>
          <a:xfrm>
            <a:off x="7612821" y="2486692"/>
            <a:ext cx="2300715" cy="156966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60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50    70</a:t>
            </a:r>
          </a:p>
        </p:txBody>
      </p:sp>
    </p:spTree>
    <p:extLst>
      <p:ext uri="{BB962C8B-B14F-4D97-AF65-F5344CB8AC3E}">
        <p14:creationId xmlns:p14="http://schemas.microsoft.com/office/powerpoint/2010/main" val="3429083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 animBg="1"/>
      <p:bldP spid="10" grpId="0" animBg="1"/>
      <p:bldP spid="15" grpId="0"/>
      <p:bldP spid="2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7B163-A9B0-98A7-51CB-DED9CFADA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07FE04B-4246-5208-BEAB-1F12B61C341F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778365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🪜 Tip: How to Identify Which Rotation?</a:t>
            </a: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6FC48D-6057-2628-ABE3-CEF8FB7A2D68}"/>
              </a:ext>
            </a:extLst>
          </p:cNvPr>
          <p:cNvSpPr txBox="1">
            <a:spLocks/>
          </p:cNvSpPr>
          <p:nvPr/>
        </p:nvSpPr>
        <p:spPr>
          <a:xfrm>
            <a:off x="413292" y="1182737"/>
            <a:ext cx="11229463" cy="395962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When a node becomes unbalanced: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Trace the path from the newly inserted/deleted node to the unbalanced node.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Check if the path is LL, RR, LR, or RL.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Apply the appropriate rotation.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6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638FD-3FD1-66E4-8D94-B9CCCC0B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2C0856F-9379-B202-28D6-ECD20DED0CE2}"/>
              </a:ext>
            </a:extLst>
          </p:cNvPr>
          <p:cNvSpPr txBox="1">
            <a:spLocks/>
          </p:cNvSpPr>
          <p:nvPr/>
        </p:nvSpPr>
        <p:spPr>
          <a:xfrm>
            <a:off x="648681" y="153918"/>
            <a:ext cx="10315066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000000"/>
                </a:solidFill>
                <a:latin typeface="Franklin Gothic Demi"/>
              </a:rPr>
              <a:t>🔄 Identify the Rotation (Long Example 1)</a:t>
            </a:r>
            <a:endParaRPr kumimoji="0" lang="en-PK" sz="320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987E8-187D-EF17-980E-0C054EB1A04E}"/>
              </a:ext>
            </a:extLst>
          </p:cNvPr>
          <p:cNvSpPr txBox="1"/>
          <p:nvPr/>
        </p:nvSpPr>
        <p:spPr>
          <a:xfrm>
            <a:off x="214641" y="799469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50 → 30 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4B3906-FB95-7F0A-FD3F-2B9E3B431D3A}"/>
              </a:ext>
            </a:extLst>
          </p:cNvPr>
          <p:cNvSpPr txBox="1"/>
          <p:nvPr/>
        </p:nvSpPr>
        <p:spPr>
          <a:xfrm>
            <a:off x="416234" y="1150850"/>
            <a:ext cx="1669006" cy="2062103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/   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30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1EACA-0033-4794-68AB-5C71D0668665}"/>
              </a:ext>
            </a:extLst>
          </p:cNvPr>
          <p:cNvSpPr txBox="1"/>
          <p:nvPr/>
        </p:nvSpPr>
        <p:spPr>
          <a:xfrm>
            <a:off x="2326217" y="844745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 70 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9454C-98DF-9284-B24F-7E76CBAD6FEF}"/>
              </a:ext>
            </a:extLst>
          </p:cNvPr>
          <p:cNvSpPr txBox="1"/>
          <p:nvPr/>
        </p:nvSpPr>
        <p:spPr>
          <a:xfrm>
            <a:off x="2593667" y="1150851"/>
            <a:ext cx="1669006" cy="156966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/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30    70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68D3A-0413-6F87-6F68-B377F6EB7854}"/>
              </a:ext>
            </a:extLst>
          </p:cNvPr>
          <p:cNvSpPr txBox="1"/>
          <p:nvPr/>
        </p:nvSpPr>
        <p:spPr>
          <a:xfrm>
            <a:off x="5147392" y="920317"/>
            <a:ext cx="2924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20 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ACC44F-2D92-FC38-BDC7-C1EDB4A2EEB1}"/>
              </a:ext>
            </a:extLst>
          </p:cNvPr>
          <p:cNvSpPr txBox="1"/>
          <p:nvPr/>
        </p:nvSpPr>
        <p:spPr>
          <a:xfrm>
            <a:off x="5147392" y="1248930"/>
            <a:ext cx="1869044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/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30    70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50EEC8-6854-E3CA-C7D3-5BB3EEDD1810}"/>
              </a:ext>
            </a:extLst>
          </p:cNvPr>
          <p:cNvSpPr txBox="1"/>
          <p:nvPr/>
        </p:nvSpPr>
        <p:spPr>
          <a:xfrm>
            <a:off x="7887897" y="932143"/>
            <a:ext cx="3343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 40 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D3405-BBA5-9439-B559-233341AC5EA2}"/>
              </a:ext>
            </a:extLst>
          </p:cNvPr>
          <p:cNvSpPr txBox="1"/>
          <p:nvPr/>
        </p:nvSpPr>
        <p:spPr>
          <a:xfrm>
            <a:off x="7996739" y="1248930"/>
            <a:ext cx="1869044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/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30    70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20   40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8FC742-3CF2-BD1F-B0C2-21FBF29F51E1}"/>
              </a:ext>
            </a:extLst>
          </p:cNvPr>
          <p:cNvSpPr txBox="1"/>
          <p:nvPr/>
        </p:nvSpPr>
        <p:spPr>
          <a:xfrm>
            <a:off x="1846756" y="3389778"/>
            <a:ext cx="18690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 60 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7FA84D-20A8-4439-AB79-E3B86E6FF2ED}"/>
              </a:ext>
            </a:extLst>
          </p:cNvPr>
          <p:cNvSpPr txBox="1"/>
          <p:nvPr/>
        </p:nvSpPr>
        <p:spPr>
          <a:xfrm>
            <a:off x="1505321" y="3730849"/>
            <a:ext cx="2564674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/  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30            70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/    \        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20   40    60</a:t>
            </a:r>
          </a:p>
        </p:txBody>
      </p:sp>
    </p:spTree>
    <p:extLst>
      <p:ext uri="{BB962C8B-B14F-4D97-AF65-F5344CB8AC3E}">
        <p14:creationId xmlns:p14="http://schemas.microsoft.com/office/powerpoint/2010/main" val="2746832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 animBg="1"/>
      <p:bldP spid="5" grpId="0"/>
      <p:bldP spid="8" grpId="0" animBg="1"/>
      <p:bldP spid="9" grpId="0"/>
      <p:bldP spid="11" grpId="0" animBg="1"/>
      <p:bldP spid="12" grpId="0"/>
      <p:bldP spid="13" grpId="0" animBg="1"/>
      <p:bldP spid="14" grpId="0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6064C-7A01-86FD-1F95-2714A1335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DF5852-1C1F-7876-3499-DB07D49D303A}"/>
              </a:ext>
            </a:extLst>
          </p:cNvPr>
          <p:cNvSpPr txBox="1">
            <a:spLocks/>
          </p:cNvSpPr>
          <p:nvPr/>
        </p:nvSpPr>
        <p:spPr>
          <a:xfrm>
            <a:off x="628409" y="0"/>
            <a:ext cx="10315066" cy="60158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000000"/>
                </a:solidFill>
                <a:latin typeface="Franklin Gothic Demi"/>
              </a:rPr>
              <a:t>🔄 Identify the Rotation (Long Example 1)</a:t>
            </a:r>
            <a:endParaRPr kumimoji="0" lang="en-PK" sz="320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E36983-11D3-140B-5083-EE74021DC1BE}"/>
              </a:ext>
            </a:extLst>
          </p:cNvPr>
          <p:cNvSpPr txBox="1"/>
          <p:nvPr/>
        </p:nvSpPr>
        <p:spPr>
          <a:xfrm>
            <a:off x="455798" y="490716"/>
            <a:ext cx="17863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 80 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62666-C072-69E3-13F8-DF32887D8BA4}"/>
              </a:ext>
            </a:extLst>
          </p:cNvPr>
          <p:cNvSpPr txBox="1"/>
          <p:nvPr/>
        </p:nvSpPr>
        <p:spPr>
          <a:xfrm>
            <a:off x="218704" y="809827"/>
            <a:ext cx="2835693" cy="255454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/  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30            70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/    \       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20   40    60    80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9C343B-4572-C1B2-F3B5-B5C9368404F6}"/>
              </a:ext>
            </a:extLst>
          </p:cNvPr>
          <p:cNvSpPr txBox="1"/>
          <p:nvPr/>
        </p:nvSpPr>
        <p:spPr>
          <a:xfrm>
            <a:off x="4132887" y="486660"/>
            <a:ext cx="2300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10 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838D28-0E93-16DA-C7C0-938779899698}"/>
              </a:ext>
            </a:extLst>
          </p:cNvPr>
          <p:cNvSpPr txBox="1"/>
          <p:nvPr/>
        </p:nvSpPr>
        <p:spPr>
          <a:xfrm>
            <a:off x="3654462" y="809827"/>
            <a:ext cx="3521798" cy="35394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/ 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30             70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/    \      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20   40    60     80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10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A7F745-AF8B-3600-FD19-211A564E68FF}"/>
              </a:ext>
            </a:extLst>
          </p:cNvPr>
          <p:cNvSpPr txBox="1"/>
          <p:nvPr/>
        </p:nvSpPr>
        <p:spPr>
          <a:xfrm>
            <a:off x="9134408" y="692991"/>
            <a:ext cx="1535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5 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4620D5-FAD2-18AF-E8BA-953313938068}"/>
              </a:ext>
            </a:extLst>
          </p:cNvPr>
          <p:cNvSpPr txBox="1"/>
          <p:nvPr/>
        </p:nvSpPr>
        <p:spPr>
          <a:xfrm>
            <a:off x="7903029" y="1016156"/>
            <a:ext cx="3681739" cy="452431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  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/ 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30             70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/    \      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20   40    60     80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10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5</a:t>
            </a:r>
          </a:p>
        </p:txBody>
      </p:sp>
    </p:spTree>
    <p:extLst>
      <p:ext uri="{BB962C8B-B14F-4D97-AF65-F5344CB8AC3E}">
        <p14:creationId xmlns:p14="http://schemas.microsoft.com/office/powerpoint/2010/main" val="303339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 animBg="1"/>
      <p:bldP spid="10" grpId="0"/>
      <p:bldP spid="15" grpId="0" animBg="1"/>
      <p:bldP spid="17" grpId="0"/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7F557-39C4-67B8-FC39-48B9759DC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14587FB-03DD-CF73-AABA-B59C29AC18D5}"/>
              </a:ext>
            </a:extLst>
          </p:cNvPr>
          <p:cNvSpPr txBox="1">
            <a:spLocks/>
          </p:cNvSpPr>
          <p:nvPr/>
        </p:nvSpPr>
        <p:spPr>
          <a:xfrm>
            <a:off x="628409" y="0"/>
            <a:ext cx="10315066" cy="60158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000000"/>
                </a:solidFill>
                <a:latin typeface="Franklin Gothic Demi"/>
              </a:rPr>
              <a:t>🔄 Identify the Rotation (Long Example 1)</a:t>
            </a:r>
            <a:endParaRPr kumimoji="0" lang="en-PK" sz="320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7DF427-6D4E-09DF-7083-99AF756BCDBD}"/>
              </a:ext>
            </a:extLst>
          </p:cNvPr>
          <p:cNvSpPr txBox="1"/>
          <p:nvPr/>
        </p:nvSpPr>
        <p:spPr>
          <a:xfrm>
            <a:off x="83714" y="731710"/>
            <a:ext cx="5318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50 → 30 → 70 → 20 → 40 → 60 → 80 → 10 → 5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F1DC98-6E10-180B-CC09-480D6D167282}"/>
              </a:ext>
            </a:extLst>
          </p:cNvPr>
          <p:cNvSpPr txBox="1"/>
          <p:nvPr/>
        </p:nvSpPr>
        <p:spPr>
          <a:xfrm>
            <a:off x="167952" y="1166842"/>
            <a:ext cx="3681739" cy="452431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   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/ 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30             70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/    \      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20   40    60     80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10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/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9CEC9-A1C0-B608-F40B-C467DB0CA678}"/>
              </a:ext>
            </a:extLst>
          </p:cNvPr>
          <p:cNvSpPr txBox="1"/>
          <p:nvPr/>
        </p:nvSpPr>
        <p:spPr>
          <a:xfrm>
            <a:off x="6765957" y="818641"/>
            <a:ext cx="2854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Case → </a:t>
            </a:r>
            <a:r>
              <a:rPr lang="en-US" b="1" dirty="0"/>
              <a:t>LL 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b="1" dirty="0"/>
              <a:t>Case → Right Rotation</a:t>
            </a: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45F545-AB5E-66B8-6820-37D2D19DAF9A}"/>
              </a:ext>
            </a:extLst>
          </p:cNvPr>
          <p:cNvSpPr txBox="1"/>
          <p:nvPr/>
        </p:nvSpPr>
        <p:spPr>
          <a:xfrm>
            <a:off x="6352517" y="1494047"/>
            <a:ext cx="3681739" cy="35394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   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/ 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30             70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/    \      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10    40    60     80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/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5       20</a:t>
            </a:r>
          </a:p>
        </p:txBody>
      </p:sp>
    </p:spTree>
    <p:extLst>
      <p:ext uri="{BB962C8B-B14F-4D97-AF65-F5344CB8AC3E}">
        <p14:creationId xmlns:p14="http://schemas.microsoft.com/office/powerpoint/2010/main" val="65548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18" grpId="0" animBg="1"/>
      <p:bldP spid="5" grpId="0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B86F-28FE-46CF-76ED-BC4C5820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645BA96-ACBB-8552-10AE-B36C2CF991EA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778365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🪜 Tip: How to Identify Which Rotation?</a:t>
            </a: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C8C09E-8928-9186-9160-01C25F874D09}"/>
              </a:ext>
            </a:extLst>
          </p:cNvPr>
          <p:cNvSpPr txBox="1">
            <a:spLocks/>
          </p:cNvSpPr>
          <p:nvPr/>
        </p:nvSpPr>
        <p:spPr>
          <a:xfrm>
            <a:off x="413292" y="1182737"/>
            <a:ext cx="11229463" cy="395962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When a node becomes unbalanced: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Trace the path from the newly inserted/deleted node to the unbalanced node.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Check if the path is LL, RR, LR, or RL.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Apply the appropriate rotation.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82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8BDD-1A3C-2AB1-3AD1-C2DBAB6B3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CE7F5E8-2D69-F4F5-46B6-9EEE7B02116B}"/>
              </a:ext>
            </a:extLst>
          </p:cNvPr>
          <p:cNvSpPr txBox="1">
            <a:spLocks/>
          </p:cNvSpPr>
          <p:nvPr/>
        </p:nvSpPr>
        <p:spPr>
          <a:xfrm>
            <a:off x="594359" y="162972"/>
            <a:ext cx="10360333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🔄 Rotations (Rebalance </a:t>
            </a:r>
            <a:r>
              <a:rPr lang="en-US" dirty="0" err="1">
                <a:solidFill>
                  <a:srgbClr val="000000"/>
                </a:solidFill>
                <a:latin typeface="Franklin Gothic Demi"/>
              </a:rPr>
              <a:t>Tree,Complex</a:t>
            </a:r>
            <a:r>
              <a:rPr lang="en-US" dirty="0">
                <a:solidFill>
                  <a:srgbClr val="000000"/>
                </a:solidFill>
                <a:latin typeface="Franklin Gothic Demi"/>
              </a:rPr>
              <a:t> Case)</a:t>
            </a: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4E3EB12-CF09-9DFE-FF98-4748C4DE05D0}"/>
              </a:ext>
            </a:extLst>
          </p:cNvPr>
          <p:cNvSpPr txBox="1">
            <a:spLocks/>
          </p:cNvSpPr>
          <p:nvPr/>
        </p:nvSpPr>
        <p:spPr>
          <a:xfrm>
            <a:off x="413293" y="992618"/>
            <a:ext cx="10813004" cy="541723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</a:rPr>
              <a:t>Complex Case: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When the unbalanced node and its subtree has more than three children.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Rotation: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1800" b="1" dirty="0">
                <a:solidFill>
                  <a:prstClr val="black"/>
                </a:solidFill>
                <a:latin typeface="Arial" panose="020B0604020202020204" pitchFamily="34" charset="0"/>
              </a:rPr>
              <a:t>Elevate the branch opposite to rotation side by one level.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Make the unbalanced node child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of the root node of elevated branch.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1800" b="1" baseline="0" dirty="0">
                <a:solidFill>
                  <a:prstClr val="black"/>
                </a:solidFill>
                <a:latin typeface="Arial" panose="020B0604020202020204" pitchFamily="34" charset="0"/>
              </a:rPr>
              <a:t>Insert all nodes under the branch into subtree created in first two steps as BST.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kumimoji="0" lang="en-US" altLang="en-US" sz="22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Single Rotation: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1800" b="1" baseline="0" dirty="0">
                <a:solidFill>
                  <a:prstClr val="black"/>
                </a:solidFill>
                <a:latin typeface="Arial" panose="020B0604020202020204" pitchFamily="34" charset="0"/>
              </a:rPr>
              <a:t>Apply</a:t>
            </a:r>
            <a:r>
              <a:rPr lang="en-US" altLang="en-US" sz="1800" b="1" dirty="0">
                <a:solidFill>
                  <a:prstClr val="black"/>
                </a:solidFill>
                <a:latin typeface="Arial" panose="020B0604020202020204" pitchFamily="34" charset="0"/>
              </a:rPr>
              <a:t> the rotation procedure directly to the unbalanced node.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kumimoji="0" lang="en-US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Double Rotation: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1800" b="1" dirty="0">
                <a:solidFill>
                  <a:prstClr val="black"/>
                </a:solidFill>
                <a:latin typeface="Arial" panose="020B0604020202020204" pitchFamily="34" charset="0"/>
              </a:rPr>
              <a:t>Apply the first rotation to the child of unbalanced node.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Apply</a:t>
            </a:r>
            <a:r>
              <a:rPr kumimoji="0" lang="en-US" altLang="en-US" sz="1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the second rotation to the unbalanced node.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38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48A8F-6242-4256-942E-4B14C460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29EB9C4-E518-A4B0-F914-1F2165994A08}"/>
              </a:ext>
            </a:extLst>
          </p:cNvPr>
          <p:cNvSpPr txBox="1">
            <a:spLocks/>
          </p:cNvSpPr>
          <p:nvPr/>
        </p:nvSpPr>
        <p:spPr>
          <a:xfrm>
            <a:off x="628409" y="0"/>
            <a:ext cx="10315066" cy="60158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rgbClr val="000000"/>
                </a:solidFill>
                <a:latin typeface="Franklin Gothic Demi"/>
              </a:rPr>
              <a:t>🔄 Identify the Rotation (Long Example 2)</a:t>
            </a:r>
            <a:endParaRPr kumimoji="0" lang="en-PK" sz="320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8BEF33-3DBF-9343-487D-3A702AA6CFBE}"/>
              </a:ext>
            </a:extLst>
          </p:cNvPr>
          <p:cNvSpPr txBox="1"/>
          <p:nvPr/>
        </p:nvSpPr>
        <p:spPr>
          <a:xfrm>
            <a:off x="6027724" y="791381"/>
            <a:ext cx="28954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70 → 80 → 75 → 77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A041B4-A834-6391-F478-E67F736A928E}"/>
              </a:ext>
            </a:extLst>
          </p:cNvPr>
          <p:cNvSpPr txBox="1"/>
          <p:nvPr/>
        </p:nvSpPr>
        <p:spPr>
          <a:xfrm>
            <a:off x="167952" y="1146060"/>
            <a:ext cx="4279357" cy="353943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   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/ 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30             70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/    \      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20   40    60     80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                 /     \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              75     85                                                       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2E0633-0679-D6CB-791D-DAE3303DED24}"/>
              </a:ext>
            </a:extLst>
          </p:cNvPr>
          <p:cNvSpPr txBox="1"/>
          <p:nvPr/>
        </p:nvSpPr>
        <p:spPr>
          <a:xfrm>
            <a:off x="5308812" y="1166842"/>
            <a:ext cx="4279357" cy="452431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                    50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/ 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30             70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/    \          /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20   40    60     80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                 /     \ 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              75     85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                   \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                                     77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5C584F-AB40-A380-3BBF-14BA3616335E}"/>
              </a:ext>
            </a:extLst>
          </p:cNvPr>
          <p:cNvSpPr txBox="1"/>
          <p:nvPr/>
        </p:nvSpPr>
        <p:spPr>
          <a:xfrm>
            <a:off x="447065" y="749816"/>
            <a:ext cx="37390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60000"/>
              <a:buBlip>
                <a:blip r:embed="rId2"/>
              </a:buBlip>
            </a:pPr>
            <a:r>
              <a:rPr lang="en-US" dirty="0"/>
              <a:t>Insert: 50 → 70 → 80 → 75 </a:t>
            </a:r>
            <a:br>
              <a:rPr lang="en-US" dirty="0"/>
            </a:br>
            <a:endParaRPr lang="en-US" altLang="en-US" sz="1800" b="1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8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7" grpId="0"/>
      <p:bldP spid="18" grpId="0" animBg="1"/>
      <p:bldP spid="2" grpId="0" animBg="1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7B853-C908-71B7-A14E-E074B1565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B398D5D-86CA-AA22-C438-5FA3BAA79AC8}"/>
              </a:ext>
            </a:extLst>
          </p:cNvPr>
          <p:cNvSpPr txBox="1">
            <a:spLocks/>
          </p:cNvSpPr>
          <p:nvPr/>
        </p:nvSpPr>
        <p:spPr>
          <a:xfrm>
            <a:off x="628409" y="0"/>
            <a:ext cx="10315066" cy="601584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200" dirty="0">
                <a:solidFill>
                  <a:schemeClr val="tx1"/>
                </a:solidFill>
              </a:rPr>
              <a:t>🌱 Practice Insertion in AVL Tree</a:t>
            </a:r>
            <a:endParaRPr kumimoji="0" lang="en-PK" sz="3200" b="1" i="0" u="none" strike="noStrike" kern="1200" cap="none" spc="87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37E7F-4421-22F0-3935-442E415053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283" y="986828"/>
            <a:ext cx="601980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436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67EA1-7991-8AED-4E63-47DFC803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A4C078C-CEF2-E264-88DA-1F7E8DF4B73A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778365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🌱 Insertion in AVL Tree</a:t>
            </a: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6578AB-3A78-9242-239D-A9BB863B8A06}"/>
              </a:ext>
            </a:extLst>
          </p:cNvPr>
          <p:cNvSpPr txBox="1">
            <a:spLocks/>
          </p:cNvSpPr>
          <p:nvPr/>
        </p:nvSpPr>
        <p:spPr>
          <a:xfrm>
            <a:off x="413293" y="1137472"/>
            <a:ext cx="8450049" cy="395962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Insert just like in a normal BST.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Update the height of each node going back up.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Check balance factor.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If unbalanced, use one of the four rotations to fix it.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3200" b="1" dirty="0">
                <a:latin typeface="Arial" panose="020B0604020202020204" pitchFamily="34" charset="0"/>
              </a:rPr>
              <a:t>1. LL Case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3200" b="1" dirty="0">
                <a:latin typeface="Arial" panose="020B0604020202020204" pitchFamily="34" charset="0"/>
              </a:rPr>
              <a:t>2. RR Case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3200" b="1" dirty="0">
                <a:latin typeface="Arial" panose="020B0604020202020204" pitchFamily="34" charset="0"/>
              </a:rPr>
              <a:t>3. LR Case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3200" b="1" dirty="0">
                <a:latin typeface="Arial" panose="020B0604020202020204" pitchFamily="34" charset="0"/>
              </a:rPr>
              <a:t>4. RL Case</a:t>
            </a:r>
          </a:p>
          <a:p>
            <a:pPr marL="0" indent="0">
              <a:buSzPct val="160000"/>
              <a:buNone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81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742F-F562-DB7B-41C7-F013C6E7D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68FFAB-B9D5-1869-25D8-1E402AA5B3FF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778365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🌿 Deletion in AVL Tree</a:t>
            </a: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8DED88-5CC6-D133-CCD6-370BFF2DFB55}"/>
              </a:ext>
            </a:extLst>
          </p:cNvPr>
          <p:cNvSpPr txBox="1">
            <a:spLocks/>
          </p:cNvSpPr>
          <p:nvPr/>
        </p:nvSpPr>
        <p:spPr>
          <a:xfrm>
            <a:off x="413293" y="1137472"/>
            <a:ext cx="8450049" cy="395962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Delete just like in a BST.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Update heights.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Check balance factors.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If unbalanced, fix it using rotations (like insertion).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3200" b="1" dirty="0">
                <a:latin typeface="Arial" panose="020B0604020202020204" pitchFamily="34" charset="0"/>
              </a:rPr>
              <a:t>1. LL Case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3200" b="1" dirty="0">
                <a:latin typeface="Arial" panose="020B0604020202020204" pitchFamily="34" charset="0"/>
              </a:rPr>
              <a:t>2. RR Case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3200" b="1" dirty="0">
                <a:latin typeface="Arial" panose="020B0604020202020204" pitchFamily="34" charset="0"/>
              </a:rPr>
              <a:t>3. LR Case</a:t>
            </a:r>
          </a:p>
          <a:p>
            <a:pPr marL="800100" lvl="1" indent="-342900">
              <a:buSzPct val="160000"/>
              <a:buBlip>
                <a:blip r:embed="rId2"/>
              </a:buBlip>
            </a:pPr>
            <a:r>
              <a:rPr lang="en-US" altLang="en-US" sz="3200" b="1" dirty="0">
                <a:latin typeface="Arial" panose="020B0604020202020204" pitchFamily="34" charset="0"/>
              </a:rPr>
              <a:t>4. RL Case</a:t>
            </a:r>
          </a:p>
          <a:p>
            <a:pPr marL="342900" indent="-342900">
              <a:buSzPct val="160000"/>
              <a:buBlip>
                <a:blip r:embed="rId2"/>
              </a:buBlip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43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E7AC5-8E68-3E08-C90F-569F8925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18017C2-CD09-160B-2900-3EAED369C172}"/>
              </a:ext>
            </a:extLst>
          </p:cNvPr>
          <p:cNvSpPr txBox="1">
            <a:spLocks/>
          </p:cNvSpPr>
          <p:nvPr/>
        </p:nvSpPr>
        <p:spPr>
          <a:xfrm>
            <a:off x="594360" y="162972"/>
            <a:ext cx="9778365" cy="841972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80011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850" b="1" i="0" kern="1200" spc="87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dirty="0">
                <a:solidFill>
                  <a:srgbClr val="000000"/>
                </a:solidFill>
                <a:latin typeface="Franklin Gothic Demi"/>
              </a:rPr>
              <a:t>📦 Properties of AVL Trees</a:t>
            </a:r>
            <a:endParaRPr kumimoji="0" lang="en-PK" sz="3850" b="1" i="0" u="none" strike="noStrike" kern="1200" cap="none" spc="87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644532A-EA1E-0294-59AF-0FC63F49ED03}"/>
              </a:ext>
            </a:extLst>
          </p:cNvPr>
          <p:cNvSpPr txBox="1">
            <a:spLocks/>
          </p:cNvSpPr>
          <p:nvPr/>
        </p:nvSpPr>
        <p:spPr>
          <a:xfrm>
            <a:off x="413293" y="1137472"/>
            <a:ext cx="8450049" cy="395962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3800" b="1" dirty="0">
                <a:latin typeface="Arial" panose="020B0604020202020204" pitchFamily="34" charset="0"/>
              </a:rPr>
              <a:t>   Property         |      Value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     Worst-case height         |       O(log n)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     Insertion                         |       O(log n)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     Deletion                          |       O(log n)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     Search                            |       O(log n)</a:t>
            </a:r>
          </a:p>
          <a:p>
            <a:pPr marL="342900" indent="-342900">
              <a:buSzPct val="160000"/>
              <a:buBlip>
                <a:blip r:embed="rId2"/>
              </a:buBlip>
            </a:pPr>
            <a:r>
              <a:rPr lang="en-US" altLang="en-US" sz="2400" b="1" dirty="0">
                <a:latin typeface="Arial" panose="020B0604020202020204" pitchFamily="34" charset="0"/>
              </a:rPr>
              <a:t>     Balance factor               |       Only -1, 0, +1 allowed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60000"/>
              <a:buFont typeface="Arial" panose="020B0604020202020204" pitchFamily="34" charset="0"/>
              <a:buBlip>
                <a:blip r:embed="rId2"/>
              </a:buBlip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8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uiExpand="1" build="p"/>
    </p:bldLst>
  </p:timing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1598</Words>
  <Application>Microsoft Office PowerPoint</Application>
  <PresentationFormat>Widescreen</PresentationFormat>
  <Paragraphs>372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Franklin Gothic Book</vt:lpstr>
      <vt:lpstr>Franklin Gothic Demi</vt:lpstr>
      <vt:lpstr>Times New Roman</vt:lpstr>
      <vt:lpstr>Custom</vt:lpstr>
      <vt:lpstr>Office Theme</vt:lpstr>
      <vt:lpstr>AVL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samin ahmed</dc:creator>
  <cp:lastModifiedBy>samin ahmed</cp:lastModifiedBy>
  <cp:revision>213</cp:revision>
  <dcterms:created xsi:type="dcterms:W3CDTF">2025-04-22T03:10:43Z</dcterms:created>
  <dcterms:modified xsi:type="dcterms:W3CDTF">2025-04-27T15:25:07Z</dcterms:modified>
</cp:coreProperties>
</file>